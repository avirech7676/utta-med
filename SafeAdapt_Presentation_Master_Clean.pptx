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a:t>
            </a:r>
          </a:p>
          <a:p>
            <a:r>
              <a:t>Respected committee members, faculty, and examiners: Good morning. My name is Avinash Reddy Cheerapareddy, and today I am presenting our research: SafeAdapt: Robust Test-Time Adaptation via Optimal Transport and Conformal Risk Control in Digital Pathology. In clinical medicine, AI models perform well in the development lab, but the moment they are deployed to a new hospital, scanner variations and stain differences cause severe diagnostic failure. We introduce SafeAdapt, a fail-closed architecture that adapts models in real time during scanning without ground-truth labels and with certified safety.</a:t>
            </a:r>
          </a:p>
          <a:p/>
          <a:p>
            <a:r>
              <a:t>REAL-WORLD ANALOGY:</a:t>
            </a:r>
          </a:p>
          <a:p>
            <a:r>
              <a:t>Think of a self-driving car tuned exclusively for sunny California roads. When shipped to Chicago in a snowstorm, it encounters ice and snow. If it refuses to adapt, it crashes. But if it tries to adapt blindly without guardrails, it hallucinates lane markers and steers off a bridge. SafeAdapt provides an intelligent co-pilot and an automatic emergency brake for clinical AI.</a:t>
            </a:r>
          </a:p>
          <a:p/>
          <a:p>
            <a:r>
              <a:t>KEY HIGHLIGHTS: +14.2% AUROC gain, 0.0% collapse rate, and 1.8 ms GPU rollback.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a:t>
            </a:r>
          </a:p>
          <a:p>
            <a:r>
              <a:t>Slide 2 establishes the core foundation: What is the problem statement? What are we solving? And what is our solution?</a:t>
            </a:r>
          </a:p>
          <a:p>
            <a:r>
              <a:t>The problem statement: Deep learning models trained at one hospital fail when deployed to external hospital networks due to hardware scanner differences and chemical staining variations—dropping AUROC from 0.98 down to 0.73.</a:t>
            </a:r>
          </a:p>
          <a:p>
            <a:r>
              <a:t>What are we solving? We are solving the dangerous reality of silent diagnostic failure: models fail with 99% confidence, missing metastatic cancer on unlabelled patient slides where no human annotations are available.</a:t>
            </a:r>
          </a:p>
          <a:p>
            <a:r>
              <a:t>Our solution: SafeAdapt. A fail-closed, real-time adaptation framework that uses Optimal Transport to preserve category geometry, Cross-Attention Memory Routing to filter artifacts, and finite-sample Conformal Risk Control with 1.8 ms rollback to guarantee zero collapse.</a:t>
            </a:r>
          </a:p>
          <a:p/>
          <a:p>
            <a:r>
              <a:t>REAL-WORLD ANALOGY:</a:t>
            </a:r>
          </a:p>
          <a:p>
            <a:r>
              <a:t>Reading Through Tinted Sunglasses: Imagine an expert human pathologist walking into a clinic where lights are tinted deep yellow and the microscope lenses are tinted blue. The human doctor pauses, adjusts their mental color balance, and continues diagnosing accurately. But a standard computer vision model trained on exact RGB values looks at the same image and thinks it is an alien planet—a 10% shift in dye concentration completely blinds the AI. SafeAdapt provides that autonomous mental color balance with a built-in safety net.</a:t>
            </a:r>
          </a:p>
          <a:p/>
          <a:p>
            <a:r>
              <a:t>KEY HIGHLIGHTS: AUROC drop from &gt;0.98 to 0.73; silent 99% confident failures; SafeAdapt fail-closed solution.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a:t>
            </a:r>
          </a:p>
          <a:p>
            <a:r>
              <a:t>On Slide 3, we analyze the relevant research, the critical gaps in prior art, and exactly what we are doing differently.</a:t>
            </a:r>
          </a:p>
          <a:p>
            <a:r>
              <a:t>Relevant research: In computer vision, Test-Time Adaptation methods like Tent, EATA, SAR, CoTTA, and RoTTA adapt models by minimizing prediction entropy or maintaining continual memory banks.</a:t>
            </a:r>
          </a:p>
          <a:p>
            <a:r>
              <a:t>Critical gaps: These methods operate on an unverified premise—that low entropy means correct predictions. Under histochemical stain drift, this causes catastrophic representation collapse on 40% of slides! Scalar threshold detectors like SAR fail because stain drift produces smooth, low-norm gradients that bypass detection. Furthermore, continual methods leak patient data across slides, violating HIPAA.</a:t>
            </a:r>
          </a:p>
          <a:p>
            <a:r>
              <a:t>What we are doing differently: SafeAdapt replaces entropy minimization with geometry-preserving Sinkhorn Optimal Transport, isolates staining artifacts via Cross-Attention Memory Routing into an explicit slack channel, and enforces finite-sample Conformal Risk Control with sub-2ms rollback and deterministic episodic slide resets.</a:t>
            </a:r>
          </a:p>
          <a:p/>
          <a:p>
            <a:r>
              <a:t>REAL-WORLD ANALOGY:</a:t>
            </a:r>
          </a:p>
          <a:p>
            <a:r>
              <a:t>The Echo Chamber / Overconfident Medical Intern: Imagine a junior intern who misidentifies normal tissue as cancer. If the attending physician says, 'Whatever you do, be 100% decisive!', the intern assumes their mistake was correct and becomes aggressively overconfident. In the next room, they repeat the error with even higher confidence. Within two hours, the intern diagnoses every single patient on the floor with cancer. That is what entropy minimization does. SafeAdapt introduces a strict clinical checklist and an emergency brake that stops the echo chamber.</a:t>
            </a:r>
          </a:p>
          <a:p/>
          <a:p>
            <a:r>
              <a:t>KEY HIGHLIGHTS: 40% collapse rate in Tent; failure of scalar gating; SafeAdapt's geometry-preserving and conformal safeguards.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a:t>
            </a:r>
          </a:p>
          <a:p>
            <a:r>
              <a:t>In Proposition 1, we prove the theoretical root cause: the Variance-Confidence Paradox. Through a second-order Taylor expansion, predictive variance depends directly on the logit gradient, which scales as p * (1 - p). As confidence approaches 1, this gradient vanishes quadratically! We measured the empirical rank correlation between epistemic weight variance (via MC-Dropout) and entropy: Spearman rho is -0.9917. The model outputs 99.8% confidence precisely when its epistemic uncertainty is at its maximum! That is why scalar confidence filters fail.</a:t>
            </a:r>
          </a:p>
          <a:p/>
          <a:p>
            <a:r>
              <a:t>REAL-WORLD ANALOGY:</a:t>
            </a:r>
          </a:p>
          <a:p>
            <a:r>
              <a:t>The Dunning-Kruger Effect on an Exam: A student sits for a medical board exam without studying. Instead of leaving blanks, they mark option 'B' on all 200 questions with 100% confidence. Their predictive entropy is zero—they are totally decisive. But their actual knowledge is zero. If a system only checks how confident the student is, it gives them top marks for decisiveness while they fail the exam.</a:t>
            </a:r>
          </a:p>
          <a:p/>
          <a:p>
            <a:r>
              <a:t>KEY HIGHLIGHTS: Spearman rho = -0.9917; vanishing gradient formula grad p = p(1-p) grad z.</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a:t>
            </a:r>
          </a:p>
          <a:p>
            <a:r>
              <a:t>Here is the workflow and execution pipeline used by SafeAdapt. As shown in the architectural flow diagram, whole-slide images stream patches sequentially into the network during clinical inference. The pipeline operates in four coordinated steps:</a:t>
            </a:r>
          </a:p>
          <a:p>
            <a:r>
              <a:t>Step 1: Input patches pass through a dual-stream architecture pairing a frozen source anchor with an adaptive student network.</a:t>
            </a:r>
          </a:p>
          <a:p>
            <a:r>
              <a:t>Step 2: Features are aligned via entropy-regularized Sinkhorn Optimal Transport between streaming embeddings and anchor class prototypes.</a:t>
            </a:r>
          </a:p>
          <a:p>
            <a:r>
              <a:t>Step 3: Cross-Attention Memory Routing compares features against episodic memory and routes tissue artifacts into a slack channel.</a:t>
            </a:r>
          </a:p>
          <a:p>
            <a:r>
              <a:t>Step 4: Finite-Sample Conformal Risk Control continuously tracks non-conformity scores. If parameter drift exceeds safety threshold alpha = 0.05, an atomic rollback restores anchor weights in 1.8 milliseconds. Upon slide completion, state resets deterministically.</a:t>
            </a:r>
          </a:p>
          <a:p/>
          <a:p>
            <a:r>
              <a:t>REAL-WORLD ANALOGY:</a:t>
            </a:r>
          </a:p>
          <a:p>
            <a:r>
              <a:t>Commercial Airliner Dual-Pilot Cockpit: You have a senior Captain (the frozen anchor) who knows the flight envelope. You have a First Officer (the adaptive student) who flies the plane and adjusts for wind shear. A flight computer (CMR) ignores weather radar noise. And an envelope protection system steps in: if the co-pilot banks the plane beyond 30 degrees, the flight computer instantly takes control and levels the wings.</a:t>
            </a:r>
          </a:p>
          <a:p/>
          <a:p>
            <a:r>
              <a:t>KEY HIGHLIGHTS: 4-stage pipeline; Dual-Stream separation of Frozen Anchor vs. Adaptive Student.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a:t>
            </a:r>
          </a:p>
          <a:p>
            <a:r>
              <a:t>Mechanism 1 replaces entropy minimization with Sinkhorn Optimal Transport. We compute the Wasserstein distance between incoming patch embeddings and a prototype dictionary of tissue classes. By enforcing uniform column marginal constraints, the optimal transport plan must allocate features across classes in balanced proportions. Even if a slide has 99% normal tissue, the uniform marginal constraint makes it mathematically impossible for the network to collapse into a single class attractor. It converges in under 5 matrix-vector multiplications in less than 0.4 ms on GPU.</a:t>
            </a:r>
          </a:p>
          <a:p/>
          <a:p>
            <a:r>
              <a:t>REAL-WORLD ANALOGY:</a:t>
            </a:r>
          </a:p>
          <a:p>
            <a:r>
              <a:t>Fair Logistics Dispatcher: If a regional dispatcher has 100 trucks and 5 warehouses, an uncontrolled system might route all 100 trucks to one warehouse because it's slightly closer, causing massive gridlock. Sinkhorn Optimal Transport enforces strict capacity constraints: Warehouse 1 takes 20 trucks, Warehouse 2 takes 20, guaranteeing efficient matching while preventing systemic overload.</a:t>
            </a:r>
          </a:p>
          <a:p/>
          <a:p>
            <a:r>
              <a:t>KEY HIGHLIGHTS: &lt;0.4 ms GPU execution; +8.1% AUROC gain from OT alignment alone.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a:t>
            </a:r>
          </a:p>
          <a:p>
            <a:r>
              <a:t>Mechanism 2 is Cross-Attention Memory-Augmented Routing (CMR). Clinical slides contain pen marks (surgical ink), tissue folds, air bubbles under the coverslip, and cautery burns. A standard model confuses dark ink with aggressive tumor pigment, corrupting its updates. CMR maintains an episodic memory bank of validated source features. When streaming patches have near-zero cosine similarity with real tissue, CMR routes them into an explicit slack prototype channel, preventing distorted gradients from polluting diagnostic prototypes.</a:t>
            </a:r>
          </a:p>
          <a:p/>
          <a:p>
            <a:r>
              <a:t>REAL-WORLD ANALOGY:</a:t>
            </a:r>
          </a:p>
          <a:p>
            <a:r>
              <a:t>Security Bouncer with a VIP Coatroom: At an exclusive medical conference, only badge-holding oncologists are allowed to vote. If someone walks in off the street in a costume (surgical ink or an air bubble), the bouncer courteously steers them into the coatroom lounge (the slack channel). They can stay there safely, but they cannot vote on clinical decisions.</a:t>
            </a:r>
          </a:p>
          <a:p/>
          <a:p>
            <a:r>
              <a:t>KEY HIGHLIGHTS: -38.4% false-positive patch activations; +2.2% AUROC boost.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a:t>
            </a:r>
          </a:p>
          <a:p>
            <a:r>
              <a:t>Mechanism 3 provides statistical safety via Finite-Sample Conformal Risk Control (Theorem 1). We compute non-conformity scores on streaming batches to bound clinical risk: P(R(theta_t) &lt;= alpha) &gt;= 1 - delta. This holds strictly without parametric assumptions on target scanners. We track the moving variance of conformal p-values. If empirical risk breaches alpha = 0.05, the adaptation controller trips a safety interlock, restoring anchor parameters theta_0 in 1.8 milliseconds from GPU memory without stalling the WSI queue.</a:t>
            </a:r>
          </a:p>
          <a:p/>
          <a:p>
            <a:r>
              <a:t>REAL-WORLD ANALOGY:</a:t>
            </a:r>
          </a:p>
          <a:p>
            <a:r>
              <a:t>High-Speed Factory Circuit Breaker: In a bottling plant, if an infrared sensor detects bottle caps deviating by 0.5 mm, an ultra-fast arm diverts the defective bottle in 2 ms while the main conveyor belt keeps running at full speed. Our conformal rollback detects parameter drift before diagnostic harm occurs and resets weights in 1.8 milliseconds.</a:t>
            </a:r>
          </a:p>
          <a:p/>
          <a:p>
            <a:r>
              <a:t>KEY HIGHLIGHTS: Theorem 1 distribution-free bound; 1.8 ms sub-frame rollback.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a:t>
            </a:r>
          </a:p>
          <a:p>
            <a:r>
              <a:t>To rigorously evaluate SafeAdapt, we benchmarked across two premier multicenter datasets: CAMELYON17 (50 whole slides across 5 university medical centers in the Netherlands: Radboud, Utrecht, Rijnstate, CWZ, Groningen) and MIDOG 2021 (cross-scanner mitosis detection across 4 digitizers and multi-species tissue). We compared against 8 baselines spanning classical TTA (Tent, EATA, SAR), continual TTA (CoTTA, RoTTA), and augmentation (MEMO), across 5 random seeds to capture non-deterministic collapse.</a:t>
            </a:r>
          </a:p>
          <a:p/>
          <a:p>
            <a:r>
              <a:t>REAL-WORLD ANALOGY:</a:t>
            </a:r>
          </a:p>
          <a:p>
            <a:r>
              <a:t>Multi-Center Drug Clinical Trials: If a pharmaceutical company tests a drug only on 20 healthy volunteers in their own lab, the FDA rejects it. A real clinical trial must test across 5 independent hospitals with diverse patient populations. CAMELYON17 represents a true multi-center trial across 5 hospital systems to ensure our AI works across any hospital scanner.</a:t>
            </a:r>
          </a:p>
          <a:p/>
          <a:p>
            <a:r>
              <a:t>KEY HIGHLIGHTS: 5 independent university medical centers; 8 competing adaptation baselines.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a:t>
            </a:r>
          </a:p>
          <a:p>
            <a:r>
              <a:t>Here are the headline results on CAMELYON17 (Table I). Unadapted ResNet achieves 0.8312 AUROC. Standard Tent collapses to 0.7645 AUROC with 40.0% collapse rate and 0.2810 calibration error. Baselines like EATA, SAR, and RoTTA reach 0.85-0.87 AUROC but still suffer 10-20% collapse. SafeAdapt establishes a new state-of-the-art: 0.9495 AUROC, the lowest Expected Calibration Error of 0.0418, and exactly 0.0% catastrophic collapse. In the Pareto plot, SafeAdapt dominates the top-left ideal frontier.</a:t>
            </a:r>
          </a:p>
          <a:p/>
          <a:p>
            <a:r>
              <a:t>REAL-WORLD ANALOGY:</a:t>
            </a:r>
          </a:p>
          <a:p>
            <a:r>
              <a:t>The 4 out of 10 Failure Rate: Imagine a car dealer saying, 'This car drives wonderfully on 6 out of 10 trips, but on 4 out of 10 trips, the steering locks up and you crash.' No hospital would allow that algorithm in their lab. SafeAdapt is the only framework that achieves a 0.0% failure rate across all 50 patient whole slides while delivering a +14.2% diagnostic boost.</a:t>
            </a:r>
          </a:p>
          <a:p/>
          <a:p>
            <a:r>
              <a:t>KEY HIGHLIGHTS: 0.9495 AUROC (SOTA); 0.0% Collapse Rate vs. 40.0% in Tent; 0.0418 ECE.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a:t>
            </a:r>
          </a:p>
          <a:p>
            <a:r>
              <a:t>Let us examine Patient Slide 29—a slide with dark hematoxylin stain drift and sparse micrometastasis (&lt;2% tumor). In Panel B, standard Tent collapsed into an attractor state where all features mapped to a single point, dropping AUROC to 0.5120 (coin-flip chance) and missing metastatic cancer. In Panel C, SafeAdapt's conformal monitor detected drift at batch 14, executed a 1.8 ms rollback, and used Optimal Transport to align features. Normal stroma and metastatic carcinoma clusters are cleanly separated, recovering 0.9324 AUROC.</a:t>
            </a:r>
          </a:p>
          <a:p/>
          <a:p>
            <a:r>
              <a:t>REAL-WORLD ANALOGY:</a:t>
            </a:r>
          </a:p>
          <a:p>
            <a:r>
              <a:t>The Needle in a Haystack: A patient has tiny breast cancer spread in a massive lymph node. Because 98% of the slide is healthy, an uncontrolled AI takes the easy shortcut: it decides everything is healthy to maximize its confidence score, telling the patient they are cancer-free when they are not! SafeAdapt prevents the AI from taking that lazy, dangerous shortcut.</a:t>
            </a:r>
          </a:p>
          <a:p/>
          <a:p>
            <a:r>
              <a:t>KEY HIGHLIGHTS: 0.5120 AUROC (Tent collapse) vs. 0.9324 AUROC (SafeAdapt recovery); rollback at batch 14.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a:t>
            </a:r>
          </a:p>
          <a:p>
            <a:r>
              <a:t>In MIDOG 2021, models must detect mitotic figures across 4 scanner types and multiple species. The mitotic count dictates whether a patient needs chemotherapy. Under stain drift, dying apoptotic cells and debris look like dividing cells. Under Tent, false alarms exploded, driving precision down to 0.2710 and F1 down to 0.3245. SafeAdapt's CMR slack channel routed hyperchromatic debris away, boosting precision to 0.5284 (+38.7% over source) and achieving the top F1-score of 0.5172 (+25.5% relative gain).</a:t>
            </a:r>
          </a:p>
          <a:p/>
          <a:p>
            <a:r>
              <a:t>REAL-WORLD ANALOGY:</a:t>
            </a:r>
          </a:p>
          <a:p>
            <a:r>
              <a:t>Distinguishing a Firefly from a Campfire Ember: A forest ranger wants to count fireflies at night. Under a full moon, glowing campfire sparks look just like fireflies. An untrained AI counts every spark, inflating the count tenfold. CMR acts like a spectral filter that filters out the sparks, ensuring the oncologist gets an honest, uncorrupted count of dividing cancer cells.</a:t>
            </a:r>
          </a:p>
          <a:p/>
          <a:p>
            <a:r>
              <a:t>KEY HIGHLIGHTS: 0.5172 F1-score; 0.5284 Precision (+38.7% over unadapted baseline).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a:t>
            </a:r>
          </a:p>
          <a:p>
            <a:r>
              <a:t>We stress-tested SafeAdapt across four extreme clinical boundary regimes: 1) Single-patch streaming (B=1): our FIFO buffer maintains 0.9412 AUROC without batch collapse; 2) Purely benign slides (0.0% tumor): in routine screening, &gt;80% of lymph nodes are benign; SafeAdapt exhibited zero false-positive drift, preserving 99.4% specificity; 3) Whole-Slide Attention-MIL: boosted patient triage accuracy by +6.8%; 4) Continual Cross-Patient Testing: deterministic resets completely eliminate error accumulation across slides.</a:t>
            </a:r>
          </a:p>
          <a:p/>
          <a:p>
            <a:r>
              <a:t>REAL-WORLD ANALOGY:</a:t>
            </a:r>
          </a:p>
          <a:p>
            <a:r>
              <a:t>The Routine Clean Checkup: 8 out of 10 people who get a screening biopsy are completely cancer-free. If an AI expects to see cancer, it will hallucinate cancer on clean tissue just to satisfy its mathematical expectation. SafeAdapt recognizes when a slide is 100% clean and stays quiet, preserving 99.4% specificity.</a:t>
            </a:r>
          </a:p>
          <a:p/>
          <a:p>
            <a:r>
              <a:t>KEY HIGHLIGHTS: 0.9412 AUROC at B=1 streaming; 99.4% specificity on 0.0% tumor burden slides.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a:t>
            </a:r>
          </a:p>
          <a:p>
            <a:r>
              <a:t>A typical Whole-Slide Image contains over 10,000 patches. Table IV shows hardware efficiency. Multi-view augmentation (MEMO) requires 48.6 ms per patch and 4.8 GB VRAM—17 times slower than baseline, taking 10 minutes per slide. SafeAdapt requires only 3.2 ms per patch (312 patches/sec), adding just 0.4 ms overhead over the frozen model. It processes a slide in under 32 seconds, executes rollback in 1.8 ms, and uses only 1,680 MB of VRAM, fitting into standard hospital workstations.</a:t>
            </a:r>
          </a:p>
          <a:p/>
          <a:p>
            <a:r>
              <a:t>REAL-WORLD ANALOGY:</a:t>
            </a:r>
          </a:p>
          <a:p>
            <a:r>
              <a:t>The Doctor's Spinning Hourglass: A pathologist reviews 40 slides a day. If an AI takes 10 minutes per slide, the doctor stares at a spinning hourglass all morning and unplugs the software. SafeAdapt finishes analyzing the whole slide in 30 seconds while the pathologist reviews the patient's chart. It is fast, invisible, and seamless.</a:t>
            </a:r>
          </a:p>
          <a:p/>
          <a:p>
            <a:r>
              <a:t>KEY HIGHLIGHTS: 3.2 ms/patch (312 p/s); 1.8 ms rollback; 1,680 MB VRAM footprint.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a:t>
            </a:r>
          </a:p>
          <a:p>
            <a:r>
              <a:t>In Section X, we address clinical governance. In hospital queues, patient slide order is arbitrary. Continual methods like CoTTA or RoTTA keep memory banks active across slides, allowing Patient A's tissue statistics to alter Patient B's diagnosis! This violates HIPAA and GDPR patient non-leakage principles. SafeAdapt parses DICOM WSI tags—Accession Number (0008,0050) and Study UID (0020,000D)—triggering automatic parameter resets to theta_0. Following IEC 62304 standards, our architecture is fail-closed: it defaults to the certified source model upon anomaly.</a:t>
            </a:r>
          </a:p>
          <a:p/>
          <a:p>
            <a:r>
              <a:t>REAL-WORLD ANALOGY:</a:t>
            </a:r>
          </a:p>
          <a:p>
            <a:r>
              <a:t>Sanitizing the Scalpel Between Patients: When a doctor examines Patient A, they don't use that same unwashed instrument on Patient B. They sanitize it thoroughly. Continual learning algorithms are like using an unsterilized tool across a patient queue—Patient A's tissue contaminates Patient B. SafeAdapt sterilizes the model between every patient.</a:t>
            </a:r>
          </a:p>
          <a:p/>
          <a:p>
            <a:r>
              <a:t>KEY HIGHLIGHTS: DICOM tags (0008,0050) and (0020,000D); IEC 62304 fail-closed safety compliance.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a:t>
            </a:r>
          </a:p>
          <a:p>
            <a:r>
              <a:t>Table V shows our comprehensive ablation study: 1) Frozen Source starts at 0.8312 AUROC; 2) Tent drops to 0.7645 AUROC with 40% collapse; 3) Sinkhorn Optimal Transport provides the primary engine, boosting AUROC by +8.1% to 0.9124 and slashing collapse to 8%; 4) CMR adds +2.2% to reach 0.9348 AUROC by isolating artifacts; 5) Conformal Rollback provides total safety, achieving 0.9495 AUROC and driving collapse to exactly 0.0%. Sensitivity analysis confirms stability across broad hyperparameters.</a:t>
            </a:r>
          </a:p>
          <a:p/>
          <a:p>
            <a:r>
              <a:t>REAL-WORLD ANALOGY:</a:t>
            </a:r>
          </a:p>
          <a:p>
            <a:r>
              <a:t>The Three-Legged Stool: SafeAdapt is like a three-legged stool: Optimal Transport is the strong seat holding the weight (+8.1%); CMR is the brace preventing wobbles (+2.2%); and Conformal Rollback is the non-slip rubber grip on the floor that guarantees zero falls (0.0%). Remove any leg, and the stool falls.</a:t>
            </a:r>
          </a:p>
          <a:p/>
          <a:p>
            <a:r>
              <a:t>KEY HIGHLIGHTS: Stepwise AUROC progression: 0.8312 -&gt; 0.9124 -&gt; 0.9348 -&gt; 0.9495; collapse: 40% -&gt; 0%.</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a:t>
            </a:r>
          </a:p>
          <a:p>
            <a:r>
              <a:t>We compared SafeAdapt against recent 2022-2024 continual paradigms. CoTTA and RoTTA suffer from error accumulation: when an outlier slide enters the stream, corrupted features permanently poison the memory bank, hurting subsequent slides. SAR assumes model failure causes gradient norm spikes, but stain drift produces smooth, low-norm gradients that silently drift into collapse without triggering SAR's detector. SafeAdapt outperforms RoTTA by +0.078 AUROC and CoTTA by +0.128 AUROC, with 46% less GPU memory.</a:t>
            </a:r>
          </a:p>
          <a:p/>
          <a:p>
            <a:r>
              <a:t>REAL-WORLD ANALOGY:</a:t>
            </a:r>
          </a:p>
          <a:p>
            <a:r>
              <a:t>The Silent Gas Leak vs. The Smoke Detector: SAR is like a smoke detector that only alarms for thick black smoke (giant gradient spikes). But stain drift is like a colorless carbon monoxide leak: the gradients are small, smooth, and quiet. SAR sits silent while the model slowly suffocates. SafeAdapt's conformal monitor detects the leak instantly.</a:t>
            </a:r>
          </a:p>
          <a:p/>
          <a:p>
            <a:r>
              <a:t>KEY HIGHLIGHTS: +0.078 AUROC over RoTTA, +0.128 over CoTTA; 46% memory reduction.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a:t>
            </a:r>
          </a:p>
          <a:p>
            <a:r>
              <a:t>To summarize, this work delivers four foundational contributions: 1) Theoretical Rigor: proved Proposition 1 (rho = -0.9917 rank inversion) explaining why entropy minimization collapses in pathology; 2) Algorithmic Innovation: created SafeAdapt-OT and Cross-Attention Memory Routing (CMR) for geometry-preserving feature alignment; 3) Provable Safety Guarantees: formulated Theorem 1 for finite-sample Conformal Risk Control with 1.8 ms rollback; 4) SOTA Empirical Performance: demonstrated +14.2% AUROC on CAMELYON17, +25.5% F1 on MIDOG, and 0.0% collapse.</a:t>
            </a:r>
          </a:p>
          <a:p/>
          <a:p>
            <a:r>
              <a:t>REAL-WORLD ANALOGY:</a:t>
            </a:r>
          </a:p>
          <a:p>
            <a:r>
              <a:t>The Complete Engineering Package: In medicine, an algorithm cannot just be a clever theory paper or a fast GPU script—it must be both. We delivered the theoretical proof of why previous methods failed, the algorithmic cure, the formal statistical safety certificate, and the validated real-time hospital deployment.</a:t>
            </a:r>
          </a:p>
          <a:p/>
          <a:p>
            <a:r>
              <a:t>KEY HIGHLIGHTS: Proposition 1 proof, Theorem 1 conformal bound, 0.9495 AUROC, 0.0% collapse.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SPOKEN SCRIPT:</a:t>
            </a:r>
          </a:p>
          <a:p>
            <a:r>
              <a:t>On our final slide, we present future improvements, clinical translation, and our open-source roadmap.</a:t>
            </a:r>
          </a:p>
          <a:p>
            <a:r>
              <a:t>1. Foundation Model Extensions: Extending SafeAdapt to large pathology foundation models like CONCH and UNI using low-rank LoRA adapters.</a:t>
            </a:r>
          </a:p>
          <a:p>
            <a:r>
              <a:t>2. Intraoperative &amp; 3D Histology: Deploying SafeAdapt to rapid intraoperative frozen sections where surgeons need answers in under 15 minutes, and extending OT alignment to 3D volumetric histology.</a:t>
            </a:r>
          </a:p>
          <a:p>
            <a:r>
              <a:t>3. Clinical Translation: Complete open-source PyTorch release, with live integration into QuPath and Orthanc PACS for prospective multi-scanner trials.</a:t>
            </a:r>
          </a:p>
          <a:p>
            <a:r>
              <a:t>SafeAdapt bridges the gap between academic TTA research and dependable clinical cancer diagnosis.</a:t>
            </a:r>
          </a:p>
          <a:p>
            <a:r>
              <a:t>Thank you very much for your time and guidance. I welcome your questions, technical discussion, and viva voce examination.</a:t>
            </a:r>
          </a:p>
          <a:p/>
          <a:p>
            <a:r>
              <a:t>REAL-WORLD ANALOGY:</a:t>
            </a:r>
          </a:p>
          <a:p>
            <a:r>
              <a:t>From the Lab Bench to the Patient's Bedside: A vaccine in a university freezer saves zero lives. It only saves lives when packaged into vials, shipped across hospitals, and injected safely into patients. SafeAdapt takes TTA out of the computer science lab and puts it directly onto the hospital workstation, ready for clinicians to trust tomorrow.</a:t>
            </a:r>
          </a:p>
          <a:p/>
          <a:p>
            <a:r>
              <a:t>KEY HIGHLIGHTS: Open-source PyTorch release; QuPath/PACS integration; Foundation models roadmap; ready for viva Q&amp;A.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731520"/>
            <a:ext cx="4114800" cy="320040"/>
          </a:xfrm>
          <a:prstGeom prst="roundRect">
            <a:avLst/>
          </a:prstGeom>
          <a:solidFill>
            <a:srgbClr val="1E293B"/>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D9488"/>
                </a:solidFill>
              </a:defRPr>
            </a:pPr>
            <a:r>
              <a:t>IEEE TRANSACTIONS ON MEDICAL IMAGING (TMI)</a:t>
            </a:r>
          </a:p>
        </p:txBody>
      </p:sp>
      <p:sp>
        <p:nvSpPr>
          <p:cNvPr id="4" name="TextBox 3"/>
          <p:cNvSpPr txBox="1"/>
          <p:nvPr/>
        </p:nvSpPr>
        <p:spPr>
          <a:xfrm>
            <a:off x="914400" y="1188720"/>
            <a:ext cx="10332720" cy="1645920"/>
          </a:xfrm>
          <a:prstGeom prst="rect">
            <a:avLst/>
          </a:prstGeom>
          <a:noFill/>
        </p:spPr>
        <p:txBody>
          <a:bodyPr wrap="square" lIns="0" tIns="0" rIns="0" bIns="0">
            <a:spAutoFit/>
          </a:bodyPr>
          <a:lstStyle/>
          <a:p>
            <a:pPr>
              <a:defRPr sz="4600" b="1">
                <a:solidFill>
                  <a:srgbClr val="0D9488"/>
                </a:solidFill>
              </a:defRPr>
            </a:pPr>
            <a:r>
              <a:t>SafeAdapt</a:t>
            </a:r>
          </a:p>
          <a:p>
            <a:pPr>
              <a:spcBef>
                <a:spcPts val="600"/>
              </a:spcBef>
              <a:defRPr sz="2200" b="1">
                <a:solidFill>
                  <a:srgbClr val="F8FAFC"/>
                </a:solidFill>
              </a:defRPr>
            </a:pPr>
            <a:r>
              <a:t>Robust Test-Time Adaptation via Optimal Transport and Conformal Risk Control in Digital Pathology</a:t>
            </a:r>
          </a:p>
        </p:txBody>
      </p:sp>
      <p:sp>
        <p:nvSpPr>
          <p:cNvPr id="5" name="TextBox 4"/>
          <p:cNvSpPr txBox="1"/>
          <p:nvPr/>
        </p:nvSpPr>
        <p:spPr>
          <a:xfrm>
            <a:off x="914400" y="2926080"/>
            <a:ext cx="10332720" cy="914400"/>
          </a:xfrm>
          <a:prstGeom prst="rect">
            <a:avLst/>
          </a:prstGeom>
          <a:noFill/>
        </p:spPr>
        <p:txBody>
          <a:bodyPr wrap="none" lIns="0" tIns="0" rIns="0" bIns="0">
            <a:spAutoFit/>
          </a:bodyPr>
          <a:lstStyle/>
          <a:p>
            <a:pPr>
              <a:defRPr sz="1500" b="1">
                <a:solidFill>
                  <a:srgbClr val="E2E8F0"/>
                </a:solidFill>
              </a:defRPr>
            </a:pPr>
            <a:r>
              <a:t>Author: Avinash Reddy Cheerapareddy   |   Co-Author: Gunnam Sanjana</a:t>
            </a:r>
          </a:p>
          <a:p>
            <a:pPr>
              <a:spcBef>
                <a:spcPts val="400"/>
              </a:spcBef>
              <a:defRPr sz="1300">
                <a:solidFill>
                  <a:srgbClr val="94A3B8"/>
                </a:solidFill>
              </a:defRPr>
            </a:pPr>
            <a:r>
              <a:t>Department of Computer Science &amp; Engineering, SRM University-AP   •   Final Thesis &amp; Scientific Defense</a:t>
            </a:r>
          </a:p>
        </p:txBody>
      </p:sp>
      <p:sp>
        <p:nvSpPr>
          <p:cNvPr id="6" name="Rounded Rectangle 5"/>
          <p:cNvSpPr/>
          <p:nvPr/>
        </p:nvSpPr>
        <p:spPr>
          <a:xfrm>
            <a:off x="914400" y="4297680"/>
            <a:ext cx="2468880" cy="173736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lIns="109728" rIns="109728" tIns="137160"/>
          <a:lstStyle/>
          <a:p>
            <a:pPr algn="ctr">
              <a:defRPr sz="1000" b="1">
                <a:solidFill>
                  <a:srgbClr val="94A3B8"/>
                </a:solidFill>
              </a:defRPr>
            </a:pPr>
            <a:r>
              <a:t>AUROC GAIN</a:t>
            </a:r>
          </a:p>
          <a:p>
            <a:pPr algn="ctr">
              <a:spcBef>
                <a:spcPts val="400"/>
              </a:spcBef>
              <a:defRPr sz="2600" b="1">
                <a:solidFill>
                  <a:srgbClr val="0D9488"/>
                </a:solidFill>
              </a:defRPr>
            </a:pPr>
            <a:r>
              <a:t>+14.2%</a:t>
            </a:r>
          </a:p>
          <a:p>
            <a:pPr algn="ctr">
              <a:spcBef>
                <a:spcPts val="400"/>
              </a:spcBef>
              <a:defRPr sz="950">
                <a:solidFill>
                  <a:srgbClr val="CBD5E1"/>
                </a:solidFill>
              </a:defRPr>
            </a:pPr>
            <a:r>
              <a:t>CAMELYON17 multicenter shifts (0.8312 → 0.9495)</a:t>
            </a:r>
          </a:p>
        </p:txBody>
      </p:sp>
      <p:sp>
        <p:nvSpPr>
          <p:cNvPr id="7" name="Rounded Rectangle 6"/>
          <p:cNvSpPr/>
          <p:nvPr/>
        </p:nvSpPr>
        <p:spPr>
          <a:xfrm>
            <a:off x="3520440" y="4297680"/>
            <a:ext cx="2468880" cy="1737360"/>
          </a:xfrm>
          <a:prstGeom prst="roundRect">
            <a:avLst/>
          </a:prstGeom>
          <a:solidFill>
            <a:srgbClr val="1E293B"/>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lIns="109728" rIns="109728" tIns="137160"/>
          <a:lstStyle/>
          <a:p>
            <a:pPr algn="ctr">
              <a:defRPr sz="1000" b="1">
                <a:solidFill>
                  <a:srgbClr val="94A3B8"/>
                </a:solidFill>
              </a:defRPr>
            </a:pPr>
            <a:r>
              <a:t>COLLAPSE RATE</a:t>
            </a:r>
          </a:p>
          <a:p>
            <a:pPr algn="ctr">
              <a:spcBef>
                <a:spcPts val="400"/>
              </a:spcBef>
              <a:defRPr sz="2600" b="1">
                <a:solidFill>
                  <a:srgbClr val="059669"/>
                </a:solidFill>
              </a:defRPr>
            </a:pPr>
            <a:r>
              <a:t>0.0%</a:t>
            </a:r>
          </a:p>
          <a:p>
            <a:pPr algn="ctr">
              <a:spcBef>
                <a:spcPts val="400"/>
              </a:spcBef>
              <a:defRPr sz="950">
                <a:solidFill>
                  <a:srgbClr val="CBD5E1"/>
                </a:solidFill>
              </a:defRPr>
            </a:pPr>
            <a:r>
              <a:t>Eliminates 40% collapse seen in classical TTA</a:t>
            </a:r>
          </a:p>
        </p:txBody>
      </p:sp>
      <p:sp>
        <p:nvSpPr>
          <p:cNvPr id="8" name="Rounded Rectangle 7"/>
          <p:cNvSpPr/>
          <p:nvPr/>
        </p:nvSpPr>
        <p:spPr>
          <a:xfrm>
            <a:off x="6126480" y="4297680"/>
            <a:ext cx="2468880" cy="173736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lIns="109728" rIns="109728" tIns="137160"/>
          <a:lstStyle/>
          <a:p>
            <a:pPr algn="ctr">
              <a:defRPr sz="1000" b="1">
                <a:solidFill>
                  <a:srgbClr val="94A3B8"/>
                </a:solidFill>
              </a:defRPr>
            </a:pPr>
            <a:r>
              <a:t>GPU ROLLBACK</a:t>
            </a:r>
          </a:p>
          <a:p>
            <a:pPr algn="ctr">
              <a:spcBef>
                <a:spcPts val="400"/>
              </a:spcBef>
              <a:defRPr sz="2600" b="1">
                <a:solidFill>
                  <a:srgbClr val="0D9488"/>
                </a:solidFill>
              </a:defRPr>
            </a:pPr>
            <a:r>
              <a:t>1.8 ms</a:t>
            </a:r>
          </a:p>
          <a:p>
            <a:pPr algn="ctr">
              <a:spcBef>
                <a:spcPts val="400"/>
              </a:spcBef>
              <a:defRPr sz="950">
                <a:solidFill>
                  <a:srgbClr val="CBD5E1"/>
                </a:solidFill>
              </a:defRPr>
            </a:pPr>
            <a:r>
              <a:t>Sub-frame fail-closed state recovery</a:t>
            </a:r>
          </a:p>
        </p:txBody>
      </p:sp>
      <p:sp>
        <p:nvSpPr>
          <p:cNvPr id="9" name="Rounded Rectangle 8"/>
          <p:cNvSpPr/>
          <p:nvPr/>
        </p:nvSpPr>
        <p:spPr>
          <a:xfrm>
            <a:off x="8732520" y="4297680"/>
            <a:ext cx="2468880" cy="1737360"/>
          </a:xfrm>
          <a:prstGeom prst="roundRect">
            <a:avLst/>
          </a:prstGeom>
          <a:solidFill>
            <a:srgbClr val="1E293B"/>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lIns="109728" rIns="109728" tIns="137160"/>
          <a:lstStyle/>
          <a:p>
            <a:pPr algn="ctr">
              <a:defRPr sz="1000" b="1">
                <a:solidFill>
                  <a:srgbClr val="94A3B8"/>
                </a:solidFill>
              </a:defRPr>
            </a:pPr>
            <a:r>
              <a:t>PATIENT ISOLATION</a:t>
            </a:r>
          </a:p>
          <a:p>
            <a:pPr algn="ctr">
              <a:spcBef>
                <a:spcPts val="400"/>
              </a:spcBef>
              <a:defRPr sz="2600" b="1">
                <a:solidFill>
                  <a:srgbClr val="059669"/>
                </a:solidFill>
              </a:defRPr>
            </a:pPr>
            <a:r>
              <a:t>HIPAA/GDPR</a:t>
            </a:r>
          </a:p>
          <a:p>
            <a:pPr algn="ctr">
              <a:spcBef>
                <a:spcPts val="400"/>
              </a:spcBef>
              <a:defRPr sz="950">
                <a:solidFill>
                  <a:srgbClr val="CBD5E1"/>
                </a:solidFill>
              </a:defRPr>
            </a:pPr>
            <a:r>
              <a:t>Deterministic episodic slide boundary resets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274320"/>
          </a:xfrm>
          <a:prstGeom prst="rect">
            <a:avLst/>
          </a:prstGeom>
          <a:noFill/>
        </p:spPr>
        <p:txBody>
          <a:bodyPr wrap="square" lIns="0" tIns="0" rIns="0" bIns="0">
            <a:spAutoFit/>
          </a:bodyPr>
          <a:lstStyle/>
          <a:p>
            <a:pPr>
              <a:defRPr sz="1000" b="1">
                <a:solidFill>
                  <a:srgbClr val="0D9488"/>
                </a:solidFill>
              </a:defRPr>
            </a:pPr>
            <a:r>
              <a:t>CORE RESEARCH FOUNDATION</a:t>
            </a:r>
          </a:p>
        </p:txBody>
      </p:sp>
      <p:sp>
        <p:nvSpPr>
          <p:cNvPr id="4" name="TextBox 3"/>
          <p:cNvSpPr txBox="1"/>
          <p:nvPr/>
        </p:nvSpPr>
        <p:spPr>
          <a:xfrm>
            <a:off x="731520" y="594360"/>
            <a:ext cx="10728655" cy="502920"/>
          </a:xfrm>
          <a:prstGeom prst="rect">
            <a:avLst/>
          </a:prstGeom>
          <a:noFill/>
        </p:spPr>
        <p:txBody>
          <a:bodyPr wrap="square" lIns="0" tIns="0" rIns="0" bIns="0">
            <a:spAutoFit/>
          </a:bodyPr>
          <a:lstStyle/>
          <a:p>
            <a:pPr>
              <a:defRPr sz="2400" b="1">
                <a:solidFill>
                  <a:srgbClr val="0F172A"/>
                </a:solidFill>
              </a:defRPr>
            </a:pPr>
            <a:r>
              <a:t>Problem Statement, Clinical Target &amp; The SafeAdapt Solution</a:t>
            </a:r>
          </a:p>
        </p:txBody>
      </p:sp>
      <p:sp>
        <p:nvSpPr>
          <p:cNvPr id="5" name="Rounded Rectangle 4"/>
          <p:cNvSpPr/>
          <p:nvPr/>
        </p:nvSpPr>
        <p:spPr>
          <a:xfrm>
            <a:off x="731520" y="1115568"/>
            <a:ext cx="10728655" cy="384048"/>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rIns="137160" bIns="36576"/>
          <a:lstStyle/>
          <a:p>
            <a:pPr algn="ctr">
              <a:defRPr sz="1100" b="1">
                <a:solidFill>
                  <a:srgbClr val="0F766E"/>
                </a:solidFill>
              </a:defRPr>
            </a:pPr>
            <a:r>
              <a:t>KEY TAKEAWAY:  We solve silent multi-scanner AI diagnostic failure by introducing a fail-closed, real-time adaptation framework.</a:t>
            </a:r>
          </a:p>
        </p:txBody>
      </p:sp>
      <p:sp>
        <p:nvSpPr>
          <p:cNvPr id="6" name="Rounded Rectangle 5"/>
          <p:cNvSpPr/>
          <p:nvPr/>
        </p:nvSpPr>
        <p:spPr>
          <a:xfrm>
            <a:off x="731520" y="1645920"/>
            <a:ext cx="3429000" cy="4663440"/>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792224"/>
            <a:ext cx="3136392" cy="4370832"/>
          </a:xfrm>
          <a:prstGeom prst="rect">
            <a:avLst/>
          </a:prstGeom>
          <a:noFill/>
        </p:spPr>
        <p:txBody>
          <a:bodyPr wrap="square" lIns="0" tIns="0" rIns="0" bIns="0">
            <a:spAutoFit/>
          </a:bodyPr>
          <a:lstStyle/>
          <a:p>
            <a:pPr>
              <a:spcAft>
                <a:spcPts val="800"/>
              </a:spcAft>
              <a:defRPr sz="1300" b="1">
                <a:solidFill>
                  <a:srgbClr val="DC2626"/>
                </a:solidFill>
              </a:defRPr>
            </a:pPr>
            <a:r>
              <a:t>1. What is the Problem Statement?</a:t>
            </a:r>
          </a:p>
          <a:p>
            <a:pPr>
              <a:spcAft>
                <a:spcPts val="600"/>
              </a:spcAft>
            </a:pPr>
            <a:r>
              <a:rPr b="1" sz="1050">
                <a:solidFill>
                  <a:srgbClr val="0F172A"/>
                </a:solidFill>
              </a:rPr>
              <a:t>•  Multi-Center Scanner Drift: </a:t>
            </a:r>
            <a:r>
              <a:rPr sz="1050">
                <a:solidFill>
                  <a:srgbClr val="1E293B"/>
                </a:solidFill>
              </a:rPr>
              <a:t>Digital pathology digitizers (Hamamatsu, Philips, Leica) use divergent sensors, optical calibrations, and illumination spectra.</a:t>
            </a:r>
          </a:p>
          <a:p>
            <a:pPr>
              <a:spcAft>
                <a:spcPts val="600"/>
              </a:spcAft>
            </a:pPr>
            <a:r>
              <a:rPr b="1" sz="1050">
                <a:solidFill>
                  <a:srgbClr val="0F172A"/>
                </a:solidFill>
              </a:rPr>
              <a:t>•  Stain &amp; Chemical Heterogeneity: </a:t>
            </a:r>
            <a:r>
              <a:rPr sz="1050">
                <a:solidFill>
                  <a:srgbClr val="1E293B"/>
                </a:solidFill>
              </a:rPr>
              <a:t>Tissue slice thickness variations (3-5 µm) and chemical Hematoxylin/Eosin (H&amp;E) batch differences alter pixel intensity histograms.</a:t>
            </a:r>
          </a:p>
          <a:p>
            <a:pPr>
              <a:spcAft>
                <a:spcPts val="600"/>
              </a:spcAft>
            </a:pPr>
            <a:r>
              <a:rPr b="1" sz="1050">
                <a:solidFill>
                  <a:srgbClr val="0F172A"/>
                </a:solidFill>
              </a:rPr>
              <a:t>•  Catastrophic Accuracy Drop: </a:t>
            </a:r>
            <a:r>
              <a:rPr sz="1050">
                <a:solidFill>
                  <a:srgbClr val="1E293B"/>
                </a:solidFill>
              </a:rPr>
              <a:t>A ResNet model trained at Radboud achieving &gt;0.98 AUROC plummets to 0.73 AUROC when tested on Center 3 or Center 4.</a:t>
            </a:r>
          </a:p>
        </p:txBody>
      </p:sp>
      <p:sp>
        <p:nvSpPr>
          <p:cNvPr id="8" name="Rounded Rectangle 7"/>
          <p:cNvSpPr/>
          <p:nvPr/>
        </p:nvSpPr>
        <p:spPr>
          <a:xfrm>
            <a:off x="2514600" y="1755648"/>
            <a:ext cx="1508760" cy="256032"/>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DC2626"/>
                </a:solidFill>
              </a:defRPr>
            </a:pPr>
            <a:r>
              <a:t>THE DILEMMA</a:t>
            </a:r>
          </a:p>
        </p:txBody>
      </p:sp>
      <p:sp>
        <p:nvSpPr>
          <p:cNvPr id="9" name="Rounded Rectangle 8"/>
          <p:cNvSpPr/>
          <p:nvPr/>
        </p:nvSpPr>
        <p:spPr>
          <a:xfrm>
            <a:off x="4389120" y="1645920"/>
            <a:ext cx="3429000" cy="466344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35424" y="1792224"/>
            <a:ext cx="3136392" cy="4370832"/>
          </a:xfrm>
          <a:prstGeom prst="rect">
            <a:avLst/>
          </a:prstGeom>
          <a:noFill/>
        </p:spPr>
        <p:txBody>
          <a:bodyPr wrap="square" lIns="0" tIns="0" rIns="0" bIns="0">
            <a:spAutoFit/>
          </a:bodyPr>
          <a:lstStyle/>
          <a:p>
            <a:pPr>
              <a:spcAft>
                <a:spcPts val="800"/>
              </a:spcAft>
              <a:defRPr sz="1300" b="1">
                <a:solidFill>
                  <a:srgbClr val="0F172A"/>
                </a:solidFill>
              </a:defRPr>
            </a:pPr>
            <a:r>
              <a:t>2. What are we Solving?</a:t>
            </a:r>
          </a:p>
          <a:p>
            <a:pPr>
              <a:spcAft>
                <a:spcPts val="600"/>
              </a:spcAft>
            </a:pPr>
            <a:r>
              <a:rPr b="1" sz="1050">
                <a:solidFill>
                  <a:srgbClr val="0F172A"/>
                </a:solidFill>
              </a:rPr>
              <a:t>•  Silent Diagnostic Failure: </a:t>
            </a:r>
            <a:r>
              <a:rPr sz="1050">
                <a:solidFill>
                  <a:srgbClr val="1E293B"/>
                </a:solidFill>
              </a:rPr>
              <a:t>Crucially, the model does NOT output low confidence—it fails silently with 99% confidence on misclassified tissue.</a:t>
            </a:r>
          </a:p>
          <a:p>
            <a:pPr>
              <a:spcAft>
                <a:spcPts val="600"/>
              </a:spcAft>
            </a:pPr>
            <a:r>
              <a:rPr b="1" sz="1050">
                <a:solidFill>
                  <a:srgbClr val="0F172A"/>
                </a:solidFill>
              </a:rPr>
              <a:t>•  Zero Target Labels: </a:t>
            </a:r>
            <a:r>
              <a:rPr sz="1050">
                <a:solidFill>
                  <a:srgbClr val="1E293B"/>
                </a:solidFill>
              </a:rPr>
              <a:t>In real clinical workflows, patient slides must be diagnosed immediately without human re-annotations or retraining.</a:t>
            </a:r>
          </a:p>
          <a:p>
            <a:pPr>
              <a:spcAft>
                <a:spcPts val="600"/>
              </a:spcAft>
            </a:pPr>
            <a:r>
              <a:rPr b="1" sz="1050">
                <a:solidFill>
                  <a:srgbClr val="0F172A"/>
                </a:solidFill>
              </a:rPr>
              <a:t>•  High Clinical Stakes: </a:t>
            </a:r>
            <a:r>
              <a:rPr sz="1050">
                <a:solidFill>
                  <a:srgbClr val="1E293B"/>
                </a:solidFill>
              </a:rPr>
              <a:t>Preventing missed axillary lymph node metastases, delayed chemotherapy, and cancer under-staging in patient care.</a:t>
            </a:r>
          </a:p>
        </p:txBody>
      </p:sp>
      <p:sp>
        <p:nvSpPr>
          <p:cNvPr id="11" name="Rounded Rectangle 10"/>
          <p:cNvSpPr/>
          <p:nvPr/>
        </p:nvSpPr>
        <p:spPr>
          <a:xfrm>
            <a:off x="6172200" y="1755648"/>
            <a:ext cx="1508760" cy="256032"/>
          </a:xfrm>
          <a:prstGeom prst="roundRect">
            <a:avLst/>
          </a:prstGeom>
          <a:solidFill>
            <a:srgbClr val="ECFDF5"/>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F172A"/>
                </a:solidFill>
              </a:defRPr>
            </a:pPr>
            <a:r>
              <a:t>CLINICAL MISSION</a:t>
            </a:r>
          </a:p>
        </p:txBody>
      </p:sp>
      <p:sp>
        <p:nvSpPr>
          <p:cNvPr id="12" name="Rounded Rectangle 11"/>
          <p:cNvSpPr/>
          <p:nvPr/>
        </p:nvSpPr>
        <p:spPr>
          <a:xfrm>
            <a:off x="8046720" y="1645920"/>
            <a:ext cx="3429000" cy="466344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1792224"/>
            <a:ext cx="3136392" cy="4370832"/>
          </a:xfrm>
          <a:prstGeom prst="rect">
            <a:avLst/>
          </a:prstGeom>
          <a:noFill/>
        </p:spPr>
        <p:txBody>
          <a:bodyPr wrap="square" lIns="0" tIns="0" rIns="0" bIns="0">
            <a:spAutoFit/>
          </a:bodyPr>
          <a:lstStyle/>
          <a:p>
            <a:pPr>
              <a:spcAft>
                <a:spcPts val="800"/>
              </a:spcAft>
              <a:defRPr sz="1300" b="1">
                <a:solidFill>
                  <a:srgbClr val="059669"/>
                </a:solidFill>
              </a:defRPr>
            </a:pPr>
            <a:r>
              <a:t>3. Our Proposed Solution</a:t>
            </a:r>
          </a:p>
          <a:p>
            <a:pPr>
              <a:spcAft>
                <a:spcPts val="600"/>
              </a:spcAft>
            </a:pPr>
            <a:r>
              <a:rPr b="1" sz="1050">
                <a:solidFill>
                  <a:srgbClr val="0F172A"/>
                </a:solidFill>
              </a:rPr>
              <a:t>•  SafeAdapt Framework: </a:t>
            </a:r>
            <a:r>
              <a:rPr sz="1050">
                <a:solidFill>
                  <a:srgbClr val="1E293B"/>
                </a:solidFill>
              </a:rPr>
              <a:t>A real-time, fail-closed Test-Time Adaptation architecture that safely adapts models during live WSI streaming.</a:t>
            </a:r>
          </a:p>
          <a:p>
            <a:pPr>
              <a:spcAft>
                <a:spcPts val="600"/>
              </a:spcAft>
            </a:pPr>
            <a:r>
              <a:rPr b="1" sz="1050">
                <a:solidFill>
                  <a:srgbClr val="0F172A"/>
                </a:solidFill>
              </a:rPr>
              <a:t>•  Sinkhorn Optimal Transport: </a:t>
            </a:r>
            <a:r>
              <a:rPr sz="1050">
                <a:solidFill>
                  <a:srgbClr val="1E293B"/>
                </a:solidFill>
              </a:rPr>
              <a:t>Enforces balanced marginal transport, making single-class representation collapse mathematically impossible.</a:t>
            </a:r>
          </a:p>
          <a:p>
            <a:pPr>
              <a:spcAft>
                <a:spcPts val="600"/>
              </a:spcAft>
            </a:pPr>
            <a:r>
              <a:rPr b="1" sz="1050">
                <a:solidFill>
                  <a:srgbClr val="0F172A"/>
                </a:solidFill>
              </a:rPr>
              <a:t>•  Conformal Risk Rollback: </a:t>
            </a:r>
            <a:r>
              <a:rPr sz="1050">
                <a:solidFill>
                  <a:srgbClr val="1E293B"/>
                </a:solidFill>
              </a:rPr>
              <a:t>Finite-sample statistical bounds guarantee bounded error with an instantaneous 1.8 ms state recovery.</a:t>
            </a:r>
          </a:p>
        </p:txBody>
      </p:sp>
      <p:sp>
        <p:nvSpPr>
          <p:cNvPr id="14" name="Rounded Rectangle 13"/>
          <p:cNvSpPr/>
          <p:nvPr/>
        </p:nvSpPr>
        <p:spPr>
          <a:xfrm>
            <a:off x="9829800" y="1755648"/>
            <a:ext cx="1508760" cy="256032"/>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59669"/>
                </a:solidFill>
              </a:defRPr>
            </a:pPr>
            <a:r>
              <a:t>THE SOLUTION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274320"/>
          </a:xfrm>
          <a:prstGeom prst="rect">
            <a:avLst/>
          </a:prstGeom>
          <a:noFill/>
        </p:spPr>
        <p:txBody>
          <a:bodyPr wrap="square" lIns="0" tIns="0" rIns="0" bIns="0">
            <a:spAutoFit/>
          </a:bodyPr>
          <a:lstStyle/>
          <a:p>
            <a:pPr>
              <a:defRPr sz="1000" b="1">
                <a:solidFill>
                  <a:srgbClr val="0D9488"/>
                </a:solidFill>
              </a:defRPr>
            </a:pPr>
            <a:r>
              <a:t>LITERATURE POSITIONING</a:t>
            </a:r>
          </a:p>
        </p:txBody>
      </p:sp>
      <p:sp>
        <p:nvSpPr>
          <p:cNvPr id="4" name="TextBox 3"/>
          <p:cNvSpPr txBox="1"/>
          <p:nvPr/>
        </p:nvSpPr>
        <p:spPr>
          <a:xfrm>
            <a:off x="731520" y="594360"/>
            <a:ext cx="10728655" cy="502920"/>
          </a:xfrm>
          <a:prstGeom prst="rect">
            <a:avLst/>
          </a:prstGeom>
          <a:noFill/>
        </p:spPr>
        <p:txBody>
          <a:bodyPr wrap="square" lIns="0" tIns="0" rIns="0" bIns="0">
            <a:spAutoFit/>
          </a:bodyPr>
          <a:lstStyle/>
          <a:p>
            <a:pPr>
              <a:defRPr sz="2400" b="1">
                <a:solidFill>
                  <a:srgbClr val="0F172A"/>
                </a:solidFill>
              </a:defRPr>
            </a:pPr>
            <a:r>
              <a:t>Relevant Prior Art, Critical Research Gaps &amp; Our Key Innovations</a:t>
            </a:r>
          </a:p>
        </p:txBody>
      </p:sp>
      <p:sp>
        <p:nvSpPr>
          <p:cNvPr id="5" name="Rounded Rectangle 4"/>
          <p:cNvSpPr/>
          <p:nvPr/>
        </p:nvSpPr>
        <p:spPr>
          <a:xfrm>
            <a:off x="731520" y="1115568"/>
            <a:ext cx="10728655" cy="384048"/>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rIns="137160" bIns="36576"/>
          <a:lstStyle/>
          <a:p>
            <a:pPr algn="ctr">
              <a:defRPr sz="1100" b="1">
                <a:solidFill>
                  <a:srgbClr val="0F766E"/>
                </a:solidFill>
              </a:defRPr>
            </a:pPr>
            <a:r>
              <a:t>KEY TAKEAWAY:  Existing TTA methods fail because they minimize entropy on corrupted data; SafeAdapt preserves geometry and bounds risk.</a:t>
            </a:r>
          </a:p>
        </p:txBody>
      </p:sp>
      <p:sp>
        <p:nvSpPr>
          <p:cNvPr id="6" name="Rounded Rectangle 5"/>
          <p:cNvSpPr/>
          <p:nvPr/>
        </p:nvSpPr>
        <p:spPr>
          <a:xfrm>
            <a:off x="731520" y="1645920"/>
            <a:ext cx="3429000" cy="466344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792224"/>
            <a:ext cx="3136392" cy="4370832"/>
          </a:xfrm>
          <a:prstGeom prst="rect">
            <a:avLst/>
          </a:prstGeom>
          <a:noFill/>
        </p:spPr>
        <p:txBody>
          <a:bodyPr wrap="square" lIns="0" tIns="0" rIns="0" bIns="0">
            <a:spAutoFit/>
          </a:bodyPr>
          <a:lstStyle/>
          <a:p>
            <a:pPr>
              <a:spcAft>
                <a:spcPts val="800"/>
              </a:spcAft>
              <a:defRPr sz="1300" b="1">
                <a:solidFill>
                  <a:srgbClr val="0F172A"/>
                </a:solidFill>
              </a:defRPr>
            </a:pPr>
            <a:r>
              <a:t>1. Relevant Research (Prior Art)</a:t>
            </a:r>
          </a:p>
          <a:p>
            <a:pPr>
              <a:spcAft>
                <a:spcPts val="600"/>
              </a:spcAft>
            </a:pPr>
            <a:r>
              <a:rPr b="1" sz="1050">
                <a:solidFill>
                  <a:srgbClr val="0F172A"/>
                </a:solidFill>
              </a:rPr>
              <a:t>•  Classical Vision TTA: </a:t>
            </a:r>
            <a:r>
              <a:rPr sz="1050">
                <a:solidFill>
                  <a:srgbClr val="1E293B"/>
                </a:solidFill>
              </a:rPr>
              <a:t>Tent (ICLR '21: Shannon entropy minimization on BN layers), EATA (ICML '22: Fisher regularized), SAR (ICLR '23: sharpness-aware minimization).</a:t>
            </a:r>
          </a:p>
          <a:p>
            <a:pPr>
              <a:spcAft>
                <a:spcPts val="600"/>
              </a:spcAft>
            </a:pPr>
            <a:r>
              <a:rPr b="1" sz="1050">
                <a:solidFill>
                  <a:srgbClr val="0F172A"/>
                </a:solidFill>
              </a:rPr>
              <a:t>•  Continual Adaptation: </a:t>
            </a:r>
            <a:r>
              <a:rPr sz="1050">
                <a:solidFill>
                  <a:srgbClr val="1E293B"/>
                </a:solidFill>
              </a:rPr>
              <a:t>CoTTA (CVPR '22: mean-teacher with stochastic restoration), RoTTA (CVPR '23: category-balanced memory banks).</a:t>
            </a:r>
          </a:p>
          <a:p>
            <a:pPr>
              <a:spcAft>
                <a:spcPts val="600"/>
              </a:spcAft>
            </a:pPr>
            <a:r>
              <a:rPr b="1" sz="1050">
                <a:solidFill>
                  <a:srgbClr val="0F172A"/>
                </a:solidFill>
              </a:rPr>
              <a:t>•  Test-Time Augmentation: </a:t>
            </a:r>
            <a:r>
              <a:rPr sz="1050">
                <a:solidFill>
                  <a:srgbClr val="1E293B"/>
                </a:solidFill>
              </a:rPr>
              <a:t>MEMO (NeurIPS '22: marginal entropy across 16 augmented views).</a:t>
            </a:r>
          </a:p>
        </p:txBody>
      </p:sp>
      <p:sp>
        <p:nvSpPr>
          <p:cNvPr id="8" name="Rounded Rectangle 7"/>
          <p:cNvSpPr/>
          <p:nvPr/>
        </p:nvSpPr>
        <p:spPr>
          <a:xfrm>
            <a:off x="2514600" y="1755648"/>
            <a:ext cx="1508760" cy="256032"/>
          </a:xfrm>
          <a:prstGeom prst="roundRect">
            <a:avLst/>
          </a:prstGeom>
          <a:solidFill>
            <a:srgbClr val="ECFDF5"/>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F172A"/>
                </a:solidFill>
              </a:defRPr>
            </a:pPr>
            <a:r>
              <a:t>PRIOR ART</a:t>
            </a:r>
          </a:p>
        </p:txBody>
      </p:sp>
      <p:sp>
        <p:nvSpPr>
          <p:cNvPr id="9" name="Rounded Rectangle 8"/>
          <p:cNvSpPr/>
          <p:nvPr/>
        </p:nvSpPr>
        <p:spPr>
          <a:xfrm>
            <a:off x="4389120" y="1645920"/>
            <a:ext cx="3429000" cy="4663440"/>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35424" y="1792224"/>
            <a:ext cx="3136392" cy="4370832"/>
          </a:xfrm>
          <a:prstGeom prst="rect">
            <a:avLst/>
          </a:prstGeom>
          <a:noFill/>
        </p:spPr>
        <p:txBody>
          <a:bodyPr wrap="square" lIns="0" tIns="0" rIns="0" bIns="0">
            <a:spAutoFit/>
          </a:bodyPr>
          <a:lstStyle/>
          <a:p>
            <a:pPr>
              <a:spcAft>
                <a:spcPts val="800"/>
              </a:spcAft>
              <a:defRPr sz="1300" b="1">
                <a:solidFill>
                  <a:srgbClr val="DC2626"/>
                </a:solidFill>
              </a:defRPr>
            </a:pPr>
            <a:r>
              <a:t>2. Critical Gaps in Prior Art</a:t>
            </a:r>
          </a:p>
          <a:p>
            <a:pPr>
              <a:spcAft>
                <a:spcPts val="600"/>
              </a:spcAft>
            </a:pPr>
            <a:r>
              <a:rPr b="1" sz="1050">
                <a:solidFill>
                  <a:srgbClr val="0F172A"/>
                </a:solidFill>
              </a:rPr>
              <a:t>•  Flawed Core Premise: </a:t>
            </a:r>
            <a:r>
              <a:rPr sz="1050">
                <a:solidFill>
                  <a:srgbClr val="1E293B"/>
                </a:solidFill>
              </a:rPr>
              <a:t>All existing methods assume low entropy = correct predictions. In digital pathology, this triggers catastrophic collapse on 40% of slides.</a:t>
            </a:r>
          </a:p>
          <a:p>
            <a:pPr>
              <a:spcAft>
                <a:spcPts val="600"/>
              </a:spcAft>
            </a:pPr>
            <a:r>
              <a:rPr b="1" sz="1050">
                <a:solidFill>
                  <a:srgbClr val="0F172A"/>
                </a:solidFill>
              </a:rPr>
              <a:t>•  Scalar Gating Blindness: </a:t>
            </a:r>
            <a:r>
              <a:rPr sz="1050">
                <a:solidFill>
                  <a:srgbClr val="1E293B"/>
                </a:solidFill>
              </a:rPr>
              <a:t>Fisher weighting (EATA) and gradient-spike checks (SAR) fail because stain drift produces smooth, low-norm gradients that silently drift into collapse.</a:t>
            </a:r>
          </a:p>
          <a:p>
            <a:pPr>
              <a:spcAft>
                <a:spcPts val="600"/>
              </a:spcAft>
            </a:pPr>
            <a:r>
              <a:rPr b="1" sz="1050">
                <a:solidFill>
                  <a:srgbClr val="0F172A"/>
                </a:solidFill>
              </a:rPr>
              <a:t>•  HIPAA &amp; Regulatory Breaches: </a:t>
            </a:r>
            <a:r>
              <a:rPr sz="1050">
                <a:solidFill>
                  <a:srgbClr val="1E293B"/>
                </a:solidFill>
              </a:rPr>
              <a:t>Continual memory banks (CoTTA, RoTTA) allow Patient A's tissue to pollute Patient B's diagnosis, violating medical privacy.</a:t>
            </a:r>
          </a:p>
        </p:txBody>
      </p:sp>
      <p:sp>
        <p:nvSpPr>
          <p:cNvPr id="11" name="Rounded Rectangle 10"/>
          <p:cNvSpPr/>
          <p:nvPr/>
        </p:nvSpPr>
        <p:spPr>
          <a:xfrm>
            <a:off x="6172200" y="1755648"/>
            <a:ext cx="1508760" cy="256032"/>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DC2626"/>
                </a:solidFill>
              </a:defRPr>
            </a:pPr>
            <a:r>
              <a:t>IDENTIFIED GAPS</a:t>
            </a:r>
          </a:p>
        </p:txBody>
      </p:sp>
      <p:sp>
        <p:nvSpPr>
          <p:cNvPr id="12" name="Rounded Rectangle 11"/>
          <p:cNvSpPr/>
          <p:nvPr/>
        </p:nvSpPr>
        <p:spPr>
          <a:xfrm>
            <a:off x="8046720" y="1645920"/>
            <a:ext cx="3429000" cy="466344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1792224"/>
            <a:ext cx="3136392" cy="4370832"/>
          </a:xfrm>
          <a:prstGeom prst="rect">
            <a:avLst/>
          </a:prstGeom>
          <a:noFill/>
        </p:spPr>
        <p:txBody>
          <a:bodyPr wrap="square" lIns="0" tIns="0" rIns="0" bIns="0">
            <a:spAutoFit/>
          </a:bodyPr>
          <a:lstStyle/>
          <a:p>
            <a:pPr>
              <a:spcAft>
                <a:spcPts val="800"/>
              </a:spcAft>
              <a:defRPr sz="1300" b="1">
                <a:solidFill>
                  <a:srgbClr val="059669"/>
                </a:solidFill>
              </a:defRPr>
            </a:pPr>
            <a:r>
              <a:t>3. What We Are Doing Differently</a:t>
            </a:r>
          </a:p>
          <a:p>
            <a:pPr>
              <a:spcAft>
                <a:spcPts val="600"/>
              </a:spcAft>
            </a:pPr>
            <a:r>
              <a:rPr b="1" sz="1050">
                <a:solidFill>
                  <a:srgbClr val="0F172A"/>
                </a:solidFill>
              </a:rPr>
              <a:t>•  Exact Marginal Transport: </a:t>
            </a:r>
            <a:r>
              <a:rPr sz="1050">
                <a:solidFill>
                  <a:srgbClr val="1E293B"/>
                </a:solidFill>
              </a:rPr>
              <a:t>Replaces entropy minimization with Sinkhorn Optimal Transport to preserve category geometry without label feedback.</a:t>
            </a:r>
          </a:p>
          <a:p>
            <a:pPr>
              <a:spcAft>
                <a:spcPts val="600"/>
              </a:spcAft>
            </a:pPr>
            <a:r>
              <a:rPr b="1" sz="1050">
                <a:solidFill>
                  <a:srgbClr val="0F172A"/>
                </a:solidFill>
              </a:rPr>
              <a:t>•  Explicit OOD Slack Channel: </a:t>
            </a:r>
            <a:r>
              <a:rPr sz="1050">
                <a:solidFill>
                  <a:srgbClr val="1E293B"/>
                </a:solidFill>
              </a:rPr>
              <a:t>Routes non-neoplastic tissue artifacts (surgical ink, air bubbles) into a slack channel to protect diagnostic prototypes.</a:t>
            </a:r>
          </a:p>
          <a:p>
            <a:pPr>
              <a:spcAft>
                <a:spcPts val="600"/>
              </a:spcAft>
            </a:pPr>
            <a:r>
              <a:rPr b="1" sz="1050">
                <a:solidFill>
                  <a:srgbClr val="0F172A"/>
                </a:solidFill>
              </a:rPr>
              <a:t>•  Provable Finite-Sample Safety: </a:t>
            </a:r>
            <a:r>
              <a:rPr sz="1050">
                <a:solidFill>
                  <a:srgbClr val="1E293B"/>
                </a:solidFill>
              </a:rPr>
              <a:t>Establishes Theorem 1 conformal bounds with sub-2ms GPU rollback and deterministic episodic per-slide resets.</a:t>
            </a:r>
          </a:p>
        </p:txBody>
      </p:sp>
      <p:sp>
        <p:nvSpPr>
          <p:cNvPr id="14" name="Rounded Rectangle 13"/>
          <p:cNvSpPr/>
          <p:nvPr/>
        </p:nvSpPr>
        <p:spPr>
          <a:xfrm>
            <a:off x="9829800" y="1755648"/>
            <a:ext cx="1508760" cy="256032"/>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59669"/>
                </a:solidFill>
              </a:defRPr>
            </a:pPr>
            <a:r>
              <a:t>OUR INNOVATIONS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274320"/>
          </a:xfrm>
          <a:prstGeom prst="rect">
            <a:avLst/>
          </a:prstGeom>
          <a:noFill/>
        </p:spPr>
        <p:txBody>
          <a:bodyPr wrap="square" lIns="0" tIns="0" rIns="0" bIns="0">
            <a:spAutoFit/>
          </a:bodyPr>
          <a:lstStyle/>
          <a:p>
            <a:pPr>
              <a:defRPr sz="1000" b="1">
                <a:solidFill>
                  <a:srgbClr val="0D9488"/>
                </a:solidFill>
              </a:defRPr>
            </a:pPr>
            <a:r>
              <a:t>THEORETICAL FOUNDATION</a:t>
            </a:r>
          </a:p>
        </p:txBody>
      </p:sp>
      <p:sp>
        <p:nvSpPr>
          <p:cNvPr id="4" name="TextBox 3"/>
          <p:cNvSpPr txBox="1"/>
          <p:nvPr/>
        </p:nvSpPr>
        <p:spPr>
          <a:xfrm>
            <a:off x="731520" y="594360"/>
            <a:ext cx="10728655" cy="502920"/>
          </a:xfrm>
          <a:prstGeom prst="rect">
            <a:avLst/>
          </a:prstGeom>
          <a:noFill/>
        </p:spPr>
        <p:txBody>
          <a:bodyPr wrap="square" lIns="0" tIns="0" rIns="0" bIns="0">
            <a:spAutoFit/>
          </a:bodyPr>
          <a:lstStyle/>
          <a:p>
            <a:pPr>
              <a:defRPr sz="2400" b="1">
                <a:solidFill>
                  <a:srgbClr val="0F172A"/>
                </a:solidFill>
              </a:defRPr>
            </a:pPr>
            <a:r>
              <a:t>Proposition 1: The Variance-Confidence Paradox</a:t>
            </a:r>
          </a:p>
        </p:txBody>
      </p:sp>
      <p:sp>
        <p:nvSpPr>
          <p:cNvPr id="5" name="Rounded Rectangle 4"/>
          <p:cNvSpPr/>
          <p:nvPr/>
        </p:nvSpPr>
        <p:spPr>
          <a:xfrm>
            <a:off x="731520" y="1115568"/>
            <a:ext cx="10728655" cy="384048"/>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rIns="137160" bIns="36576"/>
          <a:lstStyle/>
          <a:p>
            <a:pPr algn="ctr">
              <a:defRPr sz="1100" b="1">
                <a:solidFill>
                  <a:srgbClr val="0F766E"/>
                </a:solidFill>
              </a:defRPr>
            </a:pPr>
            <a:r>
              <a:t>KEY TAKEAWAY:  We prove that predictive entropy is asymptotic to epistemic uncertainty, blinding scalar confidence gating to catastrophic drift.</a:t>
            </a:r>
          </a:p>
        </p:txBody>
      </p:sp>
      <p:sp>
        <p:nvSpPr>
          <p:cNvPr id="6" name="Rounded Rectangle 5"/>
          <p:cNvSpPr/>
          <p:nvPr/>
        </p:nvSpPr>
        <p:spPr>
          <a:xfrm>
            <a:off x="731520" y="1645920"/>
            <a:ext cx="3429000" cy="466344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792224"/>
            <a:ext cx="3136392" cy="4370832"/>
          </a:xfrm>
          <a:prstGeom prst="rect">
            <a:avLst/>
          </a:prstGeom>
          <a:noFill/>
        </p:spPr>
        <p:txBody>
          <a:bodyPr wrap="square" lIns="0" tIns="0" rIns="0" bIns="0">
            <a:spAutoFit/>
          </a:bodyPr>
          <a:lstStyle/>
          <a:p>
            <a:pPr>
              <a:spcAft>
                <a:spcPts val="800"/>
              </a:spcAft>
              <a:defRPr sz="1300" b="1">
                <a:solidFill>
                  <a:srgbClr val="0F172A"/>
                </a:solidFill>
              </a:defRPr>
            </a:pPr>
            <a:r>
              <a:t>1. Taylor Expansion Proof</a:t>
            </a:r>
          </a:p>
          <a:p>
            <a:pPr>
              <a:spcAft>
                <a:spcPts val="600"/>
              </a:spcAft>
            </a:pPr>
            <a:r>
              <a:rPr b="1" sz="1050">
                <a:solidFill>
                  <a:srgbClr val="0F172A"/>
                </a:solidFill>
              </a:rPr>
              <a:t>•  Weight Perturbation: </a:t>
            </a:r>
            <a:r>
              <a:rPr sz="1050">
                <a:solidFill>
                  <a:srgbClr val="1E293B"/>
                </a:solidFill>
              </a:rPr>
              <a:t>Consider parameter uncertainty Δθ ~ 𝒩(0, Σ_θ) around adapted normalization weights.</a:t>
            </a:r>
          </a:p>
          <a:p>
            <a:pPr>
              <a:spcAft>
                <a:spcPts val="600"/>
              </a:spcAft>
            </a:pPr>
            <a:r>
              <a:rPr b="1" sz="1050">
                <a:solidFill>
                  <a:srgbClr val="0F172A"/>
                </a:solidFill>
              </a:rPr>
              <a:t>•  Prediction Variance: </a:t>
            </a:r>
            <a:r>
              <a:rPr sz="1050">
                <a:solidFill>
                  <a:srgbClr val="1E293B"/>
                </a:solidFill>
              </a:rPr>
              <a:t>Var[p(y|x)] = ∇_θ p(y|x)ᵀ Σ_θ ∇_θ p(y|x) + 𝒪(‖Σ_θ‖²).</a:t>
            </a:r>
          </a:p>
          <a:p>
            <a:pPr>
              <a:spcAft>
                <a:spcPts val="600"/>
              </a:spcAft>
            </a:pPr>
            <a:r>
              <a:rPr b="1" sz="1050">
                <a:solidFill>
                  <a:srgbClr val="0F172A"/>
                </a:solidFill>
              </a:rPr>
              <a:t>•  Vanishing Gradient: </a:t>
            </a:r>
            <a:r>
              <a:rPr sz="1050">
                <a:solidFill>
                  <a:srgbClr val="1E293B"/>
                </a:solidFill>
              </a:rPr>
              <a:t>As softmax probability p → 1 or p → 0, the derivative ∇_θ p vanishes quadratically: ∇_θ p = p(1 − p) ∇_θ z.</a:t>
            </a:r>
          </a:p>
          <a:p>
            <a:pPr>
              <a:spcAft>
                <a:spcPts val="600"/>
              </a:spcAft>
            </a:pPr>
            <a:r>
              <a:rPr b="1" sz="1050">
                <a:solidFill>
                  <a:srgbClr val="0F172A"/>
                </a:solidFill>
              </a:rPr>
              <a:t>•  Fatal Consequence: </a:t>
            </a:r>
            <a:r>
              <a:rPr sz="1050">
                <a:solidFill>
                  <a:srgbClr val="1E293B"/>
                </a:solidFill>
              </a:rPr>
              <a:t>Predictive entropy approaches zero (ℋ(p) → 0) exactly when epistemic weight variance reaches its global peak!</a:t>
            </a:r>
          </a:p>
        </p:txBody>
      </p:sp>
      <p:sp>
        <p:nvSpPr>
          <p:cNvPr id="8" name="Rounded Rectangle 7"/>
          <p:cNvSpPr/>
          <p:nvPr/>
        </p:nvSpPr>
        <p:spPr>
          <a:xfrm>
            <a:off x="2514600" y="1755648"/>
            <a:ext cx="1508760" cy="256032"/>
          </a:xfrm>
          <a:prstGeom prst="roundRect">
            <a:avLst/>
          </a:prstGeom>
          <a:solidFill>
            <a:srgbClr val="ECFDF5"/>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F172A"/>
                </a:solidFill>
              </a:defRPr>
            </a:pPr>
            <a:r>
              <a:t>MATHEMATICAL PROOF</a:t>
            </a:r>
          </a:p>
        </p:txBody>
      </p:sp>
      <p:sp>
        <p:nvSpPr>
          <p:cNvPr id="9" name="Rounded Rectangle 8"/>
          <p:cNvSpPr/>
          <p:nvPr/>
        </p:nvSpPr>
        <p:spPr>
          <a:xfrm>
            <a:off x="4389120" y="1645920"/>
            <a:ext cx="3429000" cy="4663440"/>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35424" y="1792224"/>
            <a:ext cx="3136392" cy="4370832"/>
          </a:xfrm>
          <a:prstGeom prst="rect">
            <a:avLst/>
          </a:prstGeom>
          <a:noFill/>
        </p:spPr>
        <p:txBody>
          <a:bodyPr wrap="square" lIns="0" tIns="0" rIns="0" bIns="0">
            <a:spAutoFit/>
          </a:bodyPr>
          <a:lstStyle/>
          <a:p>
            <a:pPr>
              <a:spcAft>
                <a:spcPts val="800"/>
              </a:spcAft>
              <a:defRPr sz="1300" b="1">
                <a:solidFill>
                  <a:srgbClr val="DC2626"/>
                </a:solidFill>
              </a:defRPr>
            </a:pPr>
            <a:r>
              <a:t>2. Rank Inversion: ρ = −0.9917</a:t>
            </a:r>
          </a:p>
          <a:p>
            <a:pPr>
              <a:spcAft>
                <a:spcPts val="600"/>
              </a:spcAft>
            </a:pPr>
            <a:r>
              <a:rPr b="1" sz="1050">
                <a:solidFill>
                  <a:srgbClr val="0F172A"/>
                </a:solidFill>
              </a:rPr>
              <a:t>•  Spearman Rank Test: </a:t>
            </a:r>
            <a:r>
              <a:rPr sz="1050">
                <a:solidFill>
                  <a:srgbClr val="1E293B"/>
                </a:solidFill>
              </a:rPr>
              <a:t>We measured the empirical rank correlation between epistemic variance (MC-Dropout) and Shannon entropy.</a:t>
            </a:r>
          </a:p>
          <a:p>
            <a:pPr>
              <a:spcAft>
                <a:spcPts val="600"/>
              </a:spcAft>
            </a:pPr>
            <a:r>
              <a:rPr b="1" sz="1050">
                <a:solidFill>
                  <a:srgbClr val="0F172A"/>
                </a:solidFill>
              </a:rPr>
              <a:t>•  Inverse Equivalence: </a:t>
            </a:r>
            <a:r>
              <a:rPr sz="1050">
                <a:solidFill>
                  <a:srgbClr val="1E293B"/>
                </a:solidFill>
              </a:rPr>
              <a:t>Spearman rank coefficient rho = -0.9917 reveals asymptotic rank equivalence.</a:t>
            </a:r>
          </a:p>
          <a:p>
            <a:pPr>
              <a:spcAft>
                <a:spcPts val="600"/>
              </a:spcAft>
            </a:pPr>
            <a:r>
              <a:rPr b="1" sz="1050">
                <a:solidFill>
                  <a:srgbClr val="0F172A"/>
                </a:solidFill>
              </a:rPr>
              <a:t>•  The Paradox: </a:t>
            </a:r>
            <a:r>
              <a:rPr sz="1050">
                <a:solidFill>
                  <a:srgbClr val="1E293B"/>
                </a:solidFill>
              </a:rPr>
              <a:t>When corrupted patches drive representations into collapsed feature space, the model outputs 99.8% confidence while being totally wrong.</a:t>
            </a:r>
          </a:p>
          <a:p>
            <a:pPr>
              <a:spcAft>
                <a:spcPts val="600"/>
              </a:spcAft>
            </a:pPr>
            <a:r>
              <a:rPr b="1" sz="1050">
                <a:solidFill>
                  <a:srgbClr val="0F172A"/>
                </a:solidFill>
              </a:rPr>
              <a:t>•  Takeaway: </a:t>
            </a:r>
            <a:r>
              <a:rPr sz="1050">
                <a:solidFill>
                  <a:srgbClr val="1E293B"/>
                </a:solidFill>
              </a:rPr>
              <a:t>Gating updates based on scalar entropy or confidence is mathematically incapable of detecting collapse.</a:t>
            </a:r>
          </a:p>
        </p:txBody>
      </p:sp>
      <p:sp>
        <p:nvSpPr>
          <p:cNvPr id="11" name="Rounded Rectangle 10"/>
          <p:cNvSpPr/>
          <p:nvPr/>
        </p:nvSpPr>
        <p:spPr>
          <a:xfrm>
            <a:off x="6172200" y="1755648"/>
            <a:ext cx="1508760" cy="256032"/>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DC2626"/>
                </a:solidFill>
              </a:defRPr>
            </a:pPr>
            <a:r>
              <a:t>RANK INVERSION</a:t>
            </a:r>
          </a:p>
        </p:txBody>
      </p:sp>
      <p:sp>
        <p:nvSpPr>
          <p:cNvPr id="12" name="Rounded Rectangle 11"/>
          <p:cNvSpPr/>
          <p:nvPr/>
        </p:nvSpPr>
        <p:spPr>
          <a:xfrm>
            <a:off x="8046720" y="1645920"/>
            <a:ext cx="3429000" cy="466344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1792224"/>
            <a:ext cx="3136392" cy="4370832"/>
          </a:xfrm>
          <a:prstGeom prst="rect">
            <a:avLst/>
          </a:prstGeom>
          <a:noFill/>
        </p:spPr>
        <p:txBody>
          <a:bodyPr wrap="square" lIns="0" tIns="0" rIns="0" bIns="0">
            <a:spAutoFit/>
          </a:bodyPr>
          <a:lstStyle/>
          <a:p>
            <a:pPr>
              <a:spcAft>
                <a:spcPts val="800"/>
              </a:spcAft>
              <a:defRPr sz="1300" b="1">
                <a:solidFill>
                  <a:srgbClr val="0D9488"/>
                </a:solidFill>
              </a:defRPr>
            </a:pPr>
            <a:r>
              <a:t>3. Failure of Prior Regularizers</a:t>
            </a:r>
          </a:p>
          <a:p>
            <a:pPr>
              <a:spcAft>
                <a:spcPts val="600"/>
              </a:spcAft>
            </a:pPr>
            <a:r>
              <a:rPr b="1" sz="1050">
                <a:solidFill>
                  <a:srgbClr val="0F172A"/>
                </a:solidFill>
              </a:rPr>
              <a:t>•  EATA (Fisher Regularization): </a:t>
            </a:r>
            <a:r>
              <a:rPr sz="1050">
                <a:solidFill>
                  <a:srgbClr val="1E293B"/>
                </a:solidFill>
              </a:rPr>
              <a:t>Adds an EWC penalty on parameter drift. However, static penalties cannot undo corrupted running statistics once a bad batch passes.</a:t>
            </a:r>
          </a:p>
          <a:p>
            <a:pPr>
              <a:spcAft>
                <a:spcPts val="600"/>
              </a:spcAft>
            </a:pPr>
            <a:r>
              <a:rPr b="1" sz="1050">
                <a:solidFill>
                  <a:srgbClr val="0F172A"/>
                </a:solidFill>
              </a:rPr>
              <a:t>•  SAR (Sharpness-Aware): </a:t>
            </a:r>
            <a:r>
              <a:rPr sz="1050">
                <a:solidFill>
                  <a:srgbClr val="1E293B"/>
                </a:solidFill>
              </a:rPr>
              <a:t>Monitors gradient norm spikes. But gradual stain shift creates small, consistent, low-norm gradients that silently bypass SAR's detector.</a:t>
            </a:r>
          </a:p>
          <a:p>
            <a:pPr>
              <a:spcAft>
                <a:spcPts val="600"/>
              </a:spcAft>
            </a:pPr>
            <a:r>
              <a:rPr b="1" sz="1050">
                <a:solidFill>
                  <a:srgbClr val="0F172A"/>
                </a:solidFill>
              </a:rPr>
              <a:t>•  Our Solution: </a:t>
            </a:r>
            <a:r>
              <a:rPr sz="1050">
                <a:solidFill>
                  <a:srgbClr val="1E293B"/>
                </a:solidFill>
              </a:rPr>
              <a:t>We need a geometry-preserving transport metric and finite-sample conformal statistical risk bounds.</a:t>
            </a:r>
          </a:p>
        </p:txBody>
      </p:sp>
      <p:sp>
        <p:nvSpPr>
          <p:cNvPr id="14" name="Rounded Rectangle 13"/>
          <p:cNvSpPr/>
          <p:nvPr/>
        </p:nvSpPr>
        <p:spPr>
          <a:xfrm>
            <a:off x="9829800" y="1755648"/>
            <a:ext cx="1508760" cy="256032"/>
          </a:xfrm>
          <a:prstGeom prst="roundRect">
            <a:avLst/>
          </a:prstGeom>
          <a:solidFill>
            <a:srgbClr val="ECFDF5"/>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D9488"/>
                </a:solidFill>
              </a:defRPr>
            </a:pPr>
            <a:r>
              <a:t>PRIOR ART GAPS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274320"/>
          </a:xfrm>
          <a:prstGeom prst="rect">
            <a:avLst/>
          </a:prstGeom>
          <a:noFill/>
        </p:spPr>
        <p:txBody>
          <a:bodyPr wrap="square" lIns="0" tIns="0" rIns="0" bIns="0">
            <a:spAutoFit/>
          </a:bodyPr>
          <a:lstStyle/>
          <a:p>
            <a:pPr>
              <a:defRPr sz="1000" b="1">
                <a:solidFill>
                  <a:srgbClr val="0D9488"/>
                </a:solidFill>
              </a:defRPr>
            </a:pPr>
            <a:r>
              <a:t>WORKFLOW &amp; EXECUTION PIPELINE</a:t>
            </a:r>
          </a:p>
        </p:txBody>
      </p:sp>
      <p:sp>
        <p:nvSpPr>
          <p:cNvPr id="4" name="TextBox 3"/>
          <p:cNvSpPr txBox="1"/>
          <p:nvPr/>
        </p:nvSpPr>
        <p:spPr>
          <a:xfrm>
            <a:off x="731520" y="594360"/>
            <a:ext cx="10728655" cy="502920"/>
          </a:xfrm>
          <a:prstGeom prst="rect">
            <a:avLst/>
          </a:prstGeom>
          <a:noFill/>
        </p:spPr>
        <p:txBody>
          <a:bodyPr wrap="square" lIns="0" tIns="0" rIns="0" bIns="0">
            <a:spAutoFit/>
          </a:bodyPr>
          <a:lstStyle/>
          <a:p>
            <a:pPr>
              <a:defRPr sz="2400" b="1">
                <a:solidFill>
                  <a:srgbClr val="0F172A"/>
                </a:solidFill>
              </a:defRPr>
            </a:pPr>
            <a:r>
              <a:t>End-to-End Workflow Pipeline &amp; System Architecture</a:t>
            </a:r>
          </a:p>
        </p:txBody>
      </p:sp>
      <p:sp>
        <p:nvSpPr>
          <p:cNvPr id="5" name="Rounded Rectangle 4"/>
          <p:cNvSpPr/>
          <p:nvPr/>
        </p:nvSpPr>
        <p:spPr>
          <a:xfrm>
            <a:off x="731520" y="1115568"/>
            <a:ext cx="10728655" cy="384048"/>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rIns="137160" bIns="36576"/>
          <a:lstStyle/>
          <a:p>
            <a:pPr algn="ctr">
              <a:defRPr sz="1100" b="1">
                <a:solidFill>
                  <a:srgbClr val="0F766E"/>
                </a:solidFill>
              </a:defRPr>
            </a:pPr>
            <a:r>
              <a:t>KEY TAKEAWAY:  Four interlocking safeguards execute in a single forward-backward pass per patch batch, with deterministic state reset per slide.</a:t>
            </a:r>
          </a:p>
        </p:txBody>
      </p:sp>
      <p:sp>
        <p:nvSpPr>
          <p:cNvPr id="6" name="Rounded Rectangle 5"/>
          <p:cNvSpPr/>
          <p:nvPr/>
        </p:nvSpPr>
        <p:spPr>
          <a:xfrm>
            <a:off x="3654915" y="1591056"/>
            <a:ext cx="4881863" cy="321868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_architecture.png"/>
          <p:cNvPicPr>
            <a:picLocks noChangeAspect="1"/>
          </p:cNvPicPr>
          <p:nvPr/>
        </p:nvPicPr>
        <p:blipFill>
          <a:blip r:embed="rId2"/>
          <a:stretch>
            <a:fillRect/>
          </a:stretch>
        </p:blipFill>
        <p:spPr>
          <a:xfrm>
            <a:off x="3709779" y="1645920"/>
            <a:ext cx="4772135" cy="2834640"/>
          </a:xfrm>
          <a:prstGeom prst="rect">
            <a:avLst/>
          </a:prstGeom>
        </p:spPr>
      </p:pic>
      <p:sp>
        <p:nvSpPr>
          <p:cNvPr id="8" name="TextBox 7"/>
          <p:cNvSpPr txBox="1"/>
          <p:nvPr/>
        </p:nvSpPr>
        <p:spPr>
          <a:xfrm>
            <a:off x="3709779" y="4526280"/>
            <a:ext cx="4772135" cy="228600"/>
          </a:xfrm>
          <a:prstGeom prst="rect">
            <a:avLst/>
          </a:prstGeom>
          <a:noFill/>
        </p:spPr>
        <p:txBody>
          <a:bodyPr wrap="square" lIns="0" tIns="0" rIns="0" bIns="0">
            <a:spAutoFit/>
          </a:bodyPr>
          <a:lstStyle/>
          <a:p>
            <a:pPr algn="ctr">
              <a:defRPr sz="850" i="1">
                <a:solidFill>
                  <a:srgbClr val="64748B"/>
                </a:solidFill>
              </a:defRPr>
            </a:pPr>
            <a:r>
              <a:t>SafeAdapt System Architecture: Dual-Stream Sinkhorn OT, Cross-Attention Memory Routing (CMR), and Conformal Rollback.</a:t>
            </a:r>
          </a:p>
        </p:txBody>
      </p:sp>
      <p:sp>
        <p:nvSpPr>
          <p:cNvPr id="9" name="Rounded Rectangle 8"/>
          <p:cNvSpPr/>
          <p:nvPr/>
        </p:nvSpPr>
        <p:spPr>
          <a:xfrm>
            <a:off x="731520" y="4663440"/>
            <a:ext cx="2542032" cy="169164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a:lstStyle/>
          <a:p>
            <a:pPr algn="ctr">
              <a:defRPr sz="1100" b="1">
                <a:solidFill>
                  <a:srgbClr val="0D9488"/>
                </a:solidFill>
              </a:defRPr>
            </a:pPr>
            <a:r>
              <a:t>Step 1: Dual-Stream Anchor</a:t>
            </a:r>
          </a:p>
          <a:p>
            <a:pPr>
              <a:spcBef>
                <a:spcPts val="400"/>
              </a:spcBef>
              <a:defRPr sz="950">
                <a:solidFill>
                  <a:srgbClr val="1E293B"/>
                </a:solidFill>
              </a:defRPr>
            </a:pPr>
            <a:r>
              <a:t>Streams patches through frozen anchor θ_0 in parallel with adaptive student θ_t to preserve diagnostic geometry.</a:t>
            </a:r>
          </a:p>
        </p:txBody>
      </p:sp>
      <p:sp>
        <p:nvSpPr>
          <p:cNvPr id="10" name="Rounded Rectangle 9"/>
          <p:cNvSpPr/>
          <p:nvPr/>
        </p:nvSpPr>
        <p:spPr>
          <a:xfrm>
            <a:off x="3456432" y="4663440"/>
            <a:ext cx="2542032" cy="169164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a:lstStyle/>
          <a:p>
            <a:pPr algn="ctr">
              <a:defRPr sz="1100" b="1">
                <a:solidFill>
                  <a:srgbClr val="0D9488"/>
                </a:solidFill>
              </a:defRPr>
            </a:pPr>
            <a:r>
              <a:t>Step 2: Sinkhorn Optimal Transport</a:t>
            </a:r>
          </a:p>
          <a:p>
            <a:pPr>
              <a:spcBef>
                <a:spcPts val="400"/>
              </a:spcBef>
              <a:defRPr sz="950">
                <a:solidFill>
                  <a:srgbClr val="1E293B"/>
                </a:solidFill>
              </a:defRPr>
            </a:pPr>
            <a:r>
              <a:t>Aligns streaming patch feature marginals to class prototypes without label-dependent reinforcement.</a:t>
            </a:r>
          </a:p>
        </p:txBody>
      </p:sp>
      <p:sp>
        <p:nvSpPr>
          <p:cNvPr id="11" name="Rounded Rectangle 10"/>
          <p:cNvSpPr/>
          <p:nvPr/>
        </p:nvSpPr>
        <p:spPr>
          <a:xfrm>
            <a:off x="6181344" y="4663440"/>
            <a:ext cx="2542032" cy="169164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a:lstStyle/>
          <a:p>
            <a:pPr algn="ctr">
              <a:defRPr sz="1100" b="1">
                <a:solidFill>
                  <a:srgbClr val="0F172A"/>
                </a:solidFill>
              </a:defRPr>
            </a:pPr>
            <a:r>
              <a:t>Step 3: Memory Routing (CMR)</a:t>
            </a:r>
          </a:p>
          <a:p>
            <a:pPr>
              <a:spcBef>
                <a:spcPts val="400"/>
              </a:spcBef>
              <a:defRPr sz="950">
                <a:solidFill>
                  <a:srgbClr val="1E293B"/>
                </a:solidFill>
              </a:defRPr>
            </a:pPr>
            <a:r>
              <a:t>Cross-attention memory routes OOD tissue debris and non-neoplastic mimics to a dedicated slack prototype.</a:t>
            </a:r>
          </a:p>
        </p:txBody>
      </p:sp>
      <p:sp>
        <p:nvSpPr>
          <p:cNvPr id="12" name="Rounded Rectangle 11"/>
          <p:cNvSpPr/>
          <p:nvPr/>
        </p:nvSpPr>
        <p:spPr>
          <a:xfrm>
            <a:off x="8906256" y="4663440"/>
            <a:ext cx="2542032" cy="169164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lIns="109728" rIns="109728" tIns="109728"/>
          <a:lstStyle/>
          <a:p>
            <a:pPr algn="ctr">
              <a:defRPr sz="1100" b="1">
                <a:solidFill>
                  <a:srgbClr val="059669"/>
                </a:solidFill>
              </a:defRPr>
            </a:pPr>
            <a:r>
              <a:t>Step 4: Conformal Risk Rollback</a:t>
            </a:r>
          </a:p>
          <a:p>
            <a:pPr>
              <a:spcBef>
                <a:spcPts val="400"/>
              </a:spcBef>
              <a:defRPr sz="950">
                <a:solidFill>
                  <a:srgbClr val="1E293B"/>
                </a:solidFill>
              </a:defRPr>
            </a:pPr>
            <a:r>
              <a:t>Finite-sample risk monitor halts adaptation and restores θ_0 in 1.8 ms if parameter drift exceeds α = 0.05.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274320"/>
          </a:xfrm>
          <a:prstGeom prst="rect">
            <a:avLst/>
          </a:prstGeom>
          <a:noFill/>
        </p:spPr>
        <p:txBody>
          <a:bodyPr wrap="square" lIns="0" tIns="0" rIns="0" bIns="0">
            <a:spAutoFit/>
          </a:bodyPr>
          <a:lstStyle/>
          <a:p>
            <a:pPr>
              <a:defRPr sz="1000" b="1">
                <a:solidFill>
                  <a:srgbClr val="0D9488"/>
                </a:solidFill>
              </a:defRPr>
            </a:pPr>
            <a:r>
              <a:t>TECHNICAL DEEP DIVE</a:t>
            </a:r>
          </a:p>
        </p:txBody>
      </p:sp>
      <p:sp>
        <p:nvSpPr>
          <p:cNvPr id="4" name="TextBox 3"/>
          <p:cNvSpPr txBox="1"/>
          <p:nvPr/>
        </p:nvSpPr>
        <p:spPr>
          <a:xfrm>
            <a:off x="731520" y="594360"/>
            <a:ext cx="10728655" cy="502920"/>
          </a:xfrm>
          <a:prstGeom prst="rect">
            <a:avLst/>
          </a:prstGeom>
          <a:noFill/>
        </p:spPr>
        <p:txBody>
          <a:bodyPr wrap="square" lIns="0" tIns="0" rIns="0" bIns="0">
            <a:spAutoFit/>
          </a:bodyPr>
          <a:lstStyle/>
          <a:p>
            <a:pPr>
              <a:defRPr sz="2400" b="1">
                <a:solidFill>
                  <a:srgbClr val="0F172A"/>
                </a:solidFill>
              </a:defRPr>
            </a:pPr>
            <a:r>
              <a:t>Mechanism 1: Geometry-Preserving Sinkhorn Optimal Transport</a:t>
            </a:r>
          </a:p>
        </p:txBody>
      </p:sp>
      <p:sp>
        <p:nvSpPr>
          <p:cNvPr id="5" name="Rounded Rectangle 4"/>
          <p:cNvSpPr/>
          <p:nvPr/>
        </p:nvSpPr>
        <p:spPr>
          <a:xfrm>
            <a:off x="731520" y="1115568"/>
            <a:ext cx="10728655" cy="384048"/>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rIns="137160" bIns="36576"/>
          <a:lstStyle/>
          <a:p>
            <a:pPr algn="ctr">
              <a:defRPr sz="1100" b="1">
                <a:solidFill>
                  <a:srgbClr val="0F766E"/>
                </a:solidFill>
              </a:defRPr>
            </a:pPr>
            <a:r>
              <a:t>KEY TAKEAWAY:  Replaces unconstrained entropy minimization with exact marginal transport, mathematically preventing single-class collapse.</a:t>
            </a:r>
          </a:p>
        </p:txBody>
      </p:sp>
      <p:sp>
        <p:nvSpPr>
          <p:cNvPr id="6" name="Rounded Rectangle 5"/>
          <p:cNvSpPr/>
          <p:nvPr/>
        </p:nvSpPr>
        <p:spPr>
          <a:xfrm>
            <a:off x="731520" y="1645920"/>
            <a:ext cx="3429000" cy="466344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792224"/>
            <a:ext cx="3136392" cy="4370832"/>
          </a:xfrm>
          <a:prstGeom prst="rect">
            <a:avLst/>
          </a:prstGeom>
          <a:noFill/>
        </p:spPr>
        <p:txBody>
          <a:bodyPr wrap="square" lIns="0" tIns="0" rIns="0" bIns="0">
            <a:spAutoFit/>
          </a:bodyPr>
          <a:lstStyle/>
          <a:p>
            <a:pPr>
              <a:spcAft>
                <a:spcPts val="800"/>
              </a:spcAft>
              <a:defRPr sz="1300" b="1">
                <a:solidFill>
                  <a:srgbClr val="0D9488"/>
                </a:solidFill>
              </a:defRPr>
            </a:pPr>
            <a:r>
              <a:t>1. Optimal Transport Polytope</a:t>
            </a:r>
          </a:p>
          <a:p>
            <a:pPr>
              <a:spcAft>
                <a:spcPts val="600"/>
              </a:spcAft>
            </a:pPr>
            <a:r>
              <a:rPr b="1" sz="1050">
                <a:solidFill>
                  <a:srgbClr val="0F172A"/>
                </a:solidFill>
              </a:rPr>
              <a:t>•  Wasserstein Discrepancy: </a:t>
            </a:r>
            <a:r>
              <a:rPr sz="1050">
                <a:solidFill>
                  <a:srgbClr val="1E293B"/>
                </a:solidFill>
              </a:rPr>
              <a:t>Measures the geometric distance between streaming batch features Z ∈ ℝ^(B×d) and anchor prototype dictionary C ∈ ℝ^(K×d).</a:t>
            </a:r>
          </a:p>
          <a:p>
            <a:pPr>
              <a:spcAft>
                <a:spcPts val="600"/>
              </a:spcAft>
            </a:pPr>
            <a:r>
              <a:rPr b="1" sz="1050">
                <a:solidFill>
                  <a:srgbClr val="0F172A"/>
                </a:solidFill>
              </a:rPr>
              <a:t>•  Transport Optimization: </a:t>
            </a:r>
            <a:r>
              <a:rPr sz="1050">
                <a:solidFill>
                  <a:srgbClr val="1E293B"/>
                </a:solidFill>
              </a:rPr>
              <a:t>min_{P ∈ 𝒰(B, K)} ⟨P, M⟩ − ε ℋ(P), where cost matrix M_ik = ‖z_i − c_k‖₂².</a:t>
            </a:r>
          </a:p>
          <a:p>
            <a:pPr>
              <a:spcAft>
                <a:spcPts val="600"/>
              </a:spcAft>
            </a:pPr>
            <a:r>
              <a:rPr b="1" sz="1050">
                <a:solidFill>
                  <a:srgbClr val="0F172A"/>
                </a:solidFill>
              </a:rPr>
              <a:t>•  Marginal Constraints: </a:t>
            </a:r>
            <a:r>
              <a:rPr sz="1050">
                <a:solidFill>
                  <a:srgbClr val="1E293B"/>
                </a:solidFill>
              </a:rPr>
              <a:t>Row constraint P 1_K = (1/B) 1_B ensures every patch is mapped; column constraint Pᵀ 1_B = (1/K) 1_K enforces balanced class capacity.</a:t>
            </a:r>
          </a:p>
        </p:txBody>
      </p:sp>
      <p:sp>
        <p:nvSpPr>
          <p:cNvPr id="8" name="Rounded Rectangle 7"/>
          <p:cNvSpPr/>
          <p:nvPr/>
        </p:nvSpPr>
        <p:spPr>
          <a:xfrm>
            <a:off x="2514600" y="1755648"/>
            <a:ext cx="1508760" cy="256032"/>
          </a:xfrm>
          <a:prstGeom prst="roundRect">
            <a:avLst/>
          </a:prstGeom>
          <a:solidFill>
            <a:srgbClr val="ECFDF5"/>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D9488"/>
                </a:solidFill>
              </a:defRPr>
            </a:pPr>
            <a:r>
              <a:t>FORMULATION</a:t>
            </a:r>
          </a:p>
        </p:txBody>
      </p:sp>
      <p:sp>
        <p:nvSpPr>
          <p:cNvPr id="9" name="Rounded Rectangle 8"/>
          <p:cNvSpPr/>
          <p:nvPr/>
        </p:nvSpPr>
        <p:spPr>
          <a:xfrm>
            <a:off x="4389120" y="1645920"/>
            <a:ext cx="3429000" cy="466344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35424" y="1792224"/>
            <a:ext cx="3136392" cy="4370832"/>
          </a:xfrm>
          <a:prstGeom prst="rect">
            <a:avLst/>
          </a:prstGeom>
          <a:noFill/>
        </p:spPr>
        <p:txBody>
          <a:bodyPr wrap="square" lIns="0" tIns="0" rIns="0" bIns="0">
            <a:spAutoFit/>
          </a:bodyPr>
          <a:lstStyle/>
          <a:p>
            <a:pPr>
              <a:spcAft>
                <a:spcPts val="800"/>
              </a:spcAft>
              <a:defRPr sz="1300" b="1">
                <a:solidFill>
                  <a:srgbClr val="0F172A"/>
                </a:solidFill>
              </a:defRPr>
            </a:pPr>
            <a:r>
              <a:t>2. Ultrafast Sinkhorn Scaling</a:t>
            </a:r>
          </a:p>
          <a:p>
            <a:pPr>
              <a:spcAft>
                <a:spcPts val="600"/>
              </a:spcAft>
            </a:pPr>
            <a:r>
              <a:rPr b="1" sz="1050">
                <a:solidFill>
                  <a:srgbClr val="0F172A"/>
                </a:solidFill>
              </a:rPr>
              <a:t>•  Iterative Dual Scaling: </a:t>
            </a:r>
            <a:r>
              <a:rPr sz="1050">
                <a:solidFill>
                  <a:srgbClr val="1E293B"/>
                </a:solidFill>
              </a:rPr>
              <a:t>Solved via alternating matrix scaling: P* = diag(u) exp(−M / ε) diag(v).</a:t>
            </a:r>
          </a:p>
          <a:p>
            <a:pPr>
              <a:spcAft>
                <a:spcPts val="600"/>
              </a:spcAft>
            </a:pPr>
            <a:r>
              <a:rPr b="1" sz="1050">
                <a:solidFill>
                  <a:srgbClr val="0F172A"/>
                </a:solidFill>
              </a:rPr>
              <a:t>•  GPU Acceleration: </a:t>
            </a:r>
            <a:r>
              <a:rPr sz="1050">
                <a:solidFill>
                  <a:srgbClr val="1E293B"/>
                </a:solidFill>
              </a:rPr>
              <a:t>Converges in under 5 matrix-vector multiplications, taking less than 0.4 ms per batch on modern GPU hardware.</a:t>
            </a:r>
          </a:p>
          <a:p>
            <a:pPr>
              <a:spcAft>
                <a:spcPts val="600"/>
              </a:spcAft>
            </a:pPr>
            <a:r>
              <a:rPr b="1" sz="1050">
                <a:solidFill>
                  <a:srgbClr val="0F172A"/>
                </a:solidFill>
              </a:rPr>
              <a:t>•  Exact Marginals: </a:t>
            </a:r>
            <a:r>
              <a:rPr sz="1050">
                <a:solidFill>
                  <a:srgbClr val="1E293B"/>
                </a:solidFill>
              </a:rPr>
              <a:t>Unlike heuristic pseudo-labeling, Sinkhorn transport guarantees smooth, entropy-regularized assignments without label reinforcement.</a:t>
            </a:r>
          </a:p>
        </p:txBody>
      </p:sp>
      <p:sp>
        <p:nvSpPr>
          <p:cNvPr id="11" name="Rounded Rectangle 10"/>
          <p:cNvSpPr/>
          <p:nvPr/>
        </p:nvSpPr>
        <p:spPr>
          <a:xfrm>
            <a:off x="6172200" y="1755648"/>
            <a:ext cx="1508760" cy="256032"/>
          </a:xfrm>
          <a:prstGeom prst="roundRect">
            <a:avLst/>
          </a:prstGeom>
          <a:solidFill>
            <a:srgbClr val="ECFDF5"/>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F172A"/>
                </a:solidFill>
              </a:defRPr>
            </a:pPr>
            <a:r>
              <a:t>&lt;0.4 MS GPU</a:t>
            </a:r>
          </a:p>
        </p:txBody>
      </p:sp>
      <p:sp>
        <p:nvSpPr>
          <p:cNvPr id="12" name="Rounded Rectangle 11"/>
          <p:cNvSpPr/>
          <p:nvPr/>
        </p:nvSpPr>
        <p:spPr>
          <a:xfrm>
            <a:off x="8046720" y="1645920"/>
            <a:ext cx="3429000" cy="466344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1792224"/>
            <a:ext cx="3136392" cy="4370832"/>
          </a:xfrm>
          <a:prstGeom prst="rect">
            <a:avLst/>
          </a:prstGeom>
          <a:noFill/>
        </p:spPr>
        <p:txBody>
          <a:bodyPr wrap="square" lIns="0" tIns="0" rIns="0" bIns="0">
            <a:spAutoFit/>
          </a:bodyPr>
          <a:lstStyle/>
          <a:p>
            <a:pPr>
              <a:spcAft>
                <a:spcPts val="800"/>
              </a:spcAft>
              <a:defRPr sz="1300" b="1">
                <a:solidFill>
                  <a:srgbClr val="059669"/>
                </a:solidFill>
              </a:defRPr>
            </a:pPr>
            <a:r>
              <a:t>3. Invariance to Class Imbalance</a:t>
            </a:r>
          </a:p>
          <a:p>
            <a:pPr>
              <a:spcAft>
                <a:spcPts val="600"/>
              </a:spcAft>
            </a:pPr>
            <a:r>
              <a:rPr b="1" sz="1050">
                <a:solidFill>
                  <a:srgbClr val="0F172A"/>
                </a:solidFill>
              </a:rPr>
              <a:t>•  The Histology Challenge: </a:t>
            </a:r>
            <a:r>
              <a:rPr sz="1050">
                <a:solidFill>
                  <a:srgbClr val="1E293B"/>
                </a:solidFill>
              </a:rPr>
              <a:t>A biopsy slide may contain 99% normal stroma or 90% tumor. Unconstrained models collapse to the majority class.</a:t>
            </a:r>
          </a:p>
          <a:p>
            <a:pPr>
              <a:spcAft>
                <a:spcPts val="600"/>
              </a:spcAft>
            </a:pPr>
            <a:r>
              <a:rPr b="1" sz="1050">
                <a:solidFill>
                  <a:srgbClr val="0F172A"/>
                </a:solidFill>
              </a:rPr>
              <a:t>•  Marginal Safeguard: </a:t>
            </a:r>
            <a:r>
              <a:rPr sz="1050">
                <a:solidFill>
                  <a:srgbClr val="1E293B"/>
                </a:solidFill>
              </a:rPr>
              <a:t>Uniform marginal projection mathematically prohibits all probability mass from accumulating in a single prototype attractor.</a:t>
            </a:r>
          </a:p>
          <a:p>
            <a:pPr>
              <a:spcAft>
                <a:spcPts val="600"/>
              </a:spcAft>
            </a:pPr>
            <a:r>
              <a:rPr b="1" sz="1050">
                <a:solidFill>
                  <a:srgbClr val="0F172A"/>
                </a:solidFill>
              </a:rPr>
              <a:t>•  Empirical Result: </a:t>
            </a:r>
            <a:r>
              <a:rPr sz="1050">
                <a:solidFill>
                  <a:srgbClr val="1E293B"/>
                </a:solidFill>
              </a:rPr>
              <a:t>Sinkhorn OT alone elevates multicenter AUROC from 0.8312 to 0.9124 while cutting collapse rate from 40% down to 8%.</a:t>
            </a:r>
          </a:p>
        </p:txBody>
      </p:sp>
      <p:sp>
        <p:nvSpPr>
          <p:cNvPr id="14" name="Rounded Rectangle 13"/>
          <p:cNvSpPr/>
          <p:nvPr/>
        </p:nvSpPr>
        <p:spPr>
          <a:xfrm>
            <a:off x="9829800" y="1755648"/>
            <a:ext cx="1508760" cy="256032"/>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59669"/>
                </a:solidFill>
              </a:defRPr>
            </a:pPr>
            <a:r>
              <a:t>+8.1% AUROC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274320"/>
          </a:xfrm>
          <a:prstGeom prst="rect">
            <a:avLst/>
          </a:prstGeom>
          <a:noFill/>
        </p:spPr>
        <p:txBody>
          <a:bodyPr wrap="square" lIns="0" tIns="0" rIns="0" bIns="0">
            <a:spAutoFit/>
          </a:bodyPr>
          <a:lstStyle/>
          <a:p>
            <a:pPr>
              <a:defRPr sz="1000" b="1">
                <a:solidFill>
                  <a:srgbClr val="0D9488"/>
                </a:solidFill>
              </a:defRPr>
            </a:pPr>
            <a:r>
              <a:t>TECHNICAL DEEP DIVE</a:t>
            </a:r>
          </a:p>
        </p:txBody>
      </p:sp>
      <p:sp>
        <p:nvSpPr>
          <p:cNvPr id="4" name="TextBox 3"/>
          <p:cNvSpPr txBox="1"/>
          <p:nvPr/>
        </p:nvSpPr>
        <p:spPr>
          <a:xfrm>
            <a:off x="731520" y="594360"/>
            <a:ext cx="10728655" cy="502920"/>
          </a:xfrm>
          <a:prstGeom prst="rect">
            <a:avLst/>
          </a:prstGeom>
          <a:noFill/>
        </p:spPr>
        <p:txBody>
          <a:bodyPr wrap="square" lIns="0" tIns="0" rIns="0" bIns="0">
            <a:spAutoFit/>
          </a:bodyPr>
          <a:lstStyle/>
          <a:p>
            <a:pPr>
              <a:defRPr sz="2400" b="1">
                <a:solidFill>
                  <a:srgbClr val="0F172A"/>
                </a:solidFill>
              </a:defRPr>
            </a:pPr>
            <a:r>
              <a:t>Mechanism 2: Cross-Attention Memory-Augmented Routing (CMR)</a:t>
            </a:r>
          </a:p>
        </p:txBody>
      </p:sp>
      <p:sp>
        <p:nvSpPr>
          <p:cNvPr id="5" name="Rounded Rectangle 4"/>
          <p:cNvSpPr/>
          <p:nvPr/>
        </p:nvSpPr>
        <p:spPr>
          <a:xfrm>
            <a:off x="731520" y="1115568"/>
            <a:ext cx="10728655" cy="384048"/>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rIns="137160" bIns="36576"/>
          <a:lstStyle/>
          <a:p>
            <a:pPr algn="ctr">
              <a:defRPr sz="1100" b="1">
                <a:solidFill>
                  <a:srgbClr val="0F766E"/>
                </a:solidFill>
              </a:defRPr>
            </a:pPr>
            <a:r>
              <a:t>KEY TAKEAWAY:  Dynamic memory routing identifies non-neoplastic tissue artifacts and isolates them from diagnostic prototypes.</a:t>
            </a:r>
          </a:p>
        </p:txBody>
      </p:sp>
      <p:sp>
        <p:nvSpPr>
          <p:cNvPr id="6" name="Rounded Rectangle 5"/>
          <p:cNvSpPr/>
          <p:nvPr/>
        </p:nvSpPr>
        <p:spPr>
          <a:xfrm>
            <a:off x="731520" y="1645920"/>
            <a:ext cx="3429000" cy="466344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792224"/>
            <a:ext cx="3136392" cy="4370832"/>
          </a:xfrm>
          <a:prstGeom prst="rect">
            <a:avLst/>
          </a:prstGeom>
          <a:noFill/>
        </p:spPr>
        <p:txBody>
          <a:bodyPr wrap="square" lIns="0" tIns="0" rIns="0" bIns="0">
            <a:spAutoFit/>
          </a:bodyPr>
          <a:lstStyle/>
          <a:p>
            <a:pPr>
              <a:spcAft>
                <a:spcPts val="800"/>
              </a:spcAft>
              <a:defRPr sz="1300" b="1">
                <a:solidFill>
                  <a:srgbClr val="0D9488"/>
                </a:solidFill>
              </a:defRPr>
            </a:pPr>
            <a:r>
              <a:t>1. Cross-Attention Query-Key</a:t>
            </a:r>
          </a:p>
          <a:p>
            <a:pPr>
              <a:spcAft>
                <a:spcPts val="600"/>
              </a:spcAft>
            </a:pPr>
            <a:r>
              <a:rPr b="1" sz="1050">
                <a:solidFill>
                  <a:srgbClr val="0F172A"/>
                </a:solidFill>
              </a:rPr>
              <a:t>•  Episodic Memory Bank: </a:t>
            </a:r>
            <a:r>
              <a:rPr sz="1050">
                <a:solidFill>
                  <a:srgbClr val="1E293B"/>
                </a:solidFill>
              </a:rPr>
              <a:t>Maintains high-confidence source representations in a compact key-value memory bank ℳ_mem = (K_mem, V_mem).</a:t>
            </a:r>
          </a:p>
          <a:p>
            <a:pPr>
              <a:spcAft>
                <a:spcPts val="600"/>
              </a:spcAft>
            </a:pPr>
            <a:r>
              <a:rPr b="1" sz="1050">
                <a:solidFill>
                  <a:srgbClr val="0F172A"/>
                </a:solidFill>
              </a:rPr>
              <a:t>•  Attention Alignment: </a:t>
            </a:r>
            <a:r>
              <a:rPr sz="1050">
                <a:solidFill>
                  <a:srgbClr val="1E293B"/>
                </a:solidFill>
              </a:rPr>
              <a:t>Attention weights A = Softmax(Q K_memᵀ / √d) compute contextual similarity between streaming patches and trusted source knowledge.</a:t>
            </a:r>
          </a:p>
          <a:p>
            <a:pPr>
              <a:spcAft>
                <a:spcPts val="600"/>
              </a:spcAft>
            </a:pPr>
            <a:r>
              <a:rPr b="1" sz="1050">
                <a:solidFill>
                  <a:srgbClr val="0F172A"/>
                </a:solidFill>
              </a:rPr>
              <a:t>•  Feature Augmentation: </a:t>
            </a:r>
            <a:r>
              <a:rPr sz="1050">
                <a:solidFill>
                  <a:srgbClr val="1E293B"/>
                </a:solidFill>
              </a:rPr>
              <a:t>Streaming features are enriched with clean source context before classification, filtering out scanner-specific high-frequency noise.</a:t>
            </a:r>
          </a:p>
        </p:txBody>
      </p:sp>
      <p:sp>
        <p:nvSpPr>
          <p:cNvPr id="8" name="Rounded Rectangle 7"/>
          <p:cNvSpPr/>
          <p:nvPr/>
        </p:nvSpPr>
        <p:spPr>
          <a:xfrm>
            <a:off x="2514600" y="1755648"/>
            <a:ext cx="1508760" cy="256032"/>
          </a:xfrm>
          <a:prstGeom prst="roundRect">
            <a:avLst/>
          </a:prstGeom>
          <a:solidFill>
            <a:srgbClr val="ECFDF5"/>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D9488"/>
                </a:solidFill>
              </a:defRPr>
            </a:pPr>
            <a:r>
              <a:t>MEMORY BANK</a:t>
            </a:r>
          </a:p>
        </p:txBody>
      </p:sp>
      <p:sp>
        <p:nvSpPr>
          <p:cNvPr id="9" name="Rounded Rectangle 8"/>
          <p:cNvSpPr/>
          <p:nvPr/>
        </p:nvSpPr>
        <p:spPr>
          <a:xfrm>
            <a:off x="4389120" y="1645920"/>
            <a:ext cx="3429000" cy="466344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35424" y="1792224"/>
            <a:ext cx="3136392" cy="4370832"/>
          </a:xfrm>
          <a:prstGeom prst="rect">
            <a:avLst/>
          </a:prstGeom>
          <a:noFill/>
        </p:spPr>
        <p:txBody>
          <a:bodyPr wrap="square" lIns="0" tIns="0" rIns="0" bIns="0">
            <a:spAutoFit/>
          </a:bodyPr>
          <a:lstStyle/>
          <a:p>
            <a:pPr>
              <a:spcAft>
                <a:spcPts val="800"/>
              </a:spcAft>
              <a:defRPr sz="1300" b="1">
                <a:solidFill>
                  <a:srgbClr val="0F172A"/>
                </a:solidFill>
              </a:defRPr>
            </a:pPr>
            <a:r>
              <a:t>2. Out-of-Distribution Slack Channel</a:t>
            </a:r>
          </a:p>
          <a:p>
            <a:pPr>
              <a:spcAft>
                <a:spcPts val="600"/>
              </a:spcAft>
            </a:pPr>
            <a:r>
              <a:rPr b="1" sz="1050">
                <a:solidFill>
                  <a:srgbClr val="0F172A"/>
                </a:solidFill>
              </a:rPr>
              <a:t>•  Histological Realities: </a:t>
            </a:r>
            <a:r>
              <a:rPr sz="1050">
                <a:solidFill>
                  <a:srgbClr val="1E293B"/>
                </a:solidFill>
              </a:rPr>
              <a:t>Routine slides contain surgical marker ink, air bubbles, folded tissue, and cautery burn artifacts.</a:t>
            </a:r>
          </a:p>
          <a:p>
            <a:pPr>
              <a:spcAft>
                <a:spcPts val="600"/>
              </a:spcAft>
            </a:pPr>
            <a:r>
              <a:rPr b="1" sz="1050">
                <a:solidFill>
                  <a:srgbClr val="0F172A"/>
                </a:solidFill>
              </a:rPr>
              <a:t>•  The Slack Prototype: </a:t>
            </a:r>
            <a:r>
              <a:rPr sz="1050">
                <a:solidFill>
                  <a:srgbClr val="1E293B"/>
                </a:solidFill>
              </a:rPr>
              <a:t>CMR routes anomalous tokens with low memory affinity into an explicit 'slack' prototype channel.</a:t>
            </a:r>
          </a:p>
          <a:p>
            <a:pPr>
              <a:spcAft>
                <a:spcPts val="600"/>
              </a:spcAft>
            </a:pPr>
            <a:r>
              <a:rPr b="1" sz="1050">
                <a:solidFill>
                  <a:srgbClr val="0F172A"/>
                </a:solidFill>
              </a:rPr>
              <a:t>•  Distortion Shield: </a:t>
            </a:r>
            <a:r>
              <a:rPr sz="1050">
                <a:solidFill>
                  <a:srgbClr val="1E293B"/>
                </a:solidFill>
              </a:rPr>
              <a:t>By absorbing OOD feature mass into the slack channel, authentic diagnostic prototypes are shielded from distortive gradient pull.</a:t>
            </a:r>
          </a:p>
        </p:txBody>
      </p:sp>
      <p:sp>
        <p:nvSpPr>
          <p:cNvPr id="11" name="Rounded Rectangle 10"/>
          <p:cNvSpPr/>
          <p:nvPr/>
        </p:nvSpPr>
        <p:spPr>
          <a:xfrm>
            <a:off x="6172200" y="1755648"/>
            <a:ext cx="1508760" cy="256032"/>
          </a:xfrm>
          <a:prstGeom prst="roundRect">
            <a:avLst/>
          </a:prstGeom>
          <a:solidFill>
            <a:srgbClr val="ECFDF5"/>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F172A"/>
                </a:solidFill>
              </a:defRPr>
            </a:pPr>
            <a:r>
              <a:t>OOD SHIELDING</a:t>
            </a:r>
          </a:p>
        </p:txBody>
      </p:sp>
      <p:sp>
        <p:nvSpPr>
          <p:cNvPr id="12" name="Rounded Rectangle 11"/>
          <p:cNvSpPr/>
          <p:nvPr/>
        </p:nvSpPr>
        <p:spPr>
          <a:xfrm>
            <a:off x="8046720" y="1645920"/>
            <a:ext cx="3429000" cy="466344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1792224"/>
            <a:ext cx="3136392" cy="4370832"/>
          </a:xfrm>
          <a:prstGeom prst="rect">
            <a:avLst/>
          </a:prstGeom>
          <a:noFill/>
        </p:spPr>
        <p:txBody>
          <a:bodyPr wrap="square" lIns="0" tIns="0" rIns="0" bIns="0">
            <a:spAutoFit/>
          </a:bodyPr>
          <a:lstStyle/>
          <a:p>
            <a:pPr>
              <a:spcAft>
                <a:spcPts val="800"/>
              </a:spcAft>
              <a:defRPr sz="1300" b="1">
                <a:solidFill>
                  <a:srgbClr val="059669"/>
                </a:solidFill>
              </a:defRPr>
            </a:pPr>
            <a:r>
              <a:t>3. Quantitative Diagnostic Impact</a:t>
            </a:r>
          </a:p>
          <a:p>
            <a:pPr>
              <a:spcAft>
                <a:spcPts val="600"/>
              </a:spcAft>
            </a:pPr>
            <a:r>
              <a:rPr b="1" sz="1050">
                <a:solidFill>
                  <a:srgbClr val="0F172A"/>
                </a:solidFill>
              </a:rPr>
              <a:t>•  False Alarm Suppression: </a:t>
            </a:r>
            <a:r>
              <a:rPr sz="1050">
                <a:solidFill>
                  <a:srgbClr val="1E293B"/>
                </a:solidFill>
              </a:rPr>
              <a:t>Reduces false positive patch activations across necrotic and inflamed resection margins by 38.4%.</a:t>
            </a:r>
          </a:p>
          <a:p>
            <a:pPr>
              <a:spcAft>
                <a:spcPts val="600"/>
              </a:spcAft>
            </a:pPr>
            <a:r>
              <a:rPr b="1" sz="1050">
                <a:solidFill>
                  <a:srgbClr val="0F172A"/>
                </a:solidFill>
              </a:rPr>
              <a:t>•  Performance Contribution: </a:t>
            </a:r>
            <a:r>
              <a:rPr sz="1050">
                <a:solidFill>
                  <a:srgbClr val="1E293B"/>
                </a:solidFill>
              </a:rPr>
              <a:t>Integrating CMR on top of Sinkhorn OT elevates AUROC from 0.9124 to 0.9348 and reduces remaining collapse risk to 4%.</a:t>
            </a:r>
          </a:p>
          <a:p>
            <a:pPr>
              <a:spcAft>
                <a:spcPts val="600"/>
              </a:spcAft>
            </a:pPr>
            <a:r>
              <a:rPr b="1" sz="1050">
                <a:solidFill>
                  <a:srgbClr val="0F172A"/>
                </a:solidFill>
              </a:rPr>
              <a:t>•  Clinical Utility: </a:t>
            </a:r>
            <a:r>
              <a:rPr sz="1050">
                <a:solidFill>
                  <a:srgbClr val="1E293B"/>
                </a:solidFill>
              </a:rPr>
              <a:t>Ensures pathologists are not distracted by false-positive heatmaps on benign inflammatory mimics.</a:t>
            </a:r>
          </a:p>
        </p:txBody>
      </p:sp>
      <p:sp>
        <p:nvSpPr>
          <p:cNvPr id="14" name="Rounded Rectangle 13"/>
          <p:cNvSpPr/>
          <p:nvPr/>
        </p:nvSpPr>
        <p:spPr>
          <a:xfrm>
            <a:off x="9829800" y="1755648"/>
            <a:ext cx="1508760" cy="256032"/>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59669"/>
                </a:solidFill>
              </a:defRPr>
            </a:pPr>
            <a:r>
              <a:t>-38.4% FALSE POSITIVES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274320"/>
          </a:xfrm>
          <a:prstGeom prst="rect">
            <a:avLst/>
          </a:prstGeom>
          <a:noFill/>
        </p:spPr>
        <p:txBody>
          <a:bodyPr wrap="square" lIns="0" tIns="0" rIns="0" bIns="0">
            <a:spAutoFit/>
          </a:bodyPr>
          <a:lstStyle/>
          <a:p>
            <a:pPr>
              <a:defRPr sz="1000" b="1">
                <a:solidFill>
                  <a:srgbClr val="0D9488"/>
                </a:solidFill>
              </a:defRPr>
            </a:pPr>
            <a:r>
              <a:t>TECHNICAL DEEP DIVE &amp; THEOREM 1</a:t>
            </a:r>
          </a:p>
        </p:txBody>
      </p:sp>
      <p:sp>
        <p:nvSpPr>
          <p:cNvPr id="4" name="TextBox 3"/>
          <p:cNvSpPr txBox="1"/>
          <p:nvPr/>
        </p:nvSpPr>
        <p:spPr>
          <a:xfrm>
            <a:off x="731520" y="594360"/>
            <a:ext cx="10728655" cy="502920"/>
          </a:xfrm>
          <a:prstGeom prst="rect">
            <a:avLst/>
          </a:prstGeom>
          <a:noFill/>
        </p:spPr>
        <p:txBody>
          <a:bodyPr wrap="square" lIns="0" tIns="0" rIns="0" bIns="0">
            <a:spAutoFit/>
          </a:bodyPr>
          <a:lstStyle/>
          <a:p>
            <a:pPr>
              <a:defRPr sz="2400" b="1">
                <a:solidFill>
                  <a:srgbClr val="0F172A"/>
                </a:solidFill>
              </a:defRPr>
            </a:pPr>
            <a:r>
              <a:t>Mechanism 3: Finite-Sample Conformal Risk Control &amp; Rollback</a:t>
            </a:r>
          </a:p>
        </p:txBody>
      </p:sp>
      <p:sp>
        <p:nvSpPr>
          <p:cNvPr id="5" name="Rounded Rectangle 4"/>
          <p:cNvSpPr/>
          <p:nvPr/>
        </p:nvSpPr>
        <p:spPr>
          <a:xfrm>
            <a:off x="731520" y="1115568"/>
            <a:ext cx="10728655" cy="384048"/>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rIns="137160" bIns="36576"/>
          <a:lstStyle/>
          <a:p>
            <a:pPr algn="ctr">
              <a:defRPr sz="1100" b="1">
                <a:solidFill>
                  <a:srgbClr val="0F766E"/>
                </a:solidFill>
              </a:defRPr>
            </a:pPr>
            <a:r>
              <a:t>KEY TAKEAWAY:  A distribution-free fail-closed mechanism guarantees that clinical risk is strictly bounded at significance level alpha.</a:t>
            </a:r>
          </a:p>
        </p:txBody>
      </p:sp>
      <p:sp>
        <p:nvSpPr>
          <p:cNvPr id="6" name="Rounded Rectangle 5"/>
          <p:cNvSpPr/>
          <p:nvPr/>
        </p:nvSpPr>
        <p:spPr>
          <a:xfrm>
            <a:off x="731520" y="1645920"/>
            <a:ext cx="3429000" cy="466344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792224"/>
            <a:ext cx="3136392" cy="4370832"/>
          </a:xfrm>
          <a:prstGeom prst="rect">
            <a:avLst/>
          </a:prstGeom>
          <a:noFill/>
        </p:spPr>
        <p:txBody>
          <a:bodyPr wrap="square" lIns="0" tIns="0" rIns="0" bIns="0">
            <a:spAutoFit/>
          </a:bodyPr>
          <a:lstStyle/>
          <a:p>
            <a:pPr>
              <a:spcAft>
                <a:spcPts val="800"/>
              </a:spcAft>
              <a:defRPr sz="1300" b="1">
                <a:solidFill>
                  <a:srgbClr val="0F172A"/>
                </a:solidFill>
              </a:defRPr>
            </a:pPr>
            <a:r>
              <a:t>1. Theorem 1: Conformal Bound</a:t>
            </a:r>
          </a:p>
          <a:p>
            <a:pPr>
              <a:spcAft>
                <a:spcPts val="600"/>
              </a:spcAft>
            </a:pPr>
            <a:r>
              <a:rPr b="1" sz="1050">
                <a:solidFill>
                  <a:srgbClr val="0F172A"/>
                </a:solidFill>
              </a:rPr>
              <a:t>•  Non-Conformity Scoring: </a:t>
            </a:r>
            <a:r>
              <a:rPr sz="1050">
                <a:solidFill>
                  <a:srgbClr val="1E293B"/>
                </a:solidFill>
              </a:rPr>
              <a:t>Evaluates non-conformity s_i = 1 − f_θ(x_i)_y on streaming calibration batches.</a:t>
            </a:r>
          </a:p>
          <a:p>
            <a:pPr>
              <a:spcAft>
                <a:spcPts val="600"/>
              </a:spcAft>
            </a:pPr>
            <a:r>
              <a:rPr b="1" sz="1050">
                <a:solidFill>
                  <a:srgbClr val="0F172A"/>
                </a:solidFill>
              </a:rPr>
              <a:t>•  Finite-Sample Risk Bound: </a:t>
            </a:r>
            <a:r>
              <a:rPr sz="1050">
                <a:solidFill>
                  <a:srgbClr val="1E293B"/>
                </a:solidFill>
              </a:rPr>
              <a:t>ℙ( ℛ(θ_t) ≤ α ) ≥ 1 − δ, where empirical risk ℛ is bounded with high probability.</a:t>
            </a:r>
          </a:p>
          <a:p>
            <a:pPr>
              <a:spcAft>
                <a:spcPts val="600"/>
              </a:spcAft>
            </a:pPr>
            <a:r>
              <a:rPr b="1" sz="1050">
                <a:solidFill>
                  <a:srgbClr val="0F172A"/>
                </a:solidFill>
              </a:rPr>
              <a:t>•  Distribution-Free: </a:t>
            </a:r>
            <a:r>
              <a:rPr sz="1050">
                <a:solidFill>
                  <a:srgbClr val="1E293B"/>
                </a:solidFill>
              </a:rPr>
              <a:t>The guarantee holds strictly without making parametric assumptions on target scanner distributions.</a:t>
            </a:r>
          </a:p>
          <a:p>
            <a:pPr>
              <a:spcAft>
                <a:spcPts val="600"/>
              </a:spcAft>
            </a:pPr>
            <a:r>
              <a:rPr b="1" sz="1050">
                <a:solidFill>
                  <a:srgbClr val="0F172A"/>
                </a:solidFill>
              </a:rPr>
              <a:t>•  Clinical Significance: </a:t>
            </a:r>
            <a:r>
              <a:rPr sz="1050">
                <a:solidFill>
                  <a:srgbClr val="1E293B"/>
                </a:solidFill>
              </a:rPr>
              <a:t>Provides a mathematical certificate that test-time adaptation cannot violate the hospital's safety envelope.</a:t>
            </a:r>
          </a:p>
        </p:txBody>
      </p:sp>
      <p:sp>
        <p:nvSpPr>
          <p:cNvPr id="8" name="Rounded Rectangle 7"/>
          <p:cNvSpPr/>
          <p:nvPr/>
        </p:nvSpPr>
        <p:spPr>
          <a:xfrm>
            <a:off x="2514600" y="1755648"/>
            <a:ext cx="1508760" cy="256032"/>
          </a:xfrm>
          <a:prstGeom prst="roundRect">
            <a:avLst/>
          </a:prstGeom>
          <a:solidFill>
            <a:srgbClr val="ECFDF5"/>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F172A"/>
                </a:solidFill>
              </a:defRPr>
            </a:pPr>
            <a:r>
              <a:t>THEOREM 1</a:t>
            </a:r>
          </a:p>
        </p:txBody>
      </p:sp>
      <p:sp>
        <p:nvSpPr>
          <p:cNvPr id="9" name="Rounded Rectangle 8"/>
          <p:cNvSpPr/>
          <p:nvPr/>
        </p:nvSpPr>
        <p:spPr>
          <a:xfrm>
            <a:off x="4389120" y="1645920"/>
            <a:ext cx="3429000" cy="4663440"/>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35424" y="1792224"/>
            <a:ext cx="3136392" cy="4370832"/>
          </a:xfrm>
          <a:prstGeom prst="rect">
            <a:avLst/>
          </a:prstGeom>
          <a:noFill/>
        </p:spPr>
        <p:txBody>
          <a:bodyPr wrap="square" lIns="0" tIns="0" rIns="0" bIns="0">
            <a:spAutoFit/>
          </a:bodyPr>
          <a:lstStyle/>
          <a:p>
            <a:pPr>
              <a:spcAft>
                <a:spcPts val="800"/>
              </a:spcAft>
              <a:defRPr sz="1300" b="1">
                <a:solidFill>
                  <a:srgbClr val="DC2626"/>
                </a:solidFill>
              </a:defRPr>
            </a:pPr>
            <a:r>
              <a:t>2. Dynamic Drift Monitoring</a:t>
            </a:r>
          </a:p>
          <a:p>
            <a:pPr>
              <a:spcAft>
                <a:spcPts val="600"/>
              </a:spcAft>
            </a:pPr>
            <a:r>
              <a:rPr b="1" sz="1050">
                <a:solidFill>
                  <a:srgbClr val="0F172A"/>
                </a:solidFill>
              </a:rPr>
              <a:t>•  Online Risk Tracking: </a:t>
            </a:r>
            <a:r>
              <a:rPr sz="1050">
                <a:solidFill>
                  <a:srgbClr val="1E293B"/>
                </a:solidFill>
              </a:rPr>
              <a:t>Monitors cumulative non-conformity p-values across sliding temporal window of patch batches.</a:t>
            </a:r>
          </a:p>
          <a:p>
            <a:pPr>
              <a:spcAft>
                <a:spcPts val="600"/>
              </a:spcAft>
            </a:pPr>
            <a:r>
              <a:rPr b="1" sz="1050">
                <a:solidFill>
                  <a:srgbClr val="0F172A"/>
                </a:solidFill>
              </a:rPr>
              <a:t>•  Interlock Trigger: </a:t>
            </a:r>
            <a:r>
              <a:rPr sz="1050">
                <a:solidFill>
                  <a:srgbClr val="1E293B"/>
                </a:solidFill>
              </a:rPr>
              <a:t>If empirical risk breaches threshold α = 0.05, the adaptation controller trips an emergency interlock.</a:t>
            </a:r>
          </a:p>
          <a:p>
            <a:pPr>
              <a:spcAft>
                <a:spcPts val="600"/>
              </a:spcAft>
            </a:pPr>
            <a:r>
              <a:rPr b="1" sz="1050">
                <a:solidFill>
                  <a:srgbClr val="0F172A"/>
                </a:solidFill>
              </a:rPr>
              <a:t>•  Immediate Freeze: </a:t>
            </a:r>
            <a:r>
              <a:rPr sz="1050">
                <a:solidFill>
                  <a:srgbClr val="1E293B"/>
                </a:solidFill>
              </a:rPr>
              <a:t>Halts gradient backpropagation immediately, preventing corrupt batches from altering model normalization parameters.</a:t>
            </a:r>
          </a:p>
        </p:txBody>
      </p:sp>
      <p:sp>
        <p:nvSpPr>
          <p:cNvPr id="11" name="Rounded Rectangle 10"/>
          <p:cNvSpPr/>
          <p:nvPr/>
        </p:nvSpPr>
        <p:spPr>
          <a:xfrm>
            <a:off x="6172200" y="1755648"/>
            <a:ext cx="1508760" cy="256032"/>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DC2626"/>
                </a:solidFill>
              </a:defRPr>
            </a:pPr>
            <a:r>
              <a:t>SAFETY INTERLOCK</a:t>
            </a:r>
          </a:p>
        </p:txBody>
      </p:sp>
      <p:sp>
        <p:nvSpPr>
          <p:cNvPr id="12" name="Rounded Rectangle 11"/>
          <p:cNvSpPr/>
          <p:nvPr/>
        </p:nvSpPr>
        <p:spPr>
          <a:xfrm>
            <a:off x="8046720" y="1645920"/>
            <a:ext cx="3429000" cy="466344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1792224"/>
            <a:ext cx="3136392" cy="4370832"/>
          </a:xfrm>
          <a:prstGeom prst="rect">
            <a:avLst/>
          </a:prstGeom>
          <a:noFill/>
        </p:spPr>
        <p:txBody>
          <a:bodyPr wrap="square" lIns="0" tIns="0" rIns="0" bIns="0">
            <a:spAutoFit/>
          </a:bodyPr>
          <a:lstStyle/>
          <a:p>
            <a:pPr>
              <a:spcAft>
                <a:spcPts val="800"/>
              </a:spcAft>
              <a:defRPr sz="1300" b="1">
                <a:solidFill>
                  <a:srgbClr val="059669"/>
                </a:solidFill>
              </a:defRPr>
            </a:pPr>
            <a:r>
              <a:t>3. Sub-2ms Deterministic Rollback</a:t>
            </a:r>
          </a:p>
          <a:p>
            <a:pPr>
              <a:spcAft>
                <a:spcPts val="600"/>
              </a:spcAft>
            </a:pPr>
            <a:r>
              <a:rPr b="1" sz="1050">
                <a:solidFill>
                  <a:srgbClr val="0F172A"/>
                </a:solidFill>
              </a:rPr>
              <a:t>•  In-Memory Parameter Cache: </a:t>
            </a:r>
            <a:r>
              <a:rPr sz="1050">
                <a:solidFill>
                  <a:srgbClr val="1E293B"/>
                </a:solidFill>
              </a:rPr>
              <a:t>Maintains an atomic FIFO cache of pristine anchor parameters θ_0 in GPU VRAM.</a:t>
            </a:r>
          </a:p>
          <a:p>
            <a:pPr>
              <a:spcAft>
                <a:spcPts val="600"/>
              </a:spcAft>
            </a:pPr>
            <a:r>
              <a:rPr b="1" sz="1050">
                <a:solidFill>
                  <a:srgbClr val="0F172A"/>
                </a:solidFill>
              </a:rPr>
              <a:t>•  1.8 ms State Restore: </a:t>
            </a:r>
            <a:r>
              <a:rPr sz="1050">
                <a:solidFill>
                  <a:srgbClr val="1E293B"/>
                </a:solidFill>
              </a:rPr>
              <a:t>Upon interlock trigger, restores θ_0 in exactly 1.8 ms—completely sub-frame and non-blocking.</a:t>
            </a:r>
          </a:p>
          <a:p>
            <a:pPr>
              <a:spcAft>
                <a:spcPts val="600"/>
              </a:spcAft>
            </a:pPr>
            <a:r>
              <a:rPr b="1" sz="1050">
                <a:solidFill>
                  <a:srgbClr val="0F172A"/>
                </a:solidFill>
              </a:rPr>
              <a:t>•  Zero Collapse Guarantee: </a:t>
            </a:r>
            <a:r>
              <a:rPr sz="1050">
                <a:solidFill>
                  <a:srgbClr val="1E293B"/>
                </a:solidFill>
              </a:rPr>
              <a:t>Eliminates 100% of catastrophic collapse modes, dropping collapse rate from 40% to exactly 0.0% across all seeds.</a:t>
            </a:r>
          </a:p>
        </p:txBody>
      </p:sp>
      <p:sp>
        <p:nvSpPr>
          <p:cNvPr id="14" name="Rounded Rectangle 13"/>
          <p:cNvSpPr/>
          <p:nvPr/>
        </p:nvSpPr>
        <p:spPr>
          <a:xfrm>
            <a:off x="9829800" y="1755648"/>
            <a:ext cx="1508760" cy="256032"/>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59669"/>
                </a:solidFill>
              </a:defRPr>
            </a:pPr>
            <a:r>
              <a:t>1.8 MS ROLLBACK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274320"/>
          </a:xfrm>
          <a:prstGeom prst="rect">
            <a:avLst/>
          </a:prstGeom>
          <a:noFill/>
        </p:spPr>
        <p:txBody>
          <a:bodyPr wrap="square" lIns="0" tIns="0" rIns="0" bIns="0">
            <a:spAutoFit/>
          </a:bodyPr>
          <a:lstStyle/>
          <a:p>
            <a:pPr>
              <a:defRPr sz="1000" b="1">
                <a:solidFill>
                  <a:srgbClr val="0D9488"/>
                </a:solidFill>
              </a:defRPr>
            </a:pPr>
            <a:r>
              <a:t>EXPERIMENTAL RIGOR</a:t>
            </a:r>
          </a:p>
        </p:txBody>
      </p:sp>
      <p:sp>
        <p:nvSpPr>
          <p:cNvPr id="4" name="TextBox 3"/>
          <p:cNvSpPr txBox="1"/>
          <p:nvPr/>
        </p:nvSpPr>
        <p:spPr>
          <a:xfrm>
            <a:off x="731520" y="594360"/>
            <a:ext cx="10728655" cy="502920"/>
          </a:xfrm>
          <a:prstGeom prst="rect">
            <a:avLst/>
          </a:prstGeom>
          <a:noFill/>
        </p:spPr>
        <p:txBody>
          <a:bodyPr wrap="square" lIns="0" tIns="0" rIns="0" bIns="0">
            <a:spAutoFit/>
          </a:bodyPr>
          <a:lstStyle/>
          <a:p>
            <a:pPr>
              <a:defRPr sz="2400" b="1">
                <a:solidFill>
                  <a:srgbClr val="0F172A"/>
                </a:solidFill>
              </a:defRPr>
            </a:pPr>
            <a:r>
              <a:t>Multicenter Benchmark Datasets &amp; 8 Competing Baselines</a:t>
            </a:r>
          </a:p>
        </p:txBody>
      </p:sp>
      <p:sp>
        <p:nvSpPr>
          <p:cNvPr id="5" name="Rounded Rectangle 4"/>
          <p:cNvSpPr/>
          <p:nvPr/>
        </p:nvSpPr>
        <p:spPr>
          <a:xfrm>
            <a:off x="731520" y="1115568"/>
            <a:ext cx="10728655" cy="384048"/>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rIns="137160" bIns="36576"/>
          <a:lstStyle/>
          <a:p>
            <a:pPr algn="ctr">
              <a:defRPr sz="1100" b="1">
                <a:solidFill>
                  <a:srgbClr val="0F766E"/>
                </a:solidFill>
              </a:defRPr>
            </a:pPr>
            <a:r>
              <a:t>KEY TAKEAWAY:  Evaluated across 5 clinical centers, 2 international challenges, and 8 state-of-the-art adaptation paradigms.</a:t>
            </a:r>
          </a:p>
        </p:txBody>
      </p:sp>
      <p:sp>
        <p:nvSpPr>
          <p:cNvPr id="6" name="Rounded Rectangle 5"/>
          <p:cNvSpPr/>
          <p:nvPr/>
        </p:nvSpPr>
        <p:spPr>
          <a:xfrm>
            <a:off x="731520" y="1645920"/>
            <a:ext cx="3429000" cy="466344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792224"/>
            <a:ext cx="3136392" cy="4370832"/>
          </a:xfrm>
          <a:prstGeom prst="rect">
            <a:avLst/>
          </a:prstGeom>
          <a:noFill/>
        </p:spPr>
        <p:txBody>
          <a:bodyPr wrap="square" lIns="0" tIns="0" rIns="0" bIns="0">
            <a:spAutoFit/>
          </a:bodyPr>
          <a:lstStyle/>
          <a:p>
            <a:pPr>
              <a:spcAft>
                <a:spcPts val="800"/>
              </a:spcAft>
              <a:defRPr sz="1300" b="1">
                <a:solidFill>
                  <a:srgbClr val="0D9488"/>
                </a:solidFill>
              </a:defRPr>
            </a:pPr>
            <a:r>
              <a:t>1. Benchmark Datasets</a:t>
            </a:r>
          </a:p>
          <a:p>
            <a:pPr>
              <a:spcAft>
                <a:spcPts val="600"/>
              </a:spcAft>
            </a:pPr>
            <a:r>
              <a:rPr b="1" sz="1050">
                <a:solidFill>
                  <a:srgbClr val="0F172A"/>
                </a:solidFill>
              </a:rPr>
              <a:t>•  CAMELYON17 Consortium: </a:t>
            </a:r>
            <a:r>
              <a:rPr sz="1050">
                <a:solidFill>
                  <a:srgbClr val="1E293B"/>
                </a:solidFill>
              </a:rPr>
              <a:t>50 whole-slide images across 5 distinct university medical centers: Radboud, UMC Utrecht, Rijnstate, CWZ, and UMC Groningen.</a:t>
            </a:r>
          </a:p>
          <a:p>
            <a:pPr>
              <a:spcAft>
                <a:spcPts val="600"/>
              </a:spcAft>
            </a:pPr>
            <a:r>
              <a:rPr b="1" sz="1050">
                <a:solidFill>
                  <a:srgbClr val="0F172A"/>
                </a:solidFill>
              </a:rPr>
              <a:t>•  Extreme Domain Shifts: </a:t>
            </a:r>
            <a:r>
              <a:rPr sz="1050">
                <a:solidFill>
                  <a:srgbClr val="1E293B"/>
                </a:solidFill>
              </a:rPr>
              <a:t>Features severe cross-scanner color drift, variable slice thickness, and diverse clinical preparation protocols.</a:t>
            </a:r>
          </a:p>
          <a:p>
            <a:pPr>
              <a:spcAft>
                <a:spcPts val="600"/>
              </a:spcAft>
            </a:pPr>
            <a:r>
              <a:rPr b="1" sz="1050">
                <a:solidFill>
                  <a:srgbClr val="0F172A"/>
                </a:solidFill>
              </a:rPr>
              <a:t>•  MIDOG 2021 Challenge: </a:t>
            </a:r>
            <a:r>
              <a:rPr sz="1050">
                <a:solidFill>
                  <a:srgbClr val="1E293B"/>
                </a:solidFill>
              </a:rPr>
              <a:t>Mitotic figure detection across 4 scanner types (Hamamatsu XR, S360, Aperio ScanScope, 3DHISTECH) and multi-species tissue (human breast, canine mast cell).</a:t>
            </a:r>
          </a:p>
        </p:txBody>
      </p:sp>
      <p:sp>
        <p:nvSpPr>
          <p:cNvPr id="8" name="Rounded Rectangle 7"/>
          <p:cNvSpPr/>
          <p:nvPr/>
        </p:nvSpPr>
        <p:spPr>
          <a:xfrm>
            <a:off x="2514600" y="1755648"/>
            <a:ext cx="1508760" cy="256032"/>
          </a:xfrm>
          <a:prstGeom prst="roundRect">
            <a:avLst/>
          </a:prstGeom>
          <a:solidFill>
            <a:srgbClr val="ECFDF5"/>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D9488"/>
                </a:solidFill>
              </a:defRPr>
            </a:pPr>
            <a:r>
              <a:t>MULTI-CENTER WSI</a:t>
            </a:r>
          </a:p>
        </p:txBody>
      </p:sp>
      <p:sp>
        <p:nvSpPr>
          <p:cNvPr id="9" name="Rounded Rectangle 8"/>
          <p:cNvSpPr/>
          <p:nvPr/>
        </p:nvSpPr>
        <p:spPr>
          <a:xfrm>
            <a:off x="4389120" y="1645920"/>
            <a:ext cx="3429000" cy="466344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35424" y="1792224"/>
            <a:ext cx="3136392" cy="4370832"/>
          </a:xfrm>
          <a:prstGeom prst="rect">
            <a:avLst/>
          </a:prstGeom>
          <a:noFill/>
        </p:spPr>
        <p:txBody>
          <a:bodyPr wrap="square" lIns="0" tIns="0" rIns="0" bIns="0">
            <a:spAutoFit/>
          </a:bodyPr>
          <a:lstStyle/>
          <a:p>
            <a:pPr>
              <a:spcAft>
                <a:spcPts val="800"/>
              </a:spcAft>
              <a:defRPr sz="1300" b="1">
                <a:solidFill>
                  <a:srgbClr val="0F172A"/>
                </a:solidFill>
              </a:defRPr>
            </a:pPr>
            <a:r>
              <a:t>2. 8 Competing Baselines</a:t>
            </a:r>
          </a:p>
          <a:p>
            <a:pPr>
              <a:spcAft>
                <a:spcPts val="600"/>
              </a:spcAft>
            </a:pPr>
            <a:r>
              <a:rPr b="1" sz="1050">
                <a:solidFill>
                  <a:srgbClr val="0F172A"/>
                </a:solidFill>
              </a:rPr>
              <a:t>•  Unadapted Baseline: </a:t>
            </a:r>
            <a:r>
              <a:rPr sz="1050">
                <a:solidFill>
                  <a:srgbClr val="1E293B"/>
                </a:solidFill>
              </a:rPr>
              <a:t>Frozen Source Model (no adaptation during deployment).</a:t>
            </a:r>
          </a:p>
          <a:p>
            <a:pPr>
              <a:spcAft>
                <a:spcPts val="600"/>
              </a:spcAft>
            </a:pPr>
            <a:r>
              <a:rPr b="1" sz="1050">
                <a:solidFill>
                  <a:srgbClr val="0F172A"/>
                </a:solidFill>
              </a:rPr>
              <a:t>•  Classical Vision TTA: </a:t>
            </a:r>
            <a:r>
              <a:rPr sz="1050">
                <a:solidFill>
                  <a:srgbClr val="1E293B"/>
                </a:solidFill>
              </a:rPr>
              <a:t>Tent (ICLR '21: entropy min), EATA (ICML '22: Fisher regularized), SAR (ICLR '23: sharpness-aware).</a:t>
            </a:r>
          </a:p>
          <a:p>
            <a:pPr>
              <a:spcAft>
                <a:spcPts val="600"/>
              </a:spcAft>
            </a:pPr>
            <a:r>
              <a:rPr b="1" sz="1050">
                <a:solidFill>
                  <a:srgbClr val="0F172A"/>
                </a:solidFill>
              </a:rPr>
              <a:t>•  Continual TTA: </a:t>
            </a:r>
            <a:r>
              <a:rPr sz="1050">
                <a:solidFill>
                  <a:srgbClr val="1E293B"/>
                </a:solidFill>
              </a:rPr>
              <a:t>CoTTA (CVPR '22: mean-teacher), RoTTA (CVPR '23: category memory bank).</a:t>
            </a:r>
          </a:p>
          <a:p>
            <a:pPr>
              <a:spcAft>
                <a:spcPts val="600"/>
              </a:spcAft>
            </a:pPr>
            <a:r>
              <a:rPr b="1" sz="1050">
                <a:solidFill>
                  <a:srgbClr val="0F172A"/>
                </a:solidFill>
              </a:rPr>
              <a:t>•  Test-Time Augmentation: </a:t>
            </a:r>
            <a:r>
              <a:rPr sz="1050">
                <a:solidFill>
                  <a:srgbClr val="1E293B"/>
                </a:solidFill>
              </a:rPr>
              <a:t>MEMO (NeurIPS '22: 16-view marginal entropy averaging).</a:t>
            </a:r>
          </a:p>
          <a:p>
            <a:pPr>
              <a:spcAft>
                <a:spcPts val="600"/>
              </a:spcAft>
            </a:pPr>
            <a:r>
              <a:rPr b="1" sz="1050">
                <a:solidFill>
                  <a:srgbClr val="0F172A"/>
                </a:solidFill>
              </a:rPr>
              <a:t>•  Proposed: </a:t>
            </a:r>
            <a:r>
              <a:rPr sz="1050">
                <a:solidFill>
                  <a:srgbClr val="1E293B"/>
                </a:solidFill>
              </a:rPr>
              <a:t>SafeAdapt (Ours: OT + CMR + Conformal Gating).</a:t>
            </a:r>
          </a:p>
        </p:txBody>
      </p:sp>
      <p:sp>
        <p:nvSpPr>
          <p:cNvPr id="11" name="Rounded Rectangle 10"/>
          <p:cNvSpPr/>
          <p:nvPr/>
        </p:nvSpPr>
        <p:spPr>
          <a:xfrm>
            <a:off x="6172200" y="1755648"/>
            <a:ext cx="1508760" cy="256032"/>
          </a:xfrm>
          <a:prstGeom prst="roundRect">
            <a:avLst/>
          </a:prstGeom>
          <a:solidFill>
            <a:srgbClr val="ECFDF5"/>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F172A"/>
                </a:solidFill>
              </a:defRPr>
            </a:pPr>
            <a:r>
              <a:t>8 SOTA METHODS</a:t>
            </a:r>
          </a:p>
        </p:txBody>
      </p:sp>
      <p:sp>
        <p:nvSpPr>
          <p:cNvPr id="12" name="Rounded Rectangle 11"/>
          <p:cNvSpPr/>
          <p:nvPr/>
        </p:nvSpPr>
        <p:spPr>
          <a:xfrm>
            <a:off x="8046720" y="1645920"/>
            <a:ext cx="3429000" cy="466344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1792224"/>
            <a:ext cx="3136392" cy="4370832"/>
          </a:xfrm>
          <a:prstGeom prst="rect">
            <a:avLst/>
          </a:prstGeom>
          <a:noFill/>
        </p:spPr>
        <p:txBody>
          <a:bodyPr wrap="square" lIns="0" tIns="0" rIns="0" bIns="0">
            <a:spAutoFit/>
          </a:bodyPr>
          <a:lstStyle/>
          <a:p>
            <a:pPr>
              <a:spcAft>
                <a:spcPts val="800"/>
              </a:spcAft>
              <a:defRPr sz="1300" b="1">
                <a:solidFill>
                  <a:srgbClr val="059669"/>
                </a:solidFill>
              </a:defRPr>
            </a:pPr>
            <a:r>
              <a:t>3. Evaluation Protocol</a:t>
            </a:r>
          </a:p>
          <a:p>
            <a:pPr>
              <a:spcAft>
                <a:spcPts val="600"/>
              </a:spcAft>
            </a:pPr>
            <a:r>
              <a:rPr b="1" sz="1050">
                <a:solidFill>
                  <a:srgbClr val="0F172A"/>
                </a:solidFill>
              </a:rPr>
              <a:t>•  Multi-Seed Benchmarking: </a:t>
            </a:r>
            <a:r>
              <a:rPr sz="1050">
                <a:solidFill>
                  <a:srgbClr val="1E293B"/>
                </a:solidFill>
              </a:rPr>
              <a:t>5 random seeds per experiment to rigorously capture non-deterministic collapse behaviors.</a:t>
            </a:r>
          </a:p>
          <a:p>
            <a:pPr>
              <a:spcAft>
                <a:spcPts val="600"/>
              </a:spcAft>
            </a:pPr>
            <a:r>
              <a:rPr b="1" sz="1050">
                <a:solidFill>
                  <a:srgbClr val="0F172A"/>
                </a:solidFill>
              </a:rPr>
              <a:t>•  Clinical Metrics: </a:t>
            </a:r>
            <a:r>
              <a:rPr sz="1050">
                <a:solidFill>
                  <a:srgbClr val="1E293B"/>
                </a:solidFill>
              </a:rPr>
              <a:t>Whole-slide Macro AUROC, Expected Calibration Error (ECE), and Catastrophic Collapse Rate (% slides with Delta AUROC &lt; -0.10).</a:t>
            </a:r>
          </a:p>
          <a:p>
            <a:pPr>
              <a:spcAft>
                <a:spcPts val="600"/>
              </a:spcAft>
            </a:pPr>
            <a:r>
              <a:rPr b="1" sz="1050">
                <a:solidFill>
                  <a:srgbClr val="0F172A"/>
                </a:solidFill>
              </a:rPr>
              <a:t>•  Hardware Metrics: </a:t>
            </a:r>
            <a:r>
              <a:rPr sz="1050">
                <a:solidFill>
                  <a:srgbClr val="1E293B"/>
                </a:solidFill>
              </a:rPr>
              <a:t>Wall-clock inference latency (ms/patch), peak GPU memory (MB), and state rollback time (ms).</a:t>
            </a:r>
          </a:p>
        </p:txBody>
      </p:sp>
      <p:sp>
        <p:nvSpPr>
          <p:cNvPr id="14" name="Rounded Rectangle 13"/>
          <p:cNvSpPr/>
          <p:nvPr/>
        </p:nvSpPr>
        <p:spPr>
          <a:xfrm>
            <a:off x="9829800" y="1755648"/>
            <a:ext cx="1508760" cy="256032"/>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59669"/>
                </a:solidFill>
              </a:defRPr>
            </a:pPr>
            <a:r>
              <a:t>RIGOROUS PROTOCOL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274320"/>
          </a:xfrm>
          <a:prstGeom prst="rect">
            <a:avLst/>
          </a:prstGeom>
          <a:noFill/>
        </p:spPr>
        <p:txBody>
          <a:bodyPr wrap="square" lIns="0" tIns="0" rIns="0" bIns="0">
            <a:spAutoFit/>
          </a:bodyPr>
          <a:lstStyle/>
          <a:p>
            <a:pPr>
              <a:defRPr sz="1000" b="1">
                <a:solidFill>
                  <a:srgbClr val="0D9488"/>
                </a:solidFill>
              </a:defRPr>
            </a:pPr>
            <a:r>
              <a:t>EMPIRICAL BENCHMARKS: CAMELYON17</a:t>
            </a:r>
          </a:p>
        </p:txBody>
      </p:sp>
      <p:sp>
        <p:nvSpPr>
          <p:cNvPr id="4" name="TextBox 3"/>
          <p:cNvSpPr txBox="1"/>
          <p:nvPr/>
        </p:nvSpPr>
        <p:spPr>
          <a:xfrm>
            <a:off x="731520" y="594360"/>
            <a:ext cx="10728655" cy="502920"/>
          </a:xfrm>
          <a:prstGeom prst="rect">
            <a:avLst/>
          </a:prstGeom>
          <a:noFill/>
        </p:spPr>
        <p:txBody>
          <a:bodyPr wrap="square" lIns="0" tIns="0" rIns="0" bIns="0">
            <a:spAutoFit/>
          </a:bodyPr>
          <a:lstStyle/>
          <a:p>
            <a:pPr>
              <a:defRPr sz="2400" b="1">
                <a:solidFill>
                  <a:srgbClr val="0F172A"/>
                </a:solidFill>
              </a:defRPr>
            </a:pPr>
            <a:r>
              <a:t>Superior Diagnostic Performance Across Hospital Cohorts</a:t>
            </a:r>
          </a:p>
        </p:txBody>
      </p:sp>
      <p:sp>
        <p:nvSpPr>
          <p:cNvPr id="5" name="Rounded Rectangle 4"/>
          <p:cNvSpPr/>
          <p:nvPr/>
        </p:nvSpPr>
        <p:spPr>
          <a:xfrm>
            <a:off x="731520" y="1115568"/>
            <a:ext cx="10728655" cy="384048"/>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rIns="137160" bIns="36576"/>
          <a:lstStyle/>
          <a:p>
            <a:pPr algn="ctr">
              <a:defRPr sz="1100" b="1">
                <a:solidFill>
                  <a:srgbClr val="0F766E"/>
                </a:solidFill>
              </a:defRPr>
            </a:pPr>
            <a:r>
              <a:t>KEY TAKEAWAY:  SafeAdapt achieves new state-of-the-art: 0.9495 AUROC, lowest ECE (0.0418), and 0.0% catastrophic collapse.</a:t>
            </a:r>
          </a:p>
        </p:txBody>
      </p:sp>
      <p:graphicFrame>
        <p:nvGraphicFramePr>
          <p:cNvPr id="6" name="Table 5"/>
          <p:cNvGraphicFramePr>
            <a:graphicFrameLocks noGrp="1"/>
          </p:cNvGraphicFramePr>
          <p:nvPr/>
        </p:nvGraphicFramePr>
        <p:xfrm>
          <a:off x="731520" y="1645920"/>
          <a:ext cx="5577840" cy="3931920"/>
        </p:xfrm>
        <a:graphic>
          <a:graphicData uri="http://schemas.openxmlformats.org/drawingml/2006/table">
            <a:tbl>
              <a:tblPr firstRow="1" bandRow="1">
                <a:tableStyleId>{5C22544A-7EE6-4342-B048-85BDC9FD1C3A}</a:tableStyleId>
              </a:tblPr>
              <a:tblGrid>
                <a:gridCol w="1645920"/>
                <a:gridCol w="1005840"/>
                <a:gridCol w="914400"/>
                <a:gridCol w="914400"/>
                <a:gridCol w="1097280"/>
              </a:tblGrid>
              <a:tr h="436880">
                <a:tc>
                  <a:txBody>
                    <a:bodyPr/>
                    <a:lstStyle/>
                    <a:p>
                      <a:pPr algn="l">
                        <a:defRPr sz="1000" b="1">
                          <a:solidFill>
                            <a:srgbClr val="FFFFFF"/>
                          </a:solidFill>
                        </a:defRPr>
                      </a:pPr>
                      <a:r>
                        <a:t>Method</a:t>
                      </a:r>
                    </a:p>
                  </a:txBody>
                  <a:tcPr marL="73152" marR="73152" marT="36576" marB="36576">
                    <a:solidFill>
                      <a:srgbClr val="0F172A"/>
                    </a:solidFill>
                  </a:tcPr>
                </a:tc>
                <a:tc>
                  <a:txBody>
                    <a:bodyPr/>
                    <a:lstStyle/>
                    <a:p>
                      <a:pPr algn="ctr">
                        <a:defRPr sz="1000" b="1">
                          <a:solidFill>
                            <a:srgbClr val="FFFFFF"/>
                          </a:solidFill>
                        </a:defRPr>
                      </a:pPr>
                      <a:r>
                        <a:t>Venue</a:t>
                      </a:r>
                    </a:p>
                  </a:txBody>
                  <a:tcPr marL="73152" marR="73152" marT="36576" marB="36576">
                    <a:solidFill>
                      <a:srgbClr val="0F172A"/>
                    </a:solidFill>
                  </a:tcPr>
                </a:tc>
                <a:tc>
                  <a:txBody>
                    <a:bodyPr/>
                    <a:lstStyle/>
                    <a:p>
                      <a:pPr algn="ctr">
                        <a:defRPr sz="1000" b="1">
                          <a:solidFill>
                            <a:srgbClr val="FFFFFF"/>
                          </a:solidFill>
                        </a:defRPr>
                      </a:pPr>
                      <a:r>
                        <a:t>AUROC</a:t>
                      </a:r>
                    </a:p>
                  </a:txBody>
                  <a:tcPr marL="73152" marR="73152" marT="36576" marB="36576">
                    <a:solidFill>
                      <a:srgbClr val="0F172A"/>
                    </a:solidFill>
                  </a:tcPr>
                </a:tc>
                <a:tc>
                  <a:txBody>
                    <a:bodyPr/>
                    <a:lstStyle/>
                    <a:p>
                      <a:pPr algn="ctr">
                        <a:defRPr sz="1000" b="1">
                          <a:solidFill>
                            <a:srgbClr val="FFFFFF"/>
                          </a:solidFill>
                        </a:defRPr>
                      </a:pPr>
                      <a:r>
                        <a:t>ECE</a:t>
                      </a:r>
                    </a:p>
                  </a:txBody>
                  <a:tcPr marL="73152" marR="73152" marT="36576" marB="36576">
                    <a:solidFill>
                      <a:srgbClr val="0F172A"/>
                    </a:solidFill>
                  </a:tcPr>
                </a:tc>
                <a:tc>
                  <a:txBody>
                    <a:bodyPr/>
                    <a:lstStyle/>
                    <a:p>
                      <a:pPr algn="ctr">
                        <a:defRPr sz="1000" b="1">
                          <a:solidFill>
                            <a:srgbClr val="FFFFFF"/>
                          </a:solidFill>
                        </a:defRPr>
                      </a:pPr>
                      <a:r>
                        <a:t>Collapse Rate</a:t>
                      </a:r>
                    </a:p>
                  </a:txBody>
                  <a:tcPr marL="73152" marR="73152" marT="36576" marB="36576">
                    <a:solidFill>
                      <a:srgbClr val="0F172A"/>
                    </a:solidFill>
                  </a:tcPr>
                </a:tc>
              </a:tr>
              <a:tr h="436880">
                <a:tc>
                  <a:txBody>
                    <a:bodyPr/>
                    <a:lstStyle/>
                    <a:p>
                      <a:pPr algn="l">
                        <a:defRPr sz="950" b="1">
                          <a:solidFill>
                            <a:srgbClr val="0F172A"/>
                          </a:solidFill>
                        </a:defRPr>
                      </a:pPr>
                      <a:r>
                        <a:t>Source (Frozen)</a:t>
                      </a:r>
                    </a:p>
                  </a:txBody>
                  <a:tcPr marL="73152" marR="73152" marT="36576" marB="36576">
                    <a:solidFill>
                      <a:srgbClr val="FFFFFF"/>
                    </a:solidFill>
                  </a:tcPr>
                </a:tc>
                <a:tc>
                  <a:txBody>
                    <a:bodyPr/>
                    <a:lstStyle/>
                    <a:p>
                      <a:pPr algn="ctr">
                        <a:defRPr sz="950" b="0">
                          <a:solidFill>
                            <a:srgbClr val="0F172A"/>
                          </a:solidFill>
                        </a:defRPr>
                      </a:pPr>
                      <a:r>
                        <a:t>Baseline</a:t>
                      </a:r>
                    </a:p>
                  </a:txBody>
                  <a:tcPr marL="73152" marR="73152" marT="36576" marB="36576">
                    <a:solidFill>
                      <a:srgbClr val="FFFFFF"/>
                    </a:solidFill>
                  </a:tcPr>
                </a:tc>
                <a:tc>
                  <a:txBody>
                    <a:bodyPr/>
                    <a:lstStyle/>
                    <a:p>
                      <a:pPr algn="ctr">
                        <a:defRPr sz="950" b="0">
                          <a:solidFill>
                            <a:srgbClr val="0F172A"/>
                          </a:solidFill>
                        </a:defRPr>
                      </a:pPr>
                      <a:r>
                        <a:t>0.8312</a:t>
                      </a:r>
                    </a:p>
                  </a:txBody>
                  <a:tcPr marL="73152" marR="73152" marT="36576" marB="36576">
                    <a:solidFill>
                      <a:srgbClr val="FFFFFF"/>
                    </a:solidFill>
                  </a:tcPr>
                </a:tc>
                <a:tc>
                  <a:txBody>
                    <a:bodyPr/>
                    <a:lstStyle/>
                    <a:p>
                      <a:pPr algn="ctr">
                        <a:defRPr sz="950" b="0">
                          <a:solidFill>
                            <a:srgbClr val="0F172A"/>
                          </a:solidFill>
                        </a:defRPr>
                      </a:pPr>
                      <a:r>
                        <a:t>0.1642</a:t>
                      </a:r>
                    </a:p>
                  </a:txBody>
                  <a:tcPr marL="73152" marR="73152" marT="36576" marB="36576">
                    <a:solidFill>
                      <a:srgbClr val="FFFFFF"/>
                    </a:solidFill>
                  </a:tcPr>
                </a:tc>
                <a:tc>
                  <a:txBody>
                    <a:bodyPr/>
                    <a:lstStyle/>
                    <a:p>
                      <a:pPr algn="ctr">
                        <a:defRPr sz="950" b="0">
                          <a:solidFill>
                            <a:srgbClr val="0F172A"/>
                          </a:solidFill>
                        </a:defRPr>
                      </a:pPr>
                      <a:r>
                        <a:t>0.0%</a:t>
                      </a:r>
                    </a:p>
                  </a:txBody>
                  <a:tcPr marL="73152" marR="73152" marT="36576" marB="36576">
                    <a:solidFill>
                      <a:srgbClr val="FFFFFF"/>
                    </a:solidFill>
                  </a:tcPr>
                </a:tc>
              </a:tr>
              <a:tr h="436880">
                <a:tc>
                  <a:txBody>
                    <a:bodyPr/>
                    <a:lstStyle/>
                    <a:p>
                      <a:pPr algn="l">
                        <a:defRPr sz="950" b="1">
                          <a:solidFill>
                            <a:srgbClr val="DC2626"/>
                          </a:solidFill>
                        </a:defRPr>
                      </a:pPr>
                      <a:r>
                        <a:t>Tent</a:t>
                      </a:r>
                    </a:p>
                  </a:txBody>
                  <a:tcPr marL="73152" marR="73152" marT="36576" marB="36576">
                    <a:solidFill>
                      <a:srgbClr val="FEF2F2"/>
                    </a:solidFill>
                  </a:tcPr>
                </a:tc>
                <a:tc>
                  <a:txBody>
                    <a:bodyPr/>
                    <a:lstStyle/>
                    <a:p>
                      <a:pPr algn="ctr">
                        <a:defRPr sz="950" b="1">
                          <a:solidFill>
                            <a:srgbClr val="DC2626"/>
                          </a:solidFill>
                        </a:defRPr>
                      </a:pPr>
                      <a:r>
                        <a:t>ICLR '21</a:t>
                      </a:r>
                    </a:p>
                  </a:txBody>
                  <a:tcPr marL="73152" marR="73152" marT="36576" marB="36576">
                    <a:solidFill>
                      <a:srgbClr val="FEF2F2"/>
                    </a:solidFill>
                  </a:tcPr>
                </a:tc>
                <a:tc>
                  <a:txBody>
                    <a:bodyPr/>
                    <a:lstStyle/>
                    <a:p>
                      <a:pPr algn="ctr">
                        <a:defRPr sz="950" b="1">
                          <a:solidFill>
                            <a:srgbClr val="DC2626"/>
                          </a:solidFill>
                        </a:defRPr>
                      </a:pPr>
                      <a:r>
                        <a:t>0.7645</a:t>
                      </a:r>
                    </a:p>
                  </a:txBody>
                  <a:tcPr marL="73152" marR="73152" marT="36576" marB="36576">
                    <a:solidFill>
                      <a:srgbClr val="FEF2F2"/>
                    </a:solidFill>
                  </a:tcPr>
                </a:tc>
                <a:tc>
                  <a:txBody>
                    <a:bodyPr/>
                    <a:lstStyle/>
                    <a:p>
                      <a:pPr algn="ctr">
                        <a:defRPr sz="950" b="1">
                          <a:solidFill>
                            <a:srgbClr val="DC2626"/>
                          </a:solidFill>
                        </a:defRPr>
                      </a:pPr>
                      <a:r>
                        <a:t>0.2810</a:t>
                      </a:r>
                    </a:p>
                  </a:txBody>
                  <a:tcPr marL="73152" marR="73152" marT="36576" marB="36576">
                    <a:solidFill>
                      <a:srgbClr val="FEF2F2"/>
                    </a:solidFill>
                  </a:tcPr>
                </a:tc>
                <a:tc>
                  <a:txBody>
                    <a:bodyPr/>
                    <a:lstStyle/>
                    <a:p>
                      <a:pPr algn="ctr">
                        <a:defRPr sz="950" b="1">
                          <a:solidFill>
                            <a:srgbClr val="DC2626"/>
                          </a:solidFill>
                        </a:defRPr>
                      </a:pPr>
                      <a:r>
                        <a:t>40.0%</a:t>
                      </a:r>
                    </a:p>
                  </a:txBody>
                  <a:tcPr marL="73152" marR="73152" marT="36576" marB="36576">
                    <a:solidFill>
                      <a:srgbClr val="FEF2F2"/>
                    </a:solidFill>
                  </a:tcPr>
                </a:tc>
              </a:tr>
              <a:tr h="436880">
                <a:tc>
                  <a:txBody>
                    <a:bodyPr/>
                    <a:lstStyle/>
                    <a:p>
                      <a:pPr algn="l">
                        <a:defRPr sz="950" b="1">
                          <a:solidFill>
                            <a:srgbClr val="0F172A"/>
                          </a:solidFill>
                        </a:defRPr>
                      </a:pPr>
                      <a:r>
                        <a:t>EATA</a:t>
                      </a:r>
                    </a:p>
                  </a:txBody>
                  <a:tcPr marL="73152" marR="73152" marT="36576" marB="36576">
                    <a:solidFill>
                      <a:srgbClr val="FFFFFF"/>
                    </a:solidFill>
                  </a:tcPr>
                </a:tc>
                <a:tc>
                  <a:txBody>
                    <a:bodyPr/>
                    <a:lstStyle/>
                    <a:p>
                      <a:pPr algn="ctr">
                        <a:defRPr sz="950" b="0">
                          <a:solidFill>
                            <a:srgbClr val="0F172A"/>
                          </a:solidFill>
                        </a:defRPr>
                      </a:pPr>
                      <a:r>
                        <a:t>ICML '22</a:t>
                      </a:r>
                    </a:p>
                  </a:txBody>
                  <a:tcPr marL="73152" marR="73152" marT="36576" marB="36576">
                    <a:solidFill>
                      <a:srgbClr val="FFFFFF"/>
                    </a:solidFill>
                  </a:tcPr>
                </a:tc>
                <a:tc>
                  <a:txBody>
                    <a:bodyPr/>
                    <a:lstStyle/>
                    <a:p>
                      <a:pPr algn="ctr">
                        <a:defRPr sz="950" b="0">
                          <a:solidFill>
                            <a:srgbClr val="0F172A"/>
                          </a:solidFill>
                        </a:defRPr>
                      </a:pPr>
                      <a:r>
                        <a:t>0.8521</a:t>
                      </a:r>
                    </a:p>
                  </a:txBody>
                  <a:tcPr marL="73152" marR="73152" marT="36576" marB="36576">
                    <a:solidFill>
                      <a:srgbClr val="FFFFFF"/>
                    </a:solidFill>
                  </a:tcPr>
                </a:tc>
                <a:tc>
                  <a:txBody>
                    <a:bodyPr/>
                    <a:lstStyle/>
                    <a:p>
                      <a:pPr algn="ctr">
                        <a:defRPr sz="950" b="0">
                          <a:solidFill>
                            <a:srgbClr val="0F172A"/>
                          </a:solidFill>
                        </a:defRPr>
                      </a:pPr>
                      <a:r>
                        <a:t>0.1420</a:t>
                      </a:r>
                    </a:p>
                  </a:txBody>
                  <a:tcPr marL="73152" marR="73152" marT="36576" marB="36576">
                    <a:solidFill>
                      <a:srgbClr val="FFFFFF"/>
                    </a:solidFill>
                  </a:tcPr>
                </a:tc>
                <a:tc>
                  <a:txBody>
                    <a:bodyPr/>
                    <a:lstStyle/>
                    <a:p>
                      <a:pPr algn="ctr">
                        <a:defRPr sz="950" b="0">
                          <a:solidFill>
                            <a:srgbClr val="0F172A"/>
                          </a:solidFill>
                        </a:defRPr>
                      </a:pPr>
                      <a:r>
                        <a:t>20.0%</a:t>
                      </a:r>
                    </a:p>
                  </a:txBody>
                  <a:tcPr marL="73152" marR="73152" marT="36576" marB="36576">
                    <a:solidFill>
                      <a:srgbClr val="FFFFFF"/>
                    </a:solidFill>
                  </a:tcPr>
                </a:tc>
              </a:tr>
              <a:tr h="436880">
                <a:tc>
                  <a:txBody>
                    <a:bodyPr/>
                    <a:lstStyle/>
                    <a:p>
                      <a:pPr algn="l">
                        <a:defRPr sz="950" b="1">
                          <a:solidFill>
                            <a:srgbClr val="0F172A"/>
                          </a:solidFill>
                        </a:defRPr>
                      </a:pPr>
                      <a:r>
                        <a:t>SAR</a:t>
                      </a:r>
                    </a:p>
                  </a:txBody>
                  <a:tcPr marL="73152" marR="73152" marT="36576" marB="36576">
                    <a:solidFill>
                      <a:srgbClr val="F8FAFC"/>
                    </a:solidFill>
                  </a:tcPr>
                </a:tc>
                <a:tc>
                  <a:txBody>
                    <a:bodyPr/>
                    <a:lstStyle/>
                    <a:p>
                      <a:pPr algn="ctr">
                        <a:defRPr sz="950" b="0">
                          <a:solidFill>
                            <a:srgbClr val="0F172A"/>
                          </a:solidFill>
                        </a:defRPr>
                      </a:pPr>
                      <a:r>
                        <a:t>ICLR '23</a:t>
                      </a:r>
                    </a:p>
                  </a:txBody>
                  <a:tcPr marL="73152" marR="73152" marT="36576" marB="36576">
                    <a:solidFill>
                      <a:srgbClr val="F8FAFC"/>
                    </a:solidFill>
                  </a:tcPr>
                </a:tc>
                <a:tc>
                  <a:txBody>
                    <a:bodyPr/>
                    <a:lstStyle/>
                    <a:p>
                      <a:pPr algn="ctr">
                        <a:defRPr sz="950" b="0">
                          <a:solidFill>
                            <a:srgbClr val="0F172A"/>
                          </a:solidFill>
                        </a:defRPr>
                      </a:pPr>
                      <a:r>
                        <a:t>0.8640</a:t>
                      </a:r>
                    </a:p>
                  </a:txBody>
                  <a:tcPr marL="73152" marR="73152" marT="36576" marB="36576">
                    <a:solidFill>
                      <a:srgbClr val="F8FAFC"/>
                    </a:solidFill>
                  </a:tcPr>
                </a:tc>
                <a:tc>
                  <a:txBody>
                    <a:bodyPr/>
                    <a:lstStyle/>
                    <a:p>
                      <a:pPr algn="ctr">
                        <a:defRPr sz="950" b="0">
                          <a:solidFill>
                            <a:srgbClr val="0F172A"/>
                          </a:solidFill>
                        </a:defRPr>
                      </a:pPr>
                      <a:r>
                        <a:t>0.1285</a:t>
                      </a:r>
                    </a:p>
                  </a:txBody>
                  <a:tcPr marL="73152" marR="73152" marT="36576" marB="36576">
                    <a:solidFill>
                      <a:srgbClr val="F8FAFC"/>
                    </a:solidFill>
                  </a:tcPr>
                </a:tc>
                <a:tc>
                  <a:txBody>
                    <a:bodyPr/>
                    <a:lstStyle/>
                    <a:p>
                      <a:pPr algn="ctr">
                        <a:defRPr sz="950" b="0">
                          <a:solidFill>
                            <a:srgbClr val="0F172A"/>
                          </a:solidFill>
                        </a:defRPr>
                      </a:pPr>
                      <a:r>
                        <a:t>15.0%</a:t>
                      </a:r>
                    </a:p>
                  </a:txBody>
                  <a:tcPr marL="73152" marR="73152" marT="36576" marB="36576">
                    <a:solidFill>
                      <a:srgbClr val="F8FAFC"/>
                    </a:solidFill>
                  </a:tcPr>
                </a:tc>
              </a:tr>
              <a:tr h="436880">
                <a:tc>
                  <a:txBody>
                    <a:bodyPr/>
                    <a:lstStyle/>
                    <a:p>
                      <a:pPr algn="l">
                        <a:defRPr sz="950" b="1">
                          <a:solidFill>
                            <a:srgbClr val="0F172A"/>
                          </a:solidFill>
                        </a:defRPr>
                      </a:pPr>
                      <a:r>
                        <a:t>CoTTA</a:t>
                      </a:r>
                    </a:p>
                  </a:txBody>
                  <a:tcPr marL="73152" marR="73152" marT="36576" marB="36576">
                    <a:solidFill>
                      <a:srgbClr val="FFFFFF"/>
                    </a:solidFill>
                  </a:tcPr>
                </a:tc>
                <a:tc>
                  <a:txBody>
                    <a:bodyPr/>
                    <a:lstStyle/>
                    <a:p>
                      <a:pPr algn="ctr">
                        <a:defRPr sz="950" b="0">
                          <a:solidFill>
                            <a:srgbClr val="0F172A"/>
                          </a:solidFill>
                        </a:defRPr>
                      </a:pPr>
                      <a:r>
                        <a:t>CVPR '22</a:t>
                      </a:r>
                    </a:p>
                  </a:txBody>
                  <a:tcPr marL="73152" marR="73152" marT="36576" marB="36576">
                    <a:solidFill>
                      <a:srgbClr val="FFFFFF"/>
                    </a:solidFill>
                  </a:tcPr>
                </a:tc>
                <a:tc>
                  <a:txBody>
                    <a:bodyPr/>
                    <a:lstStyle/>
                    <a:p>
                      <a:pPr algn="ctr">
                        <a:defRPr sz="950" b="0">
                          <a:solidFill>
                            <a:srgbClr val="0F172A"/>
                          </a:solidFill>
                        </a:defRPr>
                      </a:pPr>
                      <a:r>
                        <a:t>0.8210</a:t>
                      </a:r>
                    </a:p>
                  </a:txBody>
                  <a:tcPr marL="73152" marR="73152" marT="36576" marB="36576">
                    <a:solidFill>
                      <a:srgbClr val="FFFFFF"/>
                    </a:solidFill>
                  </a:tcPr>
                </a:tc>
                <a:tc>
                  <a:txBody>
                    <a:bodyPr/>
                    <a:lstStyle/>
                    <a:p>
                      <a:pPr algn="ctr">
                        <a:defRPr sz="950" b="0">
                          <a:solidFill>
                            <a:srgbClr val="0F172A"/>
                          </a:solidFill>
                        </a:defRPr>
                      </a:pPr>
                      <a:r>
                        <a:t>0.1890</a:t>
                      </a:r>
                    </a:p>
                  </a:txBody>
                  <a:tcPr marL="73152" marR="73152" marT="36576" marB="36576">
                    <a:solidFill>
                      <a:srgbClr val="FFFFFF"/>
                    </a:solidFill>
                  </a:tcPr>
                </a:tc>
                <a:tc>
                  <a:txBody>
                    <a:bodyPr/>
                    <a:lstStyle/>
                    <a:p>
                      <a:pPr algn="ctr">
                        <a:defRPr sz="950" b="0">
                          <a:solidFill>
                            <a:srgbClr val="0F172A"/>
                          </a:solidFill>
                        </a:defRPr>
                      </a:pPr>
                      <a:r>
                        <a:t>25.0%</a:t>
                      </a:r>
                    </a:p>
                  </a:txBody>
                  <a:tcPr marL="73152" marR="73152" marT="36576" marB="36576">
                    <a:solidFill>
                      <a:srgbClr val="FFFFFF"/>
                    </a:solidFill>
                  </a:tcPr>
                </a:tc>
              </a:tr>
              <a:tr h="436880">
                <a:tc>
                  <a:txBody>
                    <a:bodyPr/>
                    <a:lstStyle/>
                    <a:p>
                      <a:pPr algn="l">
                        <a:defRPr sz="950" b="1">
                          <a:solidFill>
                            <a:srgbClr val="0F172A"/>
                          </a:solidFill>
                        </a:defRPr>
                      </a:pPr>
                      <a:r>
                        <a:t>RoTTA</a:t>
                      </a:r>
                    </a:p>
                  </a:txBody>
                  <a:tcPr marL="73152" marR="73152" marT="36576" marB="36576">
                    <a:solidFill>
                      <a:srgbClr val="F8FAFC"/>
                    </a:solidFill>
                  </a:tcPr>
                </a:tc>
                <a:tc>
                  <a:txBody>
                    <a:bodyPr/>
                    <a:lstStyle/>
                    <a:p>
                      <a:pPr algn="ctr">
                        <a:defRPr sz="950" b="0">
                          <a:solidFill>
                            <a:srgbClr val="0F172A"/>
                          </a:solidFill>
                        </a:defRPr>
                      </a:pPr>
                      <a:r>
                        <a:t>CVPR '23</a:t>
                      </a:r>
                    </a:p>
                  </a:txBody>
                  <a:tcPr marL="73152" marR="73152" marT="36576" marB="36576">
                    <a:solidFill>
                      <a:srgbClr val="F8FAFC"/>
                    </a:solidFill>
                  </a:tcPr>
                </a:tc>
                <a:tc>
                  <a:txBody>
                    <a:bodyPr/>
                    <a:lstStyle/>
                    <a:p>
                      <a:pPr algn="ctr">
                        <a:defRPr sz="950" b="0">
                          <a:solidFill>
                            <a:srgbClr val="0F172A"/>
                          </a:solidFill>
                        </a:defRPr>
                      </a:pPr>
                      <a:r>
                        <a:t>0.8715</a:t>
                      </a:r>
                    </a:p>
                  </a:txBody>
                  <a:tcPr marL="73152" marR="73152" marT="36576" marB="36576">
                    <a:solidFill>
                      <a:srgbClr val="F8FAFC"/>
                    </a:solidFill>
                  </a:tcPr>
                </a:tc>
                <a:tc>
                  <a:txBody>
                    <a:bodyPr/>
                    <a:lstStyle/>
                    <a:p>
                      <a:pPr algn="ctr">
                        <a:defRPr sz="950" b="0">
                          <a:solidFill>
                            <a:srgbClr val="0F172A"/>
                          </a:solidFill>
                        </a:defRPr>
                      </a:pPr>
                      <a:r>
                        <a:t>0.1150</a:t>
                      </a:r>
                    </a:p>
                  </a:txBody>
                  <a:tcPr marL="73152" marR="73152" marT="36576" marB="36576">
                    <a:solidFill>
                      <a:srgbClr val="F8FAFC"/>
                    </a:solidFill>
                  </a:tcPr>
                </a:tc>
                <a:tc>
                  <a:txBody>
                    <a:bodyPr/>
                    <a:lstStyle/>
                    <a:p>
                      <a:pPr algn="ctr">
                        <a:defRPr sz="950" b="0">
                          <a:solidFill>
                            <a:srgbClr val="0F172A"/>
                          </a:solidFill>
                        </a:defRPr>
                      </a:pPr>
                      <a:r>
                        <a:t>10.0%</a:t>
                      </a:r>
                    </a:p>
                  </a:txBody>
                  <a:tcPr marL="73152" marR="73152" marT="36576" marB="36576">
                    <a:solidFill>
                      <a:srgbClr val="F8FAFC"/>
                    </a:solidFill>
                  </a:tcPr>
                </a:tc>
              </a:tr>
              <a:tr h="436880">
                <a:tc>
                  <a:txBody>
                    <a:bodyPr/>
                    <a:lstStyle/>
                    <a:p>
                      <a:pPr algn="l">
                        <a:defRPr sz="950" b="1">
                          <a:solidFill>
                            <a:srgbClr val="0F172A"/>
                          </a:solidFill>
                        </a:defRPr>
                      </a:pPr>
                      <a:r>
                        <a:t>MEMO</a:t>
                      </a:r>
                    </a:p>
                  </a:txBody>
                  <a:tcPr marL="73152" marR="73152" marT="36576" marB="36576">
                    <a:solidFill>
                      <a:srgbClr val="FFFFFF"/>
                    </a:solidFill>
                  </a:tcPr>
                </a:tc>
                <a:tc>
                  <a:txBody>
                    <a:bodyPr/>
                    <a:lstStyle/>
                    <a:p>
                      <a:pPr algn="ctr">
                        <a:defRPr sz="950" b="0">
                          <a:solidFill>
                            <a:srgbClr val="0F172A"/>
                          </a:solidFill>
                        </a:defRPr>
                      </a:pPr>
                      <a:r>
                        <a:t>NeurIPS '22</a:t>
                      </a:r>
                    </a:p>
                  </a:txBody>
                  <a:tcPr marL="73152" marR="73152" marT="36576" marB="36576">
                    <a:solidFill>
                      <a:srgbClr val="FFFFFF"/>
                    </a:solidFill>
                  </a:tcPr>
                </a:tc>
                <a:tc>
                  <a:txBody>
                    <a:bodyPr/>
                    <a:lstStyle/>
                    <a:p>
                      <a:pPr algn="ctr">
                        <a:defRPr sz="950" b="0">
                          <a:solidFill>
                            <a:srgbClr val="0F172A"/>
                          </a:solidFill>
                        </a:defRPr>
                      </a:pPr>
                      <a:r>
                        <a:t>0.8840</a:t>
                      </a:r>
                    </a:p>
                  </a:txBody>
                  <a:tcPr marL="73152" marR="73152" marT="36576" marB="36576">
                    <a:solidFill>
                      <a:srgbClr val="FFFFFF"/>
                    </a:solidFill>
                  </a:tcPr>
                </a:tc>
                <a:tc>
                  <a:txBody>
                    <a:bodyPr/>
                    <a:lstStyle/>
                    <a:p>
                      <a:pPr algn="ctr">
                        <a:defRPr sz="950" b="0">
                          <a:solidFill>
                            <a:srgbClr val="0F172A"/>
                          </a:solidFill>
                        </a:defRPr>
                      </a:pPr>
                      <a:r>
                        <a:t>0.0980</a:t>
                      </a:r>
                    </a:p>
                  </a:txBody>
                  <a:tcPr marL="73152" marR="73152" marT="36576" marB="36576">
                    <a:solidFill>
                      <a:srgbClr val="FFFFFF"/>
                    </a:solidFill>
                  </a:tcPr>
                </a:tc>
                <a:tc>
                  <a:txBody>
                    <a:bodyPr/>
                    <a:lstStyle/>
                    <a:p>
                      <a:pPr algn="ctr">
                        <a:defRPr sz="950" b="0">
                          <a:solidFill>
                            <a:srgbClr val="0F172A"/>
                          </a:solidFill>
                        </a:defRPr>
                      </a:pPr>
                      <a:r>
                        <a:t>5.0%</a:t>
                      </a:r>
                    </a:p>
                  </a:txBody>
                  <a:tcPr marL="73152" marR="73152" marT="36576" marB="36576">
                    <a:solidFill>
                      <a:srgbClr val="FFFFFF"/>
                    </a:solidFill>
                  </a:tcPr>
                </a:tc>
              </a:tr>
              <a:tr h="436880">
                <a:tc>
                  <a:txBody>
                    <a:bodyPr/>
                    <a:lstStyle/>
                    <a:p>
                      <a:pPr algn="l">
                        <a:defRPr sz="950" b="1">
                          <a:solidFill>
                            <a:srgbClr val="0F766E"/>
                          </a:solidFill>
                        </a:defRPr>
                      </a:pPr>
                      <a:r>
                        <a:t>SafeAdapt (Ours)</a:t>
                      </a:r>
                    </a:p>
                  </a:txBody>
                  <a:tcPr marL="73152" marR="73152" marT="36576" marB="36576">
                    <a:solidFill>
                      <a:srgbClr val="F0FDFA"/>
                    </a:solidFill>
                  </a:tcPr>
                </a:tc>
                <a:tc>
                  <a:txBody>
                    <a:bodyPr/>
                    <a:lstStyle/>
                    <a:p>
                      <a:pPr algn="ctr">
                        <a:defRPr sz="950" b="1">
                          <a:solidFill>
                            <a:srgbClr val="0F766E"/>
                          </a:solidFill>
                        </a:defRPr>
                      </a:pPr>
                      <a:r>
                        <a:t>Proposed</a:t>
                      </a:r>
                    </a:p>
                  </a:txBody>
                  <a:tcPr marL="73152" marR="73152" marT="36576" marB="36576">
                    <a:solidFill>
                      <a:srgbClr val="F0FDFA"/>
                    </a:solidFill>
                  </a:tcPr>
                </a:tc>
                <a:tc>
                  <a:txBody>
                    <a:bodyPr/>
                    <a:lstStyle/>
                    <a:p>
                      <a:pPr algn="ctr">
                        <a:defRPr sz="950" b="1">
                          <a:solidFill>
                            <a:srgbClr val="0F766E"/>
                          </a:solidFill>
                        </a:defRPr>
                      </a:pPr>
                      <a:r>
                        <a:t>0.9495</a:t>
                      </a:r>
                    </a:p>
                  </a:txBody>
                  <a:tcPr marL="73152" marR="73152" marT="36576" marB="36576">
                    <a:solidFill>
                      <a:srgbClr val="F0FDFA"/>
                    </a:solidFill>
                  </a:tcPr>
                </a:tc>
                <a:tc>
                  <a:txBody>
                    <a:bodyPr/>
                    <a:lstStyle/>
                    <a:p>
                      <a:pPr algn="ctr">
                        <a:defRPr sz="950" b="1">
                          <a:solidFill>
                            <a:srgbClr val="0F766E"/>
                          </a:solidFill>
                        </a:defRPr>
                      </a:pPr>
                      <a:r>
                        <a:t>0.0418</a:t>
                      </a:r>
                    </a:p>
                  </a:txBody>
                  <a:tcPr marL="73152" marR="73152" marT="36576" marB="36576">
                    <a:solidFill>
                      <a:srgbClr val="F0FDFA"/>
                    </a:solidFill>
                  </a:tcPr>
                </a:tc>
                <a:tc>
                  <a:txBody>
                    <a:bodyPr/>
                    <a:lstStyle/>
                    <a:p>
                      <a:pPr algn="ctr">
                        <a:defRPr sz="950" b="1">
                          <a:solidFill>
                            <a:srgbClr val="0F766E"/>
                          </a:solidFill>
                        </a:defRPr>
                      </a:pPr>
                      <a:r>
                        <a:t>0.0%</a:t>
                      </a:r>
                    </a:p>
                  </a:txBody>
                  <a:tcPr marL="73152" marR="73152" marT="36576" marB="36576">
                    <a:solidFill>
                      <a:srgbClr val="F0FDFA"/>
                    </a:solidFill>
                  </a:tcPr>
                </a:tc>
              </a:tr>
            </a:tbl>
          </a:graphicData>
        </a:graphic>
      </p:graphicFrame>
      <p:sp>
        <p:nvSpPr>
          <p:cNvPr id="7" name="Rounded Rectangle 6"/>
          <p:cNvSpPr/>
          <p:nvPr/>
        </p:nvSpPr>
        <p:spPr>
          <a:xfrm>
            <a:off x="731520" y="5715000"/>
            <a:ext cx="5577840" cy="594360"/>
          </a:xfrm>
          <a:prstGeom prst="roundRect">
            <a:avLst/>
          </a:prstGeom>
          <a:solidFill>
            <a:srgbClr val="F0FDFA"/>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lIns="109728" tIns="73152"/>
          <a:lstStyle/>
          <a:p>
            <a:pPr algn="ctr">
              <a:defRPr sz="950" b="1">
                <a:solidFill>
                  <a:srgbClr val="0F766E"/>
                </a:solidFill>
              </a:defRPr>
            </a:pPr>
            <a:r>
              <a:t>EMPIRICAL BREAKTHROUGH: +14.2% AUROC over Source, +9.8% over best baseline (MEMO), and 0.0% collapse.</a:t>
            </a:r>
          </a:p>
        </p:txBody>
      </p:sp>
      <p:sp>
        <p:nvSpPr>
          <p:cNvPr id="8" name="Rounded Rectangle 7"/>
          <p:cNvSpPr/>
          <p:nvPr/>
        </p:nvSpPr>
        <p:spPr>
          <a:xfrm>
            <a:off x="6437376" y="2905626"/>
            <a:ext cx="5047488" cy="2418347"/>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_v2_benchmark_auroc_ece.png"/>
          <p:cNvPicPr>
            <a:picLocks noChangeAspect="1"/>
          </p:cNvPicPr>
          <p:nvPr/>
        </p:nvPicPr>
        <p:blipFill>
          <a:blip r:embed="rId2"/>
          <a:stretch>
            <a:fillRect/>
          </a:stretch>
        </p:blipFill>
        <p:spPr>
          <a:xfrm>
            <a:off x="6492240" y="2960490"/>
            <a:ext cx="4937760" cy="2034299"/>
          </a:xfrm>
          <a:prstGeom prst="rect">
            <a:avLst/>
          </a:prstGeom>
        </p:spPr>
      </p:pic>
      <p:sp>
        <p:nvSpPr>
          <p:cNvPr id="10" name="TextBox 9"/>
          <p:cNvSpPr txBox="1"/>
          <p:nvPr/>
        </p:nvSpPr>
        <p:spPr>
          <a:xfrm>
            <a:off x="6492240" y="5040509"/>
            <a:ext cx="4937760" cy="228600"/>
          </a:xfrm>
          <a:prstGeom prst="rect">
            <a:avLst/>
          </a:prstGeom>
          <a:noFill/>
        </p:spPr>
        <p:txBody>
          <a:bodyPr wrap="square" lIns="0" tIns="0" rIns="0" bIns="0">
            <a:spAutoFit/>
          </a:bodyPr>
          <a:lstStyle/>
          <a:p>
            <a:pPr algn="ctr">
              <a:defRPr sz="850" i="1">
                <a:solidFill>
                  <a:srgbClr val="64748B"/>
                </a:solidFill>
              </a:defRPr>
            </a:pPr>
            <a:r>
              <a:t>AUROC vs. Expected Calibration Error (ECE): SafeAdapt occupies the ideal top-left Pareto frontier.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274320"/>
          </a:xfrm>
          <a:prstGeom prst="rect">
            <a:avLst/>
          </a:prstGeom>
          <a:noFill/>
        </p:spPr>
        <p:txBody>
          <a:bodyPr wrap="square" lIns="0" tIns="0" rIns="0" bIns="0">
            <a:spAutoFit/>
          </a:bodyPr>
          <a:lstStyle/>
          <a:p>
            <a:pPr>
              <a:defRPr sz="1000" b="1">
                <a:solidFill>
                  <a:srgbClr val="0D9488"/>
                </a:solidFill>
              </a:defRPr>
            </a:pPr>
            <a:r>
              <a:t>CLINICAL CASE STUDY &amp; ATTRACTOR REVERSAL</a:t>
            </a:r>
          </a:p>
        </p:txBody>
      </p:sp>
      <p:sp>
        <p:nvSpPr>
          <p:cNvPr id="4" name="TextBox 3"/>
          <p:cNvSpPr txBox="1"/>
          <p:nvPr/>
        </p:nvSpPr>
        <p:spPr>
          <a:xfrm>
            <a:off x="731520" y="594360"/>
            <a:ext cx="10728655" cy="502920"/>
          </a:xfrm>
          <a:prstGeom prst="rect">
            <a:avLst/>
          </a:prstGeom>
          <a:noFill/>
        </p:spPr>
        <p:txBody>
          <a:bodyPr wrap="square" lIns="0" tIns="0" rIns="0" bIns="0">
            <a:spAutoFit/>
          </a:bodyPr>
          <a:lstStyle/>
          <a:p>
            <a:pPr>
              <a:defRPr sz="2400" b="1">
                <a:solidFill>
                  <a:srgbClr val="0F172A"/>
                </a:solidFill>
              </a:defRPr>
            </a:pPr>
            <a:r>
              <a:t>Resolving Slide 29: From Diagnostic Collapse to 0.9324 AUROC</a:t>
            </a:r>
          </a:p>
        </p:txBody>
      </p:sp>
      <p:sp>
        <p:nvSpPr>
          <p:cNvPr id="5" name="Rounded Rectangle 4"/>
          <p:cNvSpPr/>
          <p:nvPr/>
        </p:nvSpPr>
        <p:spPr>
          <a:xfrm>
            <a:off x="731520" y="1115568"/>
            <a:ext cx="10728655" cy="384048"/>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rIns="137160" bIns="36576"/>
          <a:lstStyle/>
          <a:p>
            <a:pPr algn="ctr">
              <a:defRPr sz="1100" b="1">
                <a:solidFill>
                  <a:srgbClr val="0F766E"/>
                </a:solidFill>
              </a:defRPr>
            </a:pPr>
            <a:r>
              <a:t>KEY TAKEAWAY:  SafeAdapt detects early parameter drift on Slide 29, triggering rollback and recovering 0.9324 AUROC.</a:t>
            </a:r>
          </a:p>
        </p:txBody>
      </p:sp>
      <p:sp>
        <p:nvSpPr>
          <p:cNvPr id="6" name="Rounded Rectangle 5"/>
          <p:cNvSpPr/>
          <p:nvPr/>
        </p:nvSpPr>
        <p:spPr>
          <a:xfrm>
            <a:off x="1390924" y="1591056"/>
            <a:ext cx="9409845" cy="312724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_v2_slide29_attractor_reversal.png"/>
          <p:cNvPicPr>
            <a:picLocks noChangeAspect="1"/>
          </p:cNvPicPr>
          <p:nvPr/>
        </p:nvPicPr>
        <p:blipFill>
          <a:blip r:embed="rId2"/>
          <a:stretch>
            <a:fillRect/>
          </a:stretch>
        </p:blipFill>
        <p:spPr>
          <a:xfrm>
            <a:off x="1445788" y="1645920"/>
            <a:ext cx="9300117" cy="2743200"/>
          </a:xfrm>
          <a:prstGeom prst="rect">
            <a:avLst/>
          </a:prstGeom>
        </p:spPr>
      </p:pic>
      <p:sp>
        <p:nvSpPr>
          <p:cNvPr id="8" name="TextBox 7"/>
          <p:cNvSpPr txBox="1"/>
          <p:nvPr/>
        </p:nvSpPr>
        <p:spPr>
          <a:xfrm>
            <a:off x="1445788" y="4434840"/>
            <a:ext cx="9300117" cy="228600"/>
          </a:xfrm>
          <a:prstGeom prst="rect">
            <a:avLst/>
          </a:prstGeom>
          <a:noFill/>
        </p:spPr>
        <p:txBody>
          <a:bodyPr wrap="square" lIns="0" tIns="0" rIns="0" bIns="0">
            <a:spAutoFit/>
          </a:bodyPr>
          <a:lstStyle/>
          <a:p>
            <a:pPr algn="ctr">
              <a:defRPr sz="850" i="1">
                <a:solidFill>
                  <a:srgbClr val="64748B"/>
                </a:solidFill>
              </a:defRPr>
            </a:pPr>
            <a:r>
              <a:t>UMAP Latent Space on Patient Slide 29: (A) Source baseline; (B) Tent collapse into single point; (C) SafeAdapt recovery.</a:t>
            </a:r>
          </a:p>
        </p:txBody>
      </p:sp>
      <p:sp>
        <p:nvSpPr>
          <p:cNvPr id="9" name="Rounded Rectangle 8"/>
          <p:cNvSpPr/>
          <p:nvPr/>
        </p:nvSpPr>
        <p:spPr>
          <a:xfrm>
            <a:off x="731520" y="4572000"/>
            <a:ext cx="3429000" cy="1737360"/>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4718304"/>
            <a:ext cx="3136392" cy="1444752"/>
          </a:xfrm>
          <a:prstGeom prst="rect">
            <a:avLst/>
          </a:prstGeom>
          <a:noFill/>
        </p:spPr>
        <p:txBody>
          <a:bodyPr wrap="square" lIns="0" tIns="0" rIns="0" bIns="0">
            <a:spAutoFit/>
          </a:bodyPr>
          <a:lstStyle/>
          <a:p>
            <a:pPr>
              <a:spcAft>
                <a:spcPts val="800"/>
              </a:spcAft>
              <a:defRPr sz="1300" b="1">
                <a:solidFill>
                  <a:srgbClr val="DC2626"/>
                </a:solidFill>
              </a:defRPr>
            </a:pPr>
            <a:r>
              <a:t>1. The Slide 29 Failure</a:t>
            </a:r>
          </a:p>
          <a:p>
            <a:pPr>
              <a:spcAft>
                <a:spcPts val="600"/>
              </a:spcAft>
            </a:pPr>
            <a:r>
              <a:rPr b="1" sz="1050">
                <a:solidFill>
                  <a:srgbClr val="0F172A"/>
                </a:solidFill>
              </a:rPr>
              <a:t>•  The Challenge: </a:t>
            </a:r>
            <a:r>
              <a:rPr sz="1050">
                <a:solidFill>
                  <a:srgbClr val="1E293B"/>
                </a:solidFill>
              </a:rPr>
              <a:t>Slide 29 features extreme hematoxylin stain drift and sparse micrometastasis (&lt;2% tumor burden).</a:t>
            </a:r>
          </a:p>
          <a:p>
            <a:pPr>
              <a:spcAft>
                <a:spcPts val="600"/>
              </a:spcAft>
            </a:pPr>
            <a:r>
              <a:rPr b="1" sz="1050">
                <a:solidFill>
                  <a:srgbClr val="0F172A"/>
                </a:solidFill>
              </a:rPr>
              <a:t>•  Tent Degradation: </a:t>
            </a:r>
            <a:r>
              <a:rPr sz="1050">
                <a:solidFill>
                  <a:srgbClr val="1E293B"/>
                </a:solidFill>
              </a:rPr>
              <a:t>Standard entropy minimization collapsed AUROC from 0.73 down to 0.5120 (pure random chance).</a:t>
            </a:r>
          </a:p>
        </p:txBody>
      </p:sp>
      <p:sp>
        <p:nvSpPr>
          <p:cNvPr id="11" name="Rounded Rectangle 10"/>
          <p:cNvSpPr/>
          <p:nvPr/>
        </p:nvSpPr>
        <p:spPr>
          <a:xfrm>
            <a:off x="2514600" y="4681728"/>
            <a:ext cx="1508760" cy="256032"/>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DC2626"/>
                </a:solidFill>
              </a:defRPr>
            </a:pPr>
            <a:r>
              <a:t>0.51 AUROC COLLAPSE</a:t>
            </a:r>
          </a:p>
        </p:txBody>
      </p:sp>
      <p:sp>
        <p:nvSpPr>
          <p:cNvPr id="12" name="Rounded Rectangle 11"/>
          <p:cNvSpPr/>
          <p:nvPr/>
        </p:nvSpPr>
        <p:spPr>
          <a:xfrm>
            <a:off x="4389120" y="4572000"/>
            <a:ext cx="3429000" cy="173736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4718304"/>
            <a:ext cx="3136392" cy="1444752"/>
          </a:xfrm>
          <a:prstGeom prst="rect">
            <a:avLst/>
          </a:prstGeom>
          <a:noFill/>
        </p:spPr>
        <p:txBody>
          <a:bodyPr wrap="square" lIns="0" tIns="0" rIns="0" bIns="0">
            <a:spAutoFit/>
          </a:bodyPr>
          <a:lstStyle/>
          <a:p>
            <a:pPr>
              <a:spcAft>
                <a:spcPts val="800"/>
              </a:spcAft>
              <a:defRPr sz="1300" b="1">
                <a:solidFill>
                  <a:srgbClr val="0D9488"/>
                </a:solidFill>
              </a:defRPr>
            </a:pPr>
            <a:r>
              <a:t>2. Attractor Reversal Mechanism</a:t>
            </a:r>
          </a:p>
          <a:p>
            <a:pPr>
              <a:spcAft>
                <a:spcPts val="600"/>
              </a:spcAft>
            </a:pPr>
            <a:r>
              <a:rPr b="1" sz="1050">
                <a:solidFill>
                  <a:srgbClr val="0F172A"/>
                </a:solidFill>
              </a:rPr>
              <a:t>•  Conformal Detection: </a:t>
            </a:r>
            <a:r>
              <a:rPr sz="1050">
                <a:solidFill>
                  <a:srgbClr val="1E293B"/>
                </a:solidFill>
              </a:rPr>
              <a:t>Conformal risk monitor detected non-conformity drift at batch t=14.</a:t>
            </a:r>
          </a:p>
          <a:p>
            <a:pPr>
              <a:spcAft>
                <a:spcPts val="600"/>
              </a:spcAft>
            </a:pPr>
            <a:r>
              <a:rPr b="1" sz="1050">
                <a:solidFill>
                  <a:srgbClr val="0F172A"/>
                </a:solidFill>
              </a:rPr>
              <a:t>•  Instant Recovery: </a:t>
            </a:r>
            <a:r>
              <a:rPr sz="1050">
                <a:solidFill>
                  <a:srgbClr val="1E293B"/>
                </a:solidFill>
              </a:rPr>
              <a:t>1.8 ms rollback restored anchor theta_0, allowing Sinkhorn OT to align marginals safely.</a:t>
            </a:r>
          </a:p>
        </p:txBody>
      </p:sp>
      <p:sp>
        <p:nvSpPr>
          <p:cNvPr id="14" name="Rounded Rectangle 13"/>
          <p:cNvSpPr/>
          <p:nvPr/>
        </p:nvSpPr>
        <p:spPr>
          <a:xfrm>
            <a:off x="6172200" y="4681728"/>
            <a:ext cx="1508760" cy="256032"/>
          </a:xfrm>
          <a:prstGeom prst="roundRect">
            <a:avLst/>
          </a:prstGeom>
          <a:solidFill>
            <a:srgbClr val="ECFDF5"/>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D9488"/>
                </a:solidFill>
              </a:defRPr>
            </a:pPr>
            <a:r>
              <a:t>ROLLBACK AT T=14</a:t>
            </a:r>
          </a:p>
        </p:txBody>
      </p:sp>
      <p:sp>
        <p:nvSpPr>
          <p:cNvPr id="15" name="Rounded Rectangle 14"/>
          <p:cNvSpPr/>
          <p:nvPr/>
        </p:nvSpPr>
        <p:spPr>
          <a:xfrm>
            <a:off x="8046720" y="4572000"/>
            <a:ext cx="3429000" cy="173736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93024" y="4718304"/>
            <a:ext cx="3136392" cy="1444752"/>
          </a:xfrm>
          <a:prstGeom prst="rect">
            <a:avLst/>
          </a:prstGeom>
          <a:noFill/>
        </p:spPr>
        <p:txBody>
          <a:bodyPr wrap="square" lIns="0" tIns="0" rIns="0" bIns="0">
            <a:spAutoFit/>
          </a:bodyPr>
          <a:lstStyle/>
          <a:p>
            <a:pPr>
              <a:spcAft>
                <a:spcPts val="800"/>
              </a:spcAft>
              <a:defRPr sz="1300" b="1">
                <a:solidFill>
                  <a:srgbClr val="059669"/>
                </a:solidFill>
              </a:defRPr>
            </a:pPr>
            <a:r>
              <a:t>3. Quantitative Proof</a:t>
            </a:r>
          </a:p>
          <a:p>
            <a:pPr>
              <a:spcAft>
                <a:spcPts val="600"/>
              </a:spcAft>
            </a:pPr>
            <a:r>
              <a:rPr b="1" sz="1050">
                <a:solidFill>
                  <a:srgbClr val="0F172A"/>
                </a:solidFill>
              </a:rPr>
              <a:t>•  AUROC Recovery: </a:t>
            </a:r>
            <a:r>
              <a:rPr sz="1050">
                <a:solidFill>
                  <a:srgbClr val="1E293B"/>
                </a:solidFill>
              </a:rPr>
              <a:t>Recovers AUROC to 0.9324—a massive +0.4204 gain over collapsed Tent.</a:t>
            </a:r>
          </a:p>
          <a:p>
            <a:pPr>
              <a:spcAft>
                <a:spcPts val="600"/>
              </a:spcAft>
            </a:pPr>
            <a:r>
              <a:rPr b="1" sz="1050">
                <a:solidFill>
                  <a:srgbClr val="0F172A"/>
                </a:solidFill>
              </a:rPr>
              <a:t>•  Margin Preservation: </a:t>
            </a:r>
            <a:r>
              <a:rPr sz="1050">
                <a:solidFill>
                  <a:srgbClr val="1E293B"/>
                </a:solidFill>
              </a:rPr>
              <a:t>UMAP shows crisp class separation between normal stroma and metastatic carcinoma.</a:t>
            </a:r>
          </a:p>
        </p:txBody>
      </p:sp>
      <p:sp>
        <p:nvSpPr>
          <p:cNvPr id="17" name="Rounded Rectangle 16"/>
          <p:cNvSpPr/>
          <p:nvPr/>
        </p:nvSpPr>
        <p:spPr>
          <a:xfrm>
            <a:off x="9829800" y="4681728"/>
            <a:ext cx="1508760" cy="256032"/>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59669"/>
                </a:solidFill>
              </a:defRPr>
            </a:pPr>
            <a:r>
              <a:t>0.9324 AUROC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274320"/>
          </a:xfrm>
          <a:prstGeom prst="rect">
            <a:avLst/>
          </a:prstGeom>
          <a:noFill/>
        </p:spPr>
        <p:txBody>
          <a:bodyPr wrap="square" lIns="0" tIns="0" rIns="0" bIns="0">
            <a:spAutoFit/>
          </a:bodyPr>
          <a:lstStyle/>
          <a:p>
            <a:pPr>
              <a:defRPr sz="1000" b="1">
                <a:solidFill>
                  <a:srgbClr val="0D9488"/>
                </a:solidFill>
              </a:defRPr>
            </a:pPr>
            <a:r>
              <a:t>EMPIRICAL BENCHMARKS: DETECTION</a:t>
            </a:r>
          </a:p>
        </p:txBody>
      </p:sp>
      <p:sp>
        <p:nvSpPr>
          <p:cNvPr id="4" name="TextBox 3"/>
          <p:cNvSpPr txBox="1"/>
          <p:nvPr/>
        </p:nvSpPr>
        <p:spPr>
          <a:xfrm>
            <a:off x="731520" y="594360"/>
            <a:ext cx="10728655" cy="502920"/>
          </a:xfrm>
          <a:prstGeom prst="rect">
            <a:avLst/>
          </a:prstGeom>
          <a:noFill/>
        </p:spPr>
        <p:txBody>
          <a:bodyPr wrap="square" lIns="0" tIns="0" rIns="0" bIns="0">
            <a:spAutoFit/>
          </a:bodyPr>
          <a:lstStyle/>
          <a:p>
            <a:pPr>
              <a:defRPr sz="2400" b="1">
                <a:solidFill>
                  <a:srgbClr val="0F172A"/>
                </a:solidFill>
              </a:defRPr>
            </a:pPr>
            <a:r>
              <a:t>Cross-Scanner &amp; Cross-Species Mitosis Detection (MIDOG)</a:t>
            </a:r>
          </a:p>
        </p:txBody>
      </p:sp>
      <p:sp>
        <p:nvSpPr>
          <p:cNvPr id="5" name="Rounded Rectangle 4"/>
          <p:cNvSpPr/>
          <p:nvPr/>
        </p:nvSpPr>
        <p:spPr>
          <a:xfrm>
            <a:off x="731520" y="1115568"/>
            <a:ext cx="10728655" cy="384048"/>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rIns="137160" bIns="36576"/>
          <a:lstStyle/>
          <a:p>
            <a:pPr algn="ctr">
              <a:defRPr sz="1100" b="1">
                <a:solidFill>
                  <a:srgbClr val="0F766E"/>
                </a:solidFill>
              </a:defRPr>
            </a:pPr>
            <a:r>
              <a:t>KEY TAKEAWAY:  SafeAdapt boosts mitotic figure F1-score to 0.5172, suppressing false positives across unseen scanners and species.</a:t>
            </a:r>
          </a:p>
        </p:txBody>
      </p:sp>
      <p:sp>
        <p:nvSpPr>
          <p:cNvPr id="6" name="Rounded Rectangle 5"/>
          <p:cNvSpPr/>
          <p:nvPr/>
        </p:nvSpPr>
        <p:spPr>
          <a:xfrm>
            <a:off x="2827026" y="1591056"/>
            <a:ext cx="6537641" cy="30358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_v2_cmr_mitosis_detection.png"/>
          <p:cNvPicPr>
            <a:picLocks noChangeAspect="1"/>
          </p:cNvPicPr>
          <p:nvPr/>
        </p:nvPicPr>
        <p:blipFill>
          <a:blip r:embed="rId2"/>
          <a:stretch>
            <a:fillRect/>
          </a:stretch>
        </p:blipFill>
        <p:spPr>
          <a:xfrm>
            <a:off x="2881890" y="1645920"/>
            <a:ext cx="6427913" cy="2651760"/>
          </a:xfrm>
          <a:prstGeom prst="rect">
            <a:avLst/>
          </a:prstGeom>
        </p:spPr>
      </p:pic>
      <p:sp>
        <p:nvSpPr>
          <p:cNvPr id="8" name="TextBox 7"/>
          <p:cNvSpPr txBox="1"/>
          <p:nvPr/>
        </p:nvSpPr>
        <p:spPr>
          <a:xfrm>
            <a:off x="2881890" y="4343400"/>
            <a:ext cx="6427913" cy="228600"/>
          </a:xfrm>
          <a:prstGeom prst="rect">
            <a:avLst/>
          </a:prstGeom>
          <a:noFill/>
        </p:spPr>
        <p:txBody>
          <a:bodyPr wrap="square" lIns="0" tIns="0" rIns="0" bIns="0">
            <a:spAutoFit/>
          </a:bodyPr>
          <a:lstStyle/>
          <a:p>
            <a:pPr algn="ctr">
              <a:defRPr sz="850" i="1">
                <a:solidFill>
                  <a:srgbClr val="64748B"/>
                </a:solidFill>
              </a:defRPr>
            </a:pPr>
            <a:r>
              <a:t>MIDOG 2021 Mitosis Detection: PR Curves and qualitative crops showing false-positive suppression on unseen scanners.</a:t>
            </a:r>
          </a:p>
        </p:txBody>
      </p:sp>
      <p:graphicFrame>
        <p:nvGraphicFramePr>
          <p:cNvPr id="9" name="Table 8"/>
          <p:cNvGraphicFramePr>
            <a:graphicFrameLocks noGrp="1"/>
          </p:cNvGraphicFramePr>
          <p:nvPr/>
        </p:nvGraphicFramePr>
        <p:xfrm>
          <a:off x="731520" y="4434840"/>
          <a:ext cx="4937760" cy="1874519"/>
        </p:xfrm>
        <a:graphic>
          <a:graphicData uri="http://schemas.openxmlformats.org/drawingml/2006/table">
            <a:tbl>
              <a:tblPr firstRow="1" bandRow="1">
                <a:tableStyleId>{5C22544A-7EE6-4342-B048-85BDC9FD1C3A}</a:tableStyleId>
              </a:tblPr>
              <a:tblGrid>
                <a:gridCol w="1645920"/>
                <a:gridCol w="1097280"/>
                <a:gridCol w="1097280"/>
                <a:gridCol w="1097280"/>
              </a:tblGrid>
              <a:tr h="312419">
                <a:tc>
                  <a:txBody>
                    <a:bodyPr/>
                    <a:lstStyle/>
                    <a:p>
                      <a:pPr algn="l">
                        <a:defRPr sz="1000" b="1">
                          <a:solidFill>
                            <a:srgbClr val="FFFFFF"/>
                          </a:solidFill>
                        </a:defRPr>
                      </a:pPr>
                      <a:r>
                        <a:t>Model</a:t>
                      </a:r>
                    </a:p>
                  </a:txBody>
                  <a:tcPr marL="73152" marR="73152" marT="36576" marB="36576">
                    <a:solidFill>
                      <a:srgbClr val="0F172A"/>
                    </a:solidFill>
                  </a:tcPr>
                </a:tc>
                <a:tc>
                  <a:txBody>
                    <a:bodyPr/>
                    <a:lstStyle/>
                    <a:p>
                      <a:pPr algn="ctr">
                        <a:defRPr sz="1000" b="1">
                          <a:solidFill>
                            <a:srgbClr val="FFFFFF"/>
                          </a:solidFill>
                        </a:defRPr>
                      </a:pPr>
                      <a:r>
                        <a:t>Precision</a:t>
                      </a:r>
                    </a:p>
                  </a:txBody>
                  <a:tcPr marL="73152" marR="73152" marT="36576" marB="36576">
                    <a:solidFill>
                      <a:srgbClr val="0F172A"/>
                    </a:solidFill>
                  </a:tcPr>
                </a:tc>
                <a:tc>
                  <a:txBody>
                    <a:bodyPr/>
                    <a:lstStyle/>
                    <a:p>
                      <a:pPr algn="ctr">
                        <a:defRPr sz="1000" b="1">
                          <a:solidFill>
                            <a:srgbClr val="FFFFFF"/>
                          </a:solidFill>
                        </a:defRPr>
                      </a:pPr>
                      <a:r>
                        <a:t>Recall</a:t>
                      </a:r>
                    </a:p>
                  </a:txBody>
                  <a:tcPr marL="73152" marR="73152" marT="36576" marB="36576">
                    <a:solidFill>
                      <a:srgbClr val="0F172A"/>
                    </a:solidFill>
                  </a:tcPr>
                </a:tc>
                <a:tc>
                  <a:txBody>
                    <a:bodyPr/>
                    <a:lstStyle/>
                    <a:p>
                      <a:pPr algn="ctr">
                        <a:defRPr sz="1000" b="1">
                          <a:solidFill>
                            <a:srgbClr val="FFFFFF"/>
                          </a:solidFill>
                        </a:defRPr>
                      </a:pPr>
                      <a:r>
                        <a:t>F1-Score</a:t>
                      </a:r>
                    </a:p>
                  </a:txBody>
                  <a:tcPr marL="73152" marR="73152" marT="36576" marB="36576">
                    <a:solidFill>
                      <a:srgbClr val="0F172A"/>
                    </a:solidFill>
                  </a:tcPr>
                </a:tc>
              </a:tr>
              <a:tr h="312419">
                <a:tc>
                  <a:txBody>
                    <a:bodyPr/>
                    <a:lstStyle/>
                    <a:p>
                      <a:pPr algn="l">
                        <a:defRPr sz="950" b="1">
                          <a:solidFill>
                            <a:srgbClr val="0F172A"/>
                          </a:solidFill>
                        </a:defRPr>
                      </a:pPr>
                      <a:r>
                        <a:t>Source Baseline</a:t>
                      </a:r>
                    </a:p>
                  </a:txBody>
                  <a:tcPr marL="73152" marR="73152" marT="36576" marB="36576">
                    <a:solidFill>
                      <a:srgbClr val="FFFFFF"/>
                    </a:solidFill>
                  </a:tcPr>
                </a:tc>
                <a:tc>
                  <a:txBody>
                    <a:bodyPr/>
                    <a:lstStyle/>
                    <a:p>
                      <a:pPr algn="ctr">
                        <a:defRPr sz="950" b="0">
                          <a:solidFill>
                            <a:srgbClr val="0F172A"/>
                          </a:solidFill>
                        </a:defRPr>
                      </a:pPr>
                      <a:r>
                        <a:t>0.3812</a:t>
                      </a:r>
                    </a:p>
                  </a:txBody>
                  <a:tcPr marL="73152" marR="73152" marT="36576" marB="36576">
                    <a:solidFill>
                      <a:srgbClr val="FFFFFF"/>
                    </a:solidFill>
                  </a:tcPr>
                </a:tc>
                <a:tc>
                  <a:txBody>
                    <a:bodyPr/>
                    <a:lstStyle/>
                    <a:p>
                      <a:pPr algn="ctr">
                        <a:defRPr sz="950" b="0">
                          <a:solidFill>
                            <a:srgbClr val="0F172A"/>
                          </a:solidFill>
                        </a:defRPr>
                      </a:pPr>
                      <a:r>
                        <a:t>0.4485</a:t>
                      </a:r>
                    </a:p>
                  </a:txBody>
                  <a:tcPr marL="73152" marR="73152" marT="36576" marB="36576">
                    <a:solidFill>
                      <a:srgbClr val="FFFFFF"/>
                    </a:solidFill>
                  </a:tcPr>
                </a:tc>
                <a:tc>
                  <a:txBody>
                    <a:bodyPr/>
                    <a:lstStyle/>
                    <a:p>
                      <a:pPr algn="ctr">
                        <a:defRPr sz="950" b="0">
                          <a:solidFill>
                            <a:srgbClr val="0F172A"/>
                          </a:solidFill>
                        </a:defRPr>
                      </a:pPr>
                      <a:r>
                        <a:t>0.4120</a:t>
                      </a:r>
                    </a:p>
                  </a:txBody>
                  <a:tcPr marL="73152" marR="73152" marT="36576" marB="36576">
                    <a:solidFill>
                      <a:srgbClr val="FFFFFF"/>
                    </a:solidFill>
                  </a:tcPr>
                </a:tc>
              </a:tr>
              <a:tr h="312419">
                <a:tc>
                  <a:txBody>
                    <a:bodyPr/>
                    <a:lstStyle/>
                    <a:p>
                      <a:pPr algn="l">
                        <a:defRPr sz="950" b="1">
                          <a:solidFill>
                            <a:srgbClr val="DC2626"/>
                          </a:solidFill>
                        </a:defRPr>
                      </a:pPr>
                      <a:r>
                        <a:t>Tent (ICLR '21)</a:t>
                      </a:r>
                    </a:p>
                  </a:txBody>
                  <a:tcPr marL="73152" marR="73152" marT="36576" marB="36576">
                    <a:solidFill>
                      <a:srgbClr val="FEF2F2"/>
                    </a:solidFill>
                  </a:tcPr>
                </a:tc>
                <a:tc>
                  <a:txBody>
                    <a:bodyPr/>
                    <a:lstStyle/>
                    <a:p>
                      <a:pPr algn="ctr">
                        <a:defRPr sz="950" b="1">
                          <a:solidFill>
                            <a:srgbClr val="DC2626"/>
                          </a:solidFill>
                        </a:defRPr>
                      </a:pPr>
                      <a:r>
                        <a:t>0.2710</a:t>
                      </a:r>
                    </a:p>
                  </a:txBody>
                  <a:tcPr marL="73152" marR="73152" marT="36576" marB="36576">
                    <a:solidFill>
                      <a:srgbClr val="FEF2F2"/>
                    </a:solidFill>
                  </a:tcPr>
                </a:tc>
                <a:tc>
                  <a:txBody>
                    <a:bodyPr/>
                    <a:lstStyle/>
                    <a:p>
                      <a:pPr algn="ctr">
                        <a:defRPr sz="950" b="1">
                          <a:solidFill>
                            <a:srgbClr val="DC2626"/>
                          </a:solidFill>
                        </a:defRPr>
                      </a:pPr>
                      <a:r>
                        <a:t>0.4035</a:t>
                      </a:r>
                    </a:p>
                  </a:txBody>
                  <a:tcPr marL="73152" marR="73152" marT="36576" marB="36576">
                    <a:solidFill>
                      <a:srgbClr val="FEF2F2"/>
                    </a:solidFill>
                  </a:tcPr>
                </a:tc>
                <a:tc>
                  <a:txBody>
                    <a:bodyPr/>
                    <a:lstStyle/>
                    <a:p>
                      <a:pPr algn="ctr">
                        <a:defRPr sz="950" b="1">
                          <a:solidFill>
                            <a:srgbClr val="DC2626"/>
                          </a:solidFill>
                        </a:defRPr>
                      </a:pPr>
                      <a:r>
                        <a:t>0.3245</a:t>
                      </a:r>
                    </a:p>
                  </a:txBody>
                  <a:tcPr marL="73152" marR="73152" marT="36576" marB="36576">
                    <a:solidFill>
                      <a:srgbClr val="FEF2F2"/>
                    </a:solidFill>
                  </a:tcPr>
                </a:tc>
              </a:tr>
              <a:tr h="312419">
                <a:tc>
                  <a:txBody>
                    <a:bodyPr/>
                    <a:lstStyle/>
                    <a:p>
                      <a:pPr algn="l">
                        <a:defRPr sz="950" b="1">
                          <a:solidFill>
                            <a:srgbClr val="0F172A"/>
                          </a:solidFill>
                        </a:defRPr>
                      </a:pPr>
                      <a:r>
                        <a:t>EATA (ICML '22)</a:t>
                      </a:r>
                    </a:p>
                  </a:txBody>
                  <a:tcPr marL="73152" marR="73152" marT="36576" marB="36576">
                    <a:solidFill>
                      <a:srgbClr val="FFFFFF"/>
                    </a:solidFill>
                  </a:tcPr>
                </a:tc>
                <a:tc>
                  <a:txBody>
                    <a:bodyPr/>
                    <a:lstStyle/>
                    <a:p>
                      <a:pPr algn="ctr">
                        <a:defRPr sz="950" b="0">
                          <a:solidFill>
                            <a:srgbClr val="0F172A"/>
                          </a:solidFill>
                        </a:defRPr>
                      </a:pPr>
                      <a:r>
                        <a:t>0.4120</a:t>
                      </a:r>
                    </a:p>
                  </a:txBody>
                  <a:tcPr marL="73152" marR="73152" marT="36576" marB="36576">
                    <a:solidFill>
                      <a:srgbClr val="FFFFFF"/>
                    </a:solidFill>
                  </a:tcPr>
                </a:tc>
                <a:tc>
                  <a:txBody>
                    <a:bodyPr/>
                    <a:lstStyle/>
                    <a:p>
                      <a:pPr algn="ctr">
                        <a:defRPr sz="950" b="0">
                          <a:solidFill>
                            <a:srgbClr val="0F172A"/>
                          </a:solidFill>
                        </a:defRPr>
                      </a:pPr>
                      <a:r>
                        <a:t>0.4610</a:t>
                      </a:r>
                    </a:p>
                  </a:txBody>
                  <a:tcPr marL="73152" marR="73152" marT="36576" marB="36576">
                    <a:solidFill>
                      <a:srgbClr val="FFFFFF"/>
                    </a:solidFill>
                  </a:tcPr>
                </a:tc>
                <a:tc>
                  <a:txBody>
                    <a:bodyPr/>
                    <a:lstStyle/>
                    <a:p>
                      <a:pPr algn="ctr">
                        <a:defRPr sz="950" b="0">
                          <a:solidFill>
                            <a:srgbClr val="0F172A"/>
                          </a:solidFill>
                        </a:defRPr>
                      </a:pPr>
                      <a:r>
                        <a:t>0.4350</a:t>
                      </a:r>
                    </a:p>
                  </a:txBody>
                  <a:tcPr marL="73152" marR="73152" marT="36576" marB="36576">
                    <a:solidFill>
                      <a:srgbClr val="FFFFFF"/>
                    </a:solidFill>
                  </a:tcPr>
                </a:tc>
              </a:tr>
              <a:tr h="312419">
                <a:tc>
                  <a:txBody>
                    <a:bodyPr/>
                    <a:lstStyle/>
                    <a:p>
                      <a:pPr algn="l">
                        <a:defRPr sz="950" b="1">
                          <a:solidFill>
                            <a:srgbClr val="0F172A"/>
                          </a:solidFill>
                        </a:defRPr>
                      </a:pPr>
                      <a:r>
                        <a:t>SAR (ICLR '23)</a:t>
                      </a:r>
                    </a:p>
                  </a:txBody>
                  <a:tcPr marL="73152" marR="73152" marT="36576" marB="36576">
                    <a:solidFill>
                      <a:srgbClr val="F8FAFC"/>
                    </a:solidFill>
                  </a:tcPr>
                </a:tc>
                <a:tc>
                  <a:txBody>
                    <a:bodyPr/>
                    <a:lstStyle/>
                    <a:p>
                      <a:pPr algn="ctr">
                        <a:defRPr sz="950" b="0">
                          <a:solidFill>
                            <a:srgbClr val="0F172A"/>
                          </a:solidFill>
                        </a:defRPr>
                      </a:pPr>
                      <a:r>
                        <a:t>0.4280</a:t>
                      </a:r>
                    </a:p>
                  </a:txBody>
                  <a:tcPr marL="73152" marR="73152" marT="36576" marB="36576">
                    <a:solidFill>
                      <a:srgbClr val="F8FAFC"/>
                    </a:solidFill>
                  </a:tcPr>
                </a:tc>
                <a:tc>
                  <a:txBody>
                    <a:bodyPr/>
                    <a:lstStyle/>
                    <a:p>
                      <a:pPr algn="ctr">
                        <a:defRPr sz="950" b="0">
                          <a:solidFill>
                            <a:srgbClr val="0F172A"/>
                          </a:solidFill>
                        </a:defRPr>
                      </a:pPr>
                      <a:r>
                        <a:t>0.4700</a:t>
                      </a:r>
                    </a:p>
                  </a:txBody>
                  <a:tcPr marL="73152" marR="73152" marT="36576" marB="36576">
                    <a:solidFill>
                      <a:srgbClr val="F8FAFC"/>
                    </a:solidFill>
                  </a:tcPr>
                </a:tc>
                <a:tc>
                  <a:txBody>
                    <a:bodyPr/>
                    <a:lstStyle/>
                    <a:p>
                      <a:pPr algn="ctr">
                        <a:defRPr sz="950" b="0">
                          <a:solidFill>
                            <a:srgbClr val="0F172A"/>
                          </a:solidFill>
                        </a:defRPr>
                      </a:pPr>
                      <a:r>
                        <a:t>0.4480</a:t>
                      </a:r>
                    </a:p>
                  </a:txBody>
                  <a:tcPr marL="73152" marR="73152" marT="36576" marB="36576">
                    <a:solidFill>
                      <a:srgbClr val="F8FAFC"/>
                    </a:solidFill>
                  </a:tcPr>
                </a:tc>
              </a:tr>
              <a:tr h="312424">
                <a:tc>
                  <a:txBody>
                    <a:bodyPr/>
                    <a:lstStyle/>
                    <a:p>
                      <a:pPr algn="l">
                        <a:defRPr sz="950" b="1">
                          <a:solidFill>
                            <a:srgbClr val="0F766E"/>
                          </a:solidFill>
                        </a:defRPr>
                      </a:pPr>
                      <a:r>
                        <a:t>SafeAdapt (Ours)</a:t>
                      </a:r>
                    </a:p>
                  </a:txBody>
                  <a:tcPr marL="73152" marR="73152" marT="36576" marB="36576">
                    <a:solidFill>
                      <a:srgbClr val="F0FDFA"/>
                    </a:solidFill>
                  </a:tcPr>
                </a:tc>
                <a:tc>
                  <a:txBody>
                    <a:bodyPr/>
                    <a:lstStyle/>
                    <a:p>
                      <a:pPr algn="ctr">
                        <a:defRPr sz="950" b="1">
                          <a:solidFill>
                            <a:srgbClr val="0F766E"/>
                          </a:solidFill>
                        </a:defRPr>
                      </a:pPr>
                      <a:r>
                        <a:t>0.5284</a:t>
                      </a:r>
                    </a:p>
                  </a:txBody>
                  <a:tcPr marL="73152" marR="73152" marT="36576" marB="36576">
                    <a:solidFill>
                      <a:srgbClr val="F0FDFA"/>
                    </a:solidFill>
                  </a:tcPr>
                </a:tc>
                <a:tc>
                  <a:txBody>
                    <a:bodyPr/>
                    <a:lstStyle/>
                    <a:p>
                      <a:pPr algn="ctr">
                        <a:defRPr sz="950" b="1">
                          <a:solidFill>
                            <a:srgbClr val="0F766E"/>
                          </a:solidFill>
                        </a:defRPr>
                      </a:pPr>
                      <a:r>
                        <a:t>0.5065</a:t>
                      </a:r>
                    </a:p>
                  </a:txBody>
                  <a:tcPr marL="73152" marR="73152" marT="36576" marB="36576">
                    <a:solidFill>
                      <a:srgbClr val="F0FDFA"/>
                    </a:solidFill>
                  </a:tcPr>
                </a:tc>
                <a:tc>
                  <a:txBody>
                    <a:bodyPr/>
                    <a:lstStyle/>
                    <a:p>
                      <a:pPr algn="ctr">
                        <a:defRPr sz="950" b="1">
                          <a:solidFill>
                            <a:srgbClr val="0F766E"/>
                          </a:solidFill>
                        </a:defRPr>
                      </a:pPr>
                      <a:r>
                        <a:t>0.5172</a:t>
                      </a:r>
                    </a:p>
                  </a:txBody>
                  <a:tcPr marL="73152" marR="73152" marT="36576" marB="36576">
                    <a:solidFill>
                      <a:srgbClr val="F0FDFA"/>
                    </a:solidFill>
                  </a:tcPr>
                </a:tc>
              </a:tr>
            </a:tbl>
          </a:graphicData>
        </a:graphic>
      </p:graphicFrame>
      <p:sp>
        <p:nvSpPr>
          <p:cNvPr id="10" name="Rounded Rectangle 9"/>
          <p:cNvSpPr/>
          <p:nvPr/>
        </p:nvSpPr>
        <p:spPr>
          <a:xfrm>
            <a:off x="5943600" y="4434840"/>
            <a:ext cx="5516575" cy="1874519"/>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89904" y="4581144"/>
            <a:ext cx="5223967" cy="1581911"/>
          </a:xfrm>
          <a:prstGeom prst="rect">
            <a:avLst/>
          </a:prstGeom>
          <a:noFill/>
        </p:spPr>
        <p:txBody>
          <a:bodyPr wrap="square" lIns="0" tIns="0" rIns="0" bIns="0">
            <a:spAutoFit/>
          </a:bodyPr>
          <a:lstStyle/>
          <a:p>
            <a:pPr>
              <a:spcAft>
                <a:spcPts val="800"/>
              </a:spcAft>
              <a:defRPr sz="1300" b="1">
                <a:solidFill>
                  <a:srgbClr val="059669"/>
                </a:solidFill>
              </a:defRPr>
            </a:pPr>
            <a:r>
              <a:t>CMR Slack Routing Eliminates Debris</a:t>
            </a:r>
          </a:p>
          <a:p>
            <a:pPr>
              <a:spcAft>
                <a:spcPts val="600"/>
              </a:spcAft>
            </a:pPr>
            <a:r>
              <a:rPr b="1" sz="1050">
                <a:solidFill>
                  <a:srgbClr val="0F172A"/>
                </a:solidFill>
              </a:rPr>
              <a:t>•  The Challenge: </a:t>
            </a:r>
            <a:r>
              <a:rPr sz="1050">
                <a:solidFill>
                  <a:srgbClr val="1E293B"/>
                </a:solidFill>
              </a:rPr>
              <a:t>Pyknotic apoptotic nuclei and hyperchromatic debris mimic mitotic figures on unseen scanners.</a:t>
            </a:r>
          </a:p>
          <a:p>
            <a:pPr>
              <a:spcAft>
                <a:spcPts val="600"/>
              </a:spcAft>
            </a:pPr>
            <a:r>
              <a:rPr b="1" sz="1050">
                <a:solidFill>
                  <a:srgbClr val="0F172A"/>
                </a:solidFill>
              </a:rPr>
              <a:t>•  False-Alarm Explosion: </a:t>
            </a:r>
            <a:r>
              <a:rPr sz="1050">
                <a:solidFill>
                  <a:srgbClr val="1E293B"/>
                </a:solidFill>
              </a:rPr>
              <a:t>Tent experiences severe FP explosion (Precision drops from 0.38 down to 0.27).</a:t>
            </a:r>
          </a:p>
          <a:p>
            <a:pPr>
              <a:spcAft>
                <a:spcPts val="600"/>
              </a:spcAft>
            </a:pPr>
            <a:r>
              <a:rPr b="1" sz="1050">
                <a:solidFill>
                  <a:srgbClr val="0F172A"/>
                </a:solidFill>
              </a:rPr>
              <a:t>•  SafeAdapt Superiority: </a:t>
            </a:r>
            <a:r>
              <a:rPr sz="1050">
                <a:solidFill>
                  <a:srgbClr val="1E293B"/>
                </a:solidFill>
              </a:rPr>
              <a:t>CMR slack channel absorbs hyperchromatic debris, boosting Precision to 0.5284 (+38.7% over Source) and achieving SOTA F1-score of 0.5172.</a:t>
            </a:r>
          </a:p>
        </p:txBody>
      </p:sp>
      <p:sp>
        <p:nvSpPr>
          <p:cNvPr id="12" name="Rounded Rectangle 11"/>
          <p:cNvSpPr/>
          <p:nvPr/>
        </p:nvSpPr>
        <p:spPr>
          <a:xfrm>
            <a:off x="9814255" y="4544568"/>
            <a:ext cx="1508760" cy="256032"/>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59669"/>
                </a:solidFill>
              </a:defRPr>
            </a:pPr>
            <a:r>
              <a:t>+25.5% F1 GAIN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274320"/>
          </a:xfrm>
          <a:prstGeom prst="rect">
            <a:avLst/>
          </a:prstGeom>
          <a:noFill/>
        </p:spPr>
        <p:txBody>
          <a:bodyPr wrap="square" lIns="0" tIns="0" rIns="0" bIns="0">
            <a:spAutoFit/>
          </a:bodyPr>
          <a:lstStyle/>
          <a:p>
            <a:pPr>
              <a:defRPr sz="1000" b="1">
                <a:solidFill>
                  <a:srgbClr val="0D9488"/>
                </a:solidFill>
              </a:defRPr>
            </a:pPr>
            <a:r>
              <a:t>CLINICAL STRESS-TESTING &amp; ROBUSTNESS</a:t>
            </a:r>
          </a:p>
        </p:txBody>
      </p:sp>
      <p:sp>
        <p:nvSpPr>
          <p:cNvPr id="4" name="TextBox 3"/>
          <p:cNvSpPr txBox="1"/>
          <p:nvPr/>
        </p:nvSpPr>
        <p:spPr>
          <a:xfrm>
            <a:off x="731520" y="594360"/>
            <a:ext cx="10728655" cy="502920"/>
          </a:xfrm>
          <a:prstGeom prst="rect">
            <a:avLst/>
          </a:prstGeom>
          <a:noFill/>
        </p:spPr>
        <p:txBody>
          <a:bodyPr wrap="square" lIns="0" tIns="0" rIns="0" bIns="0">
            <a:spAutoFit/>
          </a:bodyPr>
          <a:lstStyle/>
          <a:p>
            <a:pPr>
              <a:defRPr sz="2400" b="1">
                <a:solidFill>
                  <a:srgbClr val="0F172A"/>
                </a:solidFill>
              </a:defRPr>
            </a:pPr>
            <a:r>
              <a:t>Stress-Testing Across Four Extreme Clinical Boundary Regimes</a:t>
            </a:r>
          </a:p>
        </p:txBody>
      </p:sp>
      <p:sp>
        <p:nvSpPr>
          <p:cNvPr id="5" name="Rounded Rectangle 4"/>
          <p:cNvSpPr/>
          <p:nvPr/>
        </p:nvSpPr>
        <p:spPr>
          <a:xfrm>
            <a:off x="731520" y="1115568"/>
            <a:ext cx="10728655" cy="384048"/>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rIns="137160" bIns="36576"/>
          <a:lstStyle/>
          <a:p>
            <a:pPr algn="ctr">
              <a:defRPr sz="1100" b="1">
                <a:solidFill>
                  <a:srgbClr val="0F766E"/>
                </a:solidFill>
              </a:defRPr>
            </a:pPr>
            <a:r>
              <a:t>KEY TAKEAWAY:  SafeAdapt maintains rock-solid stability in non-ideal real-world hospital workflows where traditional TTA fails.</a:t>
            </a:r>
          </a:p>
        </p:txBody>
      </p:sp>
      <p:sp>
        <p:nvSpPr>
          <p:cNvPr id="6" name="Rounded Rectangle 5"/>
          <p:cNvSpPr/>
          <p:nvPr/>
        </p:nvSpPr>
        <p:spPr>
          <a:xfrm>
            <a:off x="731520" y="1645920"/>
            <a:ext cx="5212080" cy="219456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792224"/>
            <a:ext cx="4919472" cy="1901952"/>
          </a:xfrm>
          <a:prstGeom prst="rect">
            <a:avLst/>
          </a:prstGeom>
          <a:noFill/>
        </p:spPr>
        <p:txBody>
          <a:bodyPr wrap="square" lIns="0" tIns="0" rIns="0" bIns="0">
            <a:spAutoFit/>
          </a:bodyPr>
          <a:lstStyle/>
          <a:p>
            <a:pPr>
              <a:spcAft>
                <a:spcPts val="800"/>
              </a:spcAft>
              <a:defRPr sz="1300" b="1">
                <a:solidFill>
                  <a:srgbClr val="0D9488"/>
                </a:solidFill>
              </a:defRPr>
            </a:pPr>
            <a:r>
              <a:t>Regime 1: Single-Patch Streaming (Batch Size B = 1)</a:t>
            </a:r>
          </a:p>
          <a:p>
            <a:pPr>
              <a:spcAft>
                <a:spcPts val="600"/>
              </a:spcAft>
            </a:pPr>
            <a:r>
              <a:rPr b="1" sz="1050">
                <a:solidFill>
                  <a:srgbClr val="0F172A"/>
                </a:solidFill>
              </a:rPr>
              <a:t>•  Clinical Reality: </a:t>
            </a:r>
            <a:r>
              <a:rPr sz="1050">
                <a:solidFill>
                  <a:srgbClr val="1E293B"/>
                </a:solidFill>
              </a:rPr>
              <a:t>Real-time digital microscopes stream individual tissue patches sequentially as the objective moves.</a:t>
            </a:r>
          </a:p>
          <a:p>
            <a:pPr>
              <a:spcAft>
                <a:spcPts val="600"/>
              </a:spcAft>
            </a:pPr>
            <a:r>
              <a:rPr b="1" sz="1050">
                <a:solidFill>
                  <a:srgbClr val="0F172A"/>
                </a:solidFill>
              </a:rPr>
              <a:t>•  Standard BN Failure: </a:t>
            </a:r>
            <a:r>
              <a:rPr sz="1050">
                <a:solidFill>
                  <a:srgbClr val="1E293B"/>
                </a:solidFill>
              </a:rPr>
              <a:t>Standard Batch Normalization cannot compute batch statistics when B=1, leading to NaN gradients.</a:t>
            </a:r>
          </a:p>
          <a:p>
            <a:pPr>
              <a:spcAft>
                <a:spcPts val="600"/>
              </a:spcAft>
            </a:pPr>
            <a:r>
              <a:rPr b="1" sz="1050">
                <a:solidFill>
                  <a:srgbClr val="0F172A"/>
                </a:solidFill>
              </a:rPr>
              <a:t>•  SafeAdapt Solution: </a:t>
            </a:r>
            <a:r>
              <a:rPr sz="1050">
                <a:solidFill>
                  <a:srgbClr val="1E293B"/>
                </a:solidFill>
              </a:rPr>
              <a:t>Employs an asynchronous FIFO memory buffer (M=32) that preserves 0.9412 AUROC without latency penalty.</a:t>
            </a:r>
          </a:p>
        </p:txBody>
      </p:sp>
      <p:sp>
        <p:nvSpPr>
          <p:cNvPr id="8" name="Rounded Rectangle 7"/>
          <p:cNvSpPr/>
          <p:nvPr/>
        </p:nvSpPr>
        <p:spPr>
          <a:xfrm>
            <a:off x="4297680" y="1755648"/>
            <a:ext cx="1508760" cy="256032"/>
          </a:xfrm>
          <a:prstGeom prst="roundRect">
            <a:avLst/>
          </a:prstGeom>
          <a:solidFill>
            <a:srgbClr val="ECFDF5"/>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D9488"/>
                </a:solidFill>
              </a:defRPr>
            </a:pPr>
            <a:r>
              <a:t>B = 1 STREAMING</a:t>
            </a:r>
          </a:p>
        </p:txBody>
      </p:sp>
      <p:sp>
        <p:nvSpPr>
          <p:cNvPr id="9" name="Rounded Rectangle 8"/>
          <p:cNvSpPr/>
          <p:nvPr/>
        </p:nvSpPr>
        <p:spPr>
          <a:xfrm>
            <a:off x="6217920" y="1645920"/>
            <a:ext cx="5212080" cy="219456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64224" y="1792224"/>
            <a:ext cx="4919472" cy="1901952"/>
          </a:xfrm>
          <a:prstGeom prst="rect">
            <a:avLst/>
          </a:prstGeom>
          <a:noFill/>
        </p:spPr>
        <p:txBody>
          <a:bodyPr wrap="square" lIns="0" tIns="0" rIns="0" bIns="0">
            <a:spAutoFit/>
          </a:bodyPr>
          <a:lstStyle/>
          <a:p>
            <a:pPr>
              <a:spcAft>
                <a:spcPts val="800"/>
              </a:spcAft>
              <a:defRPr sz="1300" b="1">
                <a:solidFill>
                  <a:srgbClr val="059669"/>
                </a:solidFill>
              </a:defRPr>
            </a:pPr>
            <a:r>
              <a:t>Regime 2: Purely Benign Slides (0.0% Tumor Burden)</a:t>
            </a:r>
          </a:p>
          <a:p>
            <a:pPr>
              <a:spcAft>
                <a:spcPts val="600"/>
              </a:spcAft>
            </a:pPr>
            <a:r>
              <a:rPr b="1" sz="1050">
                <a:solidFill>
                  <a:srgbClr val="0F172A"/>
                </a:solidFill>
              </a:rPr>
              <a:t>•  Clinical Reality: </a:t>
            </a:r>
            <a:r>
              <a:rPr sz="1050">
                <a:solidFill>
                  <a:srgbClr val="1E293B"/>
                </a:solidFill>
              </a:rPr>
              <a:t>Over 80% of routine clinical lymph node dissections are purely benign (0.0% tumor cells).</a:t>
            </a:r>
          </a:p>
          <a:p>
            <a:pPr>
              <a:spcAft>
                <a:spcPts val="600"/>
              </a:spcAft>
            </a:pPr>
            <a:r>
              <a:rPr b="1" sz="1050">
                <a:solidFill>
                  <a:srgbClr val="0F172A"/>
                </a:solidFill>
              </a:rPr>
              <a:t>•  Entropy Min Danger: </a:t>
            </a:r>
            <a:r>
              <a:rPr sz="1050">
                <a:solidFill>
                  <a:srgbClr val="1E293B"/>
                </a:solidFill>
              </a:rPr>
              <a:t>Entropy minimization artificially forces positive predictions to balance class distributions, generating false tumors.</a:t>
            </a:r>
          </a:p>
          <a:p>
            <a:pPr>
              <a:spcAft>
                <a:spcPts val="600"/>
              </a:spcAft>
            </a:pPr>
            <a:r>
              <a:rPr b="1" sz="1050">
                <a:solidFill>
                  <a:srgbClr val="0F172A"/>
                </a:solidFill>
              </a:rPr>
              <a:t>•  SafeAdapt Solution: </a:t>
            </a:r>
            <a:r>
              <a:rPr sz="1050">
                <a:solidFill>
                  <a:srgbClr val="1E293B"/>
                </a:solidFill>
              </a:rPr>
              <a:t>Exhibits zero false-positive drift on 10 purely benign validation slides, preserving 99.4% specificity.</a:t>
            </a:r>
          </a:p>
        </p:txBody>
      </p:sp>
      <p:sp>
        <p:nvSpPr>
          <p:cNvPr id="11" name="Rounded Rectangle 10"/>
          <p:cNvSpPr/>
          <p:nvPr/>
        </p:nvSpPr>
        <p:spPr>
          <a:xfrm>
            <a:off x="9784080" y="1755648"/>
            <a:ext cx="1508760" cy="256032"/>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59669"/>
                </a:solidFill>
              </a:defRPr>
            </a:pPr>
            <a:r>
              <a:t>0.0% TUMOR SLIDES</a:t>
            </a:r>
          </a:p>
        </p:txBody>
      </p:sp>
      <p:sp>
        <p:nvSpPr>
          <p:cNvPr id="12" name="Rounded Rectangle 11"/>
          <p:cNvSpPr/>
          <p:nvPr/>
        </p:nvSpPr>
        <p:spPr>
          <a:xfrm>
            <a:off x="731520" y="4069080"/>
            <a:ext cx="5212080" cy="219456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4215384"/>
            <a:ext cx="4919472" cy="1901952"/>
          </a:xfrm>
          <a:prstGeom prst="rect">
            <a:avLst/>
          </a:prstGeom>
          <a:noFill/>
        </p:spPr>
        <p:txBody>
          <a:bodyPr wrap="square" lIns="0" tIns="0" rIns="0" bIns="0">
            <a:spAutoFit/>
          </a:bodyPr>
          <a:lstStyle/>
          <a:p>
            <a:pPr>
              <a:spcAft>
                <a:spcPts val="800"/>
              </a:spcAft>
              <a:defRPr sz="1300" b="1">
                <a:solidFill>
                  <a:srgbClr val="0F172A"/>
                </a:solidFill>
              </a:defRPr>
            </a:pPr>
            <a:r>
              <a:t>Regime 3: Weakly-Supervised Attention-MIL Integration</a:t>
            </a:r>
          </a:p>
          <a:p>
            <a:pPr>
              <a:spcAft>
                <a:spcPts val="600"/>
              </a:spcAft>
            </a:pPr>
            <a:r>
              <a:rPr b="1" sz="1050">
                <a:solidFill>
                  <a:srgbClr val="0F172A"/>
                </a:solidFill>
              </a:rPr>
              <a:t>•  Slide-Level Diagnosis: </a:t>
            </a:r>
            <a:r>
              <a:rPr sz="1050">
                <a:solidFill>
                  <a:srgbClr val="1E293B"/>
                </a:solidFill>
              </a:rPr>
              <a:t>Evaluated end-to-end with Whole-Slide Attention-MIL aggregation across 10,000+ patches per slide.</a:t>
            </a:r>
          </a:p>
          <a:p>
            <a:pPr>
              <a:spcAft>
                <a:spcPts val="600"/>
              </a:spcAft>
            </a:pPr>
            <a:r>
              <a:rPr b="1" sz="1050">
                <a:solidFill>
                  <a:srgbClr val="0F172A"/>
                </a:solidFill>
              </a:rPr>
              <a:t>•  Diagnostic Triage: </a:t>
            </a:r>
            <a:r>
              <a:rPr sz="1050">
                <a:solidFill>
                  <a:srgbClr val="1E293B"/>
                </a:solidFill>
              </a:rPr>
              <a:t>SafeAdapt adapted patch representations improve slide-level patient triage accuracy by +6.8% over unadapted features.</a:t>
            </a:r>
          </a:p>
          <a:p>
            <a:pPr>
              <a:spcAft>
                <a:spcPts val="600"/>
              </a:spcAft>
            </a:pPr>
            <a:r>
              <a:rPr b="1" sz="1050">
                <a:solidFill>
                  <a:srgbClr val="0F172A"/>
                </a:solidFill>
              </a:rPr>
              <a:t>•  Seamless Pipeline: </a:t>
            </a:r>
            <a:r>
              <a:rPr sz="1050">
                <a:solidFill>
                  <a:srgbClr val="1E293B"/>
                </a:solidFill>
              </a:rPr>
              <a:t>Functions as a drop-in patch feature adapter upstream of any clinical MIL aggregation architecture.</a:t>
            </a:r>
          </a:p>
        </p:txBody>
      </p:sp>
      <p:sp>
        <p:nvSpPr>
          <p:cNvPr id="14" name="Rounded Rectangle 13"/>
          <p:cNvSpPr/>
          <p:nvPr/>
        </p:nvSpPr>
        <p:spPr>
          <a:xfrm>
            <a:off x="4297680" y="4178808"/>
            <a:ext cx="1508760" cy="256032"/>
          </a:xfrm>
          <a:prstGeom prst="roundRect">
            <a:avLst/>
          </a:prstGeom>
          <a:solidFill>
            <a:srgbClr val="ECFDF5"/>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F172A"/>
                </a:solidFill>
              </a:defRPr>
            </a:pPr>
            <a:r>
              <a:t>MIL INTEGRATION</a:t>
            </a:r>
          </a:p>
        </p:txBody>
      </p:sp>
      <p:sp>
        <p:nvSpPr>
          <p:cNvPr id="15" name="Rounded Rectangle 14"/>
          <p:cNvSpPr/>
          <p:nvPr/>
        </p:nvSpPr>
        <p:spPr>
          <a:xfrm>
            <a:off x="6217920" y="4069080"/>
            <a:ext cx="5212080" cy="219456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64224" y="4215384"/>
            <a:ext cx="4919472" cy="1901952"/>
          </a:xfrm>
          <a:prstGeom prst="rect">
            <a:avLst/>
          </a:prstGeom>
          <a:noFill/>
        </p:spPr>
        <p:txBody>
          <a:bodyPr wrap="square" lIns="0" tIns="0" rIns="0" bIns="0">
            <a:spAutoFit/>
          </a:bodyPr>
          <a:lstStyle/>
          <a:p>
            <a:pPr>
              <a:spcAft>
                <a:spcPts val="800"/>
              </a:spcAft>
              <a:defRPr sz="1300" b="1">
                <a:solidFill>
                  <a:srgbClr val="0D9488"/>
                </a:solidFill>
              </a:defRPr>
            </a:pPr>
            <a:r>
              <a:t>Regime 4: Continual Multi-Patient Drift Testing</a:t>
            </a:r>
          </a:p>
          <a:p>
            <a:pPr>
              <a:spcAft>
                <a:spcPts val="600"/>
              </a:spcAft>
            </a:pPr>
            <a:r>
              <a:rPr b="1" sz="1050">
                <a:solidFill>
                  <a:srgbClr val="0F172A"/>
                </a:solidFill>
              </a:rPr>
              <a:t>•  The HIPAA Concern: </a:t>
            </a:r>
            <a:r>
              <a:rPr sz="1050">
                <a:solidFill>
                  <a:srgbClr val="1E293B"/>
                </a:solidFill>
              </a:rPr>
              <a:t>Processing consecutive slides without resetting model state allows Patient A's features to alter Patient B's diagnosis.</a:t>
            </a:r>
          </a:p>
          <a:p>
            <a:pPr>
              <a:spcAft>
                <a:spcPts val="600"/>
              </a:spcAft>
            </a:pPr>
            <a:r>
              <a:rPr b="1" sz="1050">
                <a:solidFill>
                  <a:srgbClr val="0F172A"/>
                </a:solidFill>
              </a:rPr>
              <a:t>•  SafeAdapt Policy: </a:t>
            </a:r>
            <a:r>
              <a:rPr sz="1050">
                <a:solidFill>
                  <a:srgbClr val="1E293B"/>
                </a:solidFill>
              </a:rPr>
              <a:t>Enforces strict deterministic parameter rollback to theta_0 at the conclusion of each whole-slide scan.</a:t>
            </a:r>
          </a:p>
          <a:p>
            <a:pPr>
              <a:spcAft>
                <a:spcPts val="600"/>
              </a:spcAft>
            </a:pPr>
            <a:r>
              <a:rPr b="1" sz="1050">
                <a:solidFill>
                  <a:srgbClr val="0F172A"/>
                </a:solidFill>
              </a:rPr>
              <a:t>•  Zero Contamination: </a:t>
            </a:r>
            <a:r>
              <a:rPr sz="1050">
                <a:solidFill>
                  <a:srgbClr val="1E293B"/>
                </a:solidFill>
              </a:rPr>
              <a:t>Guarantees zero cross-patient statistical contamination and eliminates inter-patient error accumulation.</a:t>
            </a:r>
          </a:p>
        </p:txBody>
      </p:sp>
      <p:sp>
        <p:nvSpPr>
          <p:cNvPr id="17" name="Rounded Rectangle 16"/>
          <p:cNvSpPr/>
          <p:nvPr/>
        </p:nvSpPr>
        <p:spPr>
          <a:xfrm>
            <a:off x="9784080" y="4178808"/>
            <a:ext cx="1508760" cy="256032"/>
          </a:xfrm>
          <a:prstGeom prst="roundRect">
            <a:avLst/>
          </a:prstGeom>
          <a:solidFill>
            <a:srgbClr val="ECFDF5"/>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D9488"/>
                </a:solidFill>
              </a:defRPr>
            </a:pPr>
            <a:r>
              <a:t>PATIENT ISOLATION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274320"/>
          </a:xfrm>
          <a:prstGeom prst="rect">
            <a:avLst/>
          </a:prstGeom>
          <a:noFill/>
        </p:spPr>
        <p:txBody>
          <a:bodyPr wrap="square" lIns="0" tIns="0" rIns="0" bIns="0">
            <a:spAutoFit/>
          </a:bodyPr>
          <a:lstStyle/>
          <a:p>
            <a:pPr>
              <a:defRPr sz="1000" b="1">
                <a:solidFill>
                  <a:srgbClr val="0D9488"/>
                </a:solidFill>
              </a:defRPr>
            </a:pPr>
            <a:r>
              <a:t>HARDWARE FEASIBILITY</a:t>
            </a:r>
          </a:p>
        </p:txBody>
      </p:sp>
      <p:sp>
        <p:nvSpPr>
          <p:cNvPr id="4" name="TextBox 3"/>
          <p:cNvSpPr txBox="1"/>
          <p:nvPr/>
        </p:nvSpPr>
        <p:spPr>
          <a:xfrm>
            <a:off x="731520" y="594360"/>
            <a:ext cx="10728655" cy="502920"/>
          </a:xfrm>
          <a:prstGeom prst="rect">
            <a:avLst/>
          </a:prstGeom>
          <a:noFill/>
        </p:spPr>
        <p:txBody>
          <a:bodyPr wrap="square" lIns="0" tIns="0" rIns="0" bIns="0">
            <a:spAutoFit/>
          </a:bodyPr>
          <a:lstStyle/>
          <a:p>
            <a:pPr>
              <a:defRPr sz="2400" b="1">
                <a:solidFill>
                  <a:srgbClr val="0F172A"/>
                </a:solidFill>
              </a:defRPr>
            </a:pPr>
            <a:r>
              <a:t>Hardware Benchmarks: Clinical PACS Integration &amp; Real-Time Latency</a:t>
            </a:r>
          </a:p>
        </p:txBody>
      </p:sp>
      <p:sp>
        <p:nvSpPr>
          <p:cNvPr id="5" name="Rounded Rectangle 4"/>
          <p:cNvSpPr/>
          <p:nvPr/>
        </p:nvSpPr>
        <p:spPr>
          <a:xfrm>
            <a:off x="731520" y="1115568"/>
            <a:ext cx="10728655" cy="384048"/>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rIns="137160" bIns="36576"/>
          <a:lstStyle/>
          <a:p>
            <a:pPr algn="ctr">
              <a:defRPr sz="1100" b="1">
                <a:solidFill>
                  <a:srgbClr val="0F766E"/>
                </a:solidFill>
              </a:defRPr>
            </a:pPr>
            <a:r>
              <a:t>KEY TAKEAWAY:  SafeAdapt delivers 312 patches/sec at 1.8 ms rollback latency, easily fitting standard hospital PACS infrastructure.</a:t>
            </a:r>
          </a:p>
        </p:txBody>
      </p:sp>
      <p:graphicFrame>
        <p:nvGraphicFramePr>
          <p:cNvPr id="6" name="Table 5"/>
          <p:cNvGraphicFramePr>
            <a:graphicFrameLocks noGrp="1"/>
          </p:cNvGraphicFramePr>
          <p:nvPr/>
        </p:nvGraphicFramePr>
        <p:xfrm>
          <a:off x="731520" y="1645920"/>
          <a:ext cx="5486400" cy="2560320"/>
        </p:xfrm>
        <a:graphic>
          <a:graphicData uri="http://schemas.openxmlformats.org/drawingml/2006/table">
            <a:tbl>
              <a:tblPr firstRow="1" bandRow="1">
                <a:tableStyleId>{5C22544A-7EE6-4342-B048-85BDC9FD1C3A}</a:tableStyleId>
              </a:tblPr>
              <a:tblGrid>
                <a:gridCol w="1554480"/>
                <a:gridCol w="914400"/>
                <a:gridCol w="1097280"/>
                <a:gridCol w="914400"/>
                <a:gridCol w="1005840"/>
              </a:tblGrid>
              <a:tr h="426720">
                <a:tc>
                  <a:txBody>
                    <a:bodyPr/>
                    <a:lstStyle/>
                    <a:p>
                      <a:pPr algn="l">
                        <a:defRPr sz="1000" b="1">
                          <a:solidFill>
                            <a:srgbClr val="FFFFFF"/>
                          </a:solidFill>
                        </a:defRPr>
                      </a:pPr>
                      <a:r>
                        <a:t>Method</a:t>
                      </a:r>
                    </a:p>
                  </a:txBody>
                  <a:tcPr marL="73152" marR="73152" marT="36576" marB="36576">
                    <a:solidFill>
                      <a:srgbClr val="0F172A"/>
                    </a:solidFill>
                  </a:tcPr>
                </a:tc>
                <a:tc>
                  <a:txBody>
                    <a:bodyPr/>
                    <a:lstStyle/>
                    <a:p>
                      <a:pPr algn="ctr">
                        <a:defRPr sz="1000" b="1">
                          <a:solidFill>
                            <a:srgbClr val="FFFFFF"/>
                          </a:solidFill>
                        </a:defRPr>
                      </a:pPr>
                      <a:r>
                        <a:t>Latency (ms)</a:t>
                      </a:r>
                    </a:p>
                  </a:txBody>
                  <a:tcPr marL="73152" marR="73152" marT="36576" marB="36576">
                    <a:solidFill>
                      <a:srgbClr val="0F172A"/>
                    </a:solidFill>
                  </a:tcPr>
                </a:tc>
                <a:tc>
                  <a:txBody>
                    <a:bodyPr/>
                    <a:lstStyle/>
                    <a:p>
                      <a:pPr algn="ctr">
                        <a:defRPr sz="1000" b="1">
                          <a:solidFill>
                            <a:srgbClr val="FFFFFF"/>
                          </a:solidFill>
                        </a:defRPr>
                      </a:pPr>
                      <a:r>
                        <a:t>Throughput (p/s)</a:t>
                      </a:r>
                    </a:p>
                  </a:txBody>
                  <a:tcPr marL="73152" marR="73152" marT="36576" marB="36576">
                    <a:solidFill>
                      <a:srgbClr val="0F172A"/>
                    </a:solidFill>
                  </a:tcPr>
                </a:tc>
                <a:tc>
                  <a:txBody>
                    <a:bodyPr/>
                    <a:lstStyle/>
                    <a:p>
                      <a:pPr algn="ctr">
                        <a:defRPr sz="1000" b="1">
                          <a:solidFill>
                            <a:srgbClr val="FFFFFF"/>
                          </a:solidFill>
                        </a:defRPr>
                      </a:pPr>
                      <a:r>
                        <a:t>VRAM (MB)</a:t>
                      </a:r>
                    </a:p>
                  </a:txBody>
                  <a:tcPr marL="73152" marR="73152" marT="36576" marB="36576">
                    <a:solidFill>
                      <a:srgbClr val="0F172A"/>
                    </a:solidFill>
                  </a:tcPr>
                </a:tc>
                <a:tc>
                  <a:txBody>
                    <a:bodyPr/>
                    <a:lstStyle/>
                    <a:p>
                      <a:pPr algn="ctr">
                        <a:defRPr sz="1000" b="1">
                          <a:solidFill>
                            <a:srgbClr val="FFFFFF"/>
                          </a:solidFill>
                        </a:defRPr>
                      </a:pPr>
                      <a:r>
                        <a:t>Rollback (ms)</a:t>
                      </a:r>
                    </a:p>
                  </a:txBody>
                  <a:tcPr marL="73152" marR="73152" marT="36576" marB="36576">
                    <a:solidFill>
                      <a:srgbClr val="0F172A"/>
                    </a:solidFill>
                  </a:tcPr>
                </a:tc>
              </a:tr>
              <a:tr h="426720">
                <a:tc>
                  <a:txBody>
                    <a:bodyPr/>
                    <a:lstStyle/>
                    <a:p>
                      <a:pPr algn="l">
                        <a:defRPr sz="950" b="1">
                          <a:solidFill>
                            <a:srgbClr val="0F172A"/>
                          </a:solidFill>
                        </a:defRPr>
                      </a:pPr>
                      <a:r>
                        <a:t>Source (Frozen)</a:t>
                      </a:r>
                    </a:p>
                  </a:txBody>
                  <a:tcPr marL="73152" marR="73152" marT="36576" marB="36576">
                    <a:solidFill>
                      <a:srgbClr val="FFFFFF"/>
                    </a:solidFill>
                  </a:tcPr>
                </a:tc>
                <a:tc>
                  <a:txBody>
                    <a:bodyPr/>
                    <a:lstStyle/>
                    <a:p>
                      <a:pPr algn="ctr">
                        <a:defRPr sz="950" b="0">
                          <a:solidFill>
                            <a:srgbClr val="0F172A"/>
                          </a:solidFill>
                        </a:defRPr>
                      </a:pPr>
                      <a:r>
                        <a:t>2.8 ms</a:t>
                      </a:r>
                    </a:p>
                  </a:txBody>
                  <a:tcPr marL="73152" marR="73152" marT="36576" marB="36576">
                    <a:solidFill>
                      <a:srgbClr val="FFFFFF"/>
                    </a:solidFill>
                  </a:tcPr>
                </a:tc>
                <a:tc>
                  <a:txBody>
                    <a:bodyPr/>
                    <a:lstStyle/>
                    <a:p>
                      <a:pPr algn="ctr">
                        <a:defRPr sz="950" b="0">
                          <a:solidFill>
                            <a:srgbClr val="0F172A"/>
                          </a:solidFill>
                        </a:defRPr>
                      </a:pPr>
                      <a:r>
                        <a:t>357 p/s</a:t>
                      </a:r>
                    </a:p>
                  </a:txBody>
                  <a:tcPr marL="73152" marR="73152" marT="36576" marB="36576">
                    <a:solidFill>
                      <a:srgbClr val="FFFFFF"/>
                    </a:solidFill>
                  </a:tcPr>
                </a:tc>
                <a:tc>
                  <a:txBody>
                    <a:bodyPr/>
                    <a:lstStyle/>
                    <a:p>
                      <a:pPr algn="ctr">
                        <a:defRPr sz="950" b="0">
                          <a:solidFill>
                            <a:srgbClr val="0F172A"/>
                          </a:solidFill>
                        </a:defRPr>
                      </a:pPr>
                      <a:r>
                        <a:t>1,420 MB</a:t>
                      </a:r>
                    </a:p>
                  </a:txBody>
                  <a:tcPr marL="73152" marR="73152" marT="36576" marB="36576">
                    <a:solidFill>
                      <a:srgbClr val="FFFFFF"/>
                    </a:solidFill>
                  </a:tcPr>
                </a:tc>
                <a:tc>
                  <a:txBody>
                    <a:bodyPr/>
                    <a:lstStyle/>
                    <a:p>
                      <a:pPr algn="ctr">
                        <a:defRPr sz="950" b="0">
                          <a:solidFill>
                            <a:srgbClr val="0F172A"/>
                          </a:solidFill>
                        </a:defRPr>
                      </a:pPr>
                      <a:r>
                        <a:t>N/A</a:t>
                      </a:r>
                    </a:p>
                  </a:txBody>
                  <a:tcPr marL="73152" marR="73152" marT="36576" marB="36576">
                    <a:solidFill>
                      <a:srgbClr val="FFFFFF"/>
                    </a:solidFill>
                  </a:tcPr>
                </a:tc>
              </a:tr>
              <a:tr h="426720">
                <a:tc>
                  <a:txBody>
                    <a:bodyPr/>
                    <a:lstStyle/>
                    <a:p>
                      <a:pPr algn="l">
                        <a:defRPr sz="950" b="1">
                          <a:solidFill>
                            <a:srgbClr val="0F172A"/>
                          </a:solidFill>
                        </a:defRPr>
                      </a:pPr>
                      <a:r>
                        <a:t>Tent (ICLR '21)</a:t>
                      </a:r>
                    </a:p>
                  </a:txBody>
                  <a:tcPr marL="73152" marR="73152" marT="36576" marB="36576">
                    <a:solidFill>
                      <a:srgbClr val="F8FAFC"/>
                    </a:solidFill>
                  </a:tcPr>
                </a:tc>
                <a:tc>
                  <a:txBody>
                    <a:bodyPr/>
                    <a:lstStyle/>
                    <a:p>
                      <a:pPr algn="ctr">
                        <a:defRPr sz="950" b="0">
                          <a:solidFill>
                            <a:srgbClr val="0F172A"/>
                          </a:solidFill>
                        </a:defRPr>
                      </a:pPr>
                      <a:r>
                        <a:t>3.1 ms</a:t>
                      </a:r>
                    </a:p>
                  </a:txBody>
                  <a:tcPr marL="73152" marR="73152" marT="36576" marB="36576">
                    <a:solidFill>
                      <a:srgbClr val="F8FAFC"/>
                    </a:solidFill>
                  </a:tcPr>
                </a:tc>
                <a:tc>
                  <a:txBody>
                    <a:bodyPr/>
                    <a:lstStyle/>
                    <a:p>
                      <a:pPr algn="ctr">
                        <a:defRPr sz="950" b="0">
                          <a:solidFill>
                            <a:srgbClr val="0F172A"/>
                          </a:solidFill>
                        </a:defRPr>
                      </a:pPr>
                      <a:r>
                        <a:t>322 p/s</a:t>
                      </a:r>
                    </a:p>
                  </a:txBody>
                  <a:tcPr marL="73152" marR="73152" marT="36576" marB="36576">
                    <a:solidFill>
                      <a:srgbClr val="F8FAFC"/>
                    </a:solidFill>
                  </a:tcPr>
                </a:tc>
                <a:tc>
                  <a:txBody>
                    <a:bodyPr/>
                    <a:lstStyle/>
                    <a:p>
                      <a:pPr algn="ctr">
                        <a:defRPr sz="950" b="0">
                          <a:solidFill>
                            <a:srgbClr val="0F172A"/>
                          </a:solidFill>
                        </a:defRPr>
                      </a:pPr>
                      <a:r>
                        <a:t>1,540 MB</a:t>
                      </a:r>
                    </a:p>
                  </a:txBody>
                  <a:tcPr marL="73152" marR="73152" marT="36576" marB="36576">
                    <a:solidFill>
                      <a:srgbClr val="F8FAFC"/>
                    </a:solidFill>
                  </a:tcPr>
                </a:tc>
                <a:tc>
                  <a:txBody>
                    <a:bodyPr/>
                    <a:lstStyle/>
                    <a:p>
                      <a:pPr algn="ctr">
                        <a:defRPr sz="950" b="0">
                          <a:solidFill>
                            <a:srgbClr val="0F172A"/>
                          </a:solidFill>
                        </a:defRPr>
                      </a:pPr>
                      <a:r>
                        <a:t>N/A</a:t>
                      </a:r>
                    </a:p>
                  </a:txBody>
                  <a:tcPr marL="73152" marR="73152" marT="36576" marB="36576">
                    <a:solidFill>
                      <a:srgbClr val="F8FAFC"/>
                    </a:solidFill>
                  </a:tcPr>
                </a:tc>
              </a:tr>
              <a:tr h="426720">
                <a:tc>
                  <a:txBody>
                    <a:bodyPr/>
                    <a:lstStyle/>
                    <a:p>
                      <a:pPr algn="l">
                        <a:defRPr sz="950" b="1">
                          <a:solidFill>
                            <a:srgbClr val="0F172A"/>
                          </a:solidFill>
                        </a:defRPr>
                      </a:pPr>
                      <a:r>
                        <a:t>CoTTA (CVPR '22)</a:t>
                      </a:r>
                    </a:p>
                  </a:txBody>
                  <a:tcPr marL="73152" marR="73152" marT="36576" marB="36576">
                    <a:solidFill>
                      <a:srgbClr val="FFFFFF"/>
                    </a:solidFill>
                  </a:tcPr>
                </a:tc>
                <a:tc>
                  <a:txBody>
                    <a:bodyPr/>
                    <a:lstStyle/>
                    <a:p>
                      <a:pPr algn="ctr">
                        <a:defRPr sz="950" b="0">
                          <a:solidFill>
                            <a:srgbClr val="0F172A"/>
                          </a:solidFill>
                        </a:defRPr>
                      </a:pPr>
                      <a:r>
                        <a:t>8.4 ms</a:t>
                      </a:r>
                    </a:p>
                  </a:txBody>
                  <a:tcPr marL="73152" marR="73152" marT="36576" marB="36576">
                    <a:solidFill>
                      <a:srgbClr val="FFFFFF"/>
                    </a:solidFill>
                  </a:tcPr>
                </a:tc>
                <a:tc>
                  <a:txBody>
                    <a:bodyPr/>
                    <a:lstStyle/>
                    <a:p>
                      <a:pPr algn="ctr">
                        <a:defRPr sz="950" b="0">
                          <a:solidFill>
                            <a:srgbClr val="0F172A"/>
                          </a:solidFill>
                        </a:defRPr>
                      </a:pPr>
                      <a:r>
                        <a:t>119 p/s</a:t>
                      </a:r>
                    </a:p>
                  </a:txBody>
                  <a:tcPr marL="73152" marR="73152" marT="36576" marB="36576">
                    <a:solidFill>
                      <a:srgbClr val="FFFFFF"/>
                    </a:solidFill>
                  </a:tcPr>
                </a:tc>
                <a:tc>
                  <a:txBody>
                    <a:bodyPr/>
                    <a:lstStyle/>
                    <a:p>
                      <a:pPr algn="ctr">
                        <a:defRPr sz="950" b="0">
                          <a:solidFill>
                            <a:srgbClr val="0F172A"/>
                          </a:solidFill>
                        </a:defRPr>
                      </a:pPr>
                      <a:r>
                        <a:t>3,110 MB</a:t>
                      </a:r>
                    </a:p>
                  </a:txBody>
                  <a:tcPr marL="73152" marR="73152" marT="36576" marB="36576">
                    <a:solidFill>
                      <a:srgbClr val="FFFFFF"/>
                    </a:solidFill>
                  </a:tcPr>
                </a:tc>
                <a:tc>
                  <a:txBody>
                    <a:bodyPr/>
                    <a:lstStyle/>
                    <a:p>
                      <a:pPr algn="ctr">
                        <a:defRPr sz="950" b="0">
                          <a:solidFill>
                            <a:srgbClr val="0F172A"/>
                          </a:solidFill>
                        </a:defRPr>
                      </a:pPr>
                      <a:r>
                        <a:t>N/A</a:t>
                      </a:r>
                    </a:p>
                  </a:txBody>
                  <a:tcPr marL="73152" marR="73152" marT="36576" marB="36576">
                    <a:solidFill>
                      <a:srgbClr val="FFFFFF"/>
                    </a:solidFill>
                  </a:tcPr>
                </a:tc>
              </a:tr>
              <a:tr h="426720">
                <a:tc>
                  <a:txBody>
                    <a:bodyPr/>
                    <a:lstStyle/>
                    <a:p>
                      <a:pPr algn="l">
                        <a:defRPr sz="950" b="1">
                          <a:solidFill>
                            <a:srgbClr val="DC2626"/>
                          </a:solidFill>
                        </a:defRPr>
                      </a:pPr>
                      <a:r>
                        <a:t>MEMO (16 views)</a:t>
                      </a:r>
                    </a:p>
                  </a:txBody>
                  <a:tcPr marL="73152" marR="73152" marT="36576" marB="36576">
                    <a:solidFill>
                      <a:srgbClr val="FEF2F2"/>
                    </a:solidFill>
                  </a:tcPr>
                </a:tc>
                <a:tc>
                  <a:txBody>
                    <a:bodyPr/>
                    <a:lstStyle/>
                    <a:p>
                      <a:pPr algn="ctr">
                        <a:defRPr sz="950" b="1">
                          <a:solidFill>
                            <a:srgbClr val="DC2626"/>
                          </a:solidFill>
                        </a:defRPr>
                      </a:pPr>
                      <a:r>
                        <a:t>48.6 ms</a:t>
                      </a:r>
                    </a:p>
                  </a:txBody>
                  <a:tcPr marL="73152" marR="73152" marT="36576" marB="36576">
                    <a:solidFill>
                      <a:srgbClr val="FEF2F2"/>
                    </a:solidFill>
                  </a:tcPr>
                </a:tc>
                <a:tc>
                  <a:txBody>
                    <a:bodyPr/>
                    <a:lstStyle/>
                    <a:p>
                      <a:pPr algn="ctr">
                        <a:defRPr sz="950" b="1">
                          <a:solidFill>
                            <a:srgbClr val="DC2626"/>
                          </a:solidFill>
                        </a:defRPr>
                      </a:pPr>
                      <a:r>
                        <a:t>20 p/s</a:t>
                      </a:r>
                    </a:p>
                  </a:txBody>
                  <a:tcPr marL="73152" marR="73152" marT="36576" marB="36576">
                    <a:solidFill>
                      <a:srgbClr val="FEF2F2"/>
                    </a:solidFill>
                  </a:tcPr>
                </a:tc>
                <a:tc>
                  <a:txBody>
                    <a:bodyPr/>
                    <a:lstStyle/>
                    <a:p>
                      <a:pPr algn="ctr">
                        <a:defRPr sz="950" b="1">
                          <a:solidFill>
                            <a:srgbClr val="DC2626"/>
                          </a:solidFill>
                        </a:defRPr>
                      </a:pPr>
                      <a:r>
                        <a:t>4,890 MB</a:t>
                      </a:r>
                    </a:p>
                  </a:txBody>
                  <a:tcPr marL="73152" marR="73152" marT="36576" marB="36576">
                    <a:solidFill>
                      <a:srgbClr val="FEF2F2"/>
                    </a:solidFill>
                  </a:tcPr>
                </a:tc>
                <a:tc>
                  <a:txBody>
                    <a:bodyPr/>
                    <a:lstStyle/>
                    <a:p>
                      <a:pPr algn="ctr">
                        <a:defRPr sz="950" b="1">
                          <a:solidFill>
                            <a:srgbClr val="DC2626"/>
                          </a:solidFill>
                        </a:defRPr>
                      </a:pPr>
                      <a:r>
                        <a:t>N/A (17x slower!)</a:t>
                      </a:r>
                    </a:p>
                  </a:txBody>
                  <a:tcPr marL="73152" marR="73152" marT="36576" marB="36576">
                    <a:solidFill>
                      <a:srgbClr val="FEF2F2"/>
                    </a:solidFill>
                  </a:tcPr>
                </a:tc>
              </a:tr>
              <a:tr h="426720">
                <a:tc>
                  <a:txBody>
                    <a:bodyPr/>
                    <a:lstStyle/>
                    <a:p>
                      <a:pPr algn="l">
                        <a:defRPr sz="950" b="1">
                          <a:solidFill>
                            <a:srgbClr val="0F766E"/>
                          </a:solidFill>
                        </a:defRPr>
                      </a:pPr>
                      <a:r>
                        <a:t>SafeAdapt (Ours)</a:t>
                      </a:r>
                    </a:p>
                  </a:txBody>
                  <a:tcPr marL="73152" marR="73152" marT="36576" marB="36576">
                    <a:solidFill>
                      <a:srgbClr val="F0FDFA"/>
                    </a:solidFill>
                  </a:tcPr>
                </a:tc>
                <a:tc>
                  <a:txBody>
                    <a:bodyPr/>
                    <a:lstStyle/>
                    <a:p>
                      <a:pPr algn="ctr">
                        <a:defRPr sz="950" b="1">
                          <a:solidFill>
                            <a:srgbClr val="0F766E"/>
                          </a:solidFill>
                        </a:defRPr>
                      </a:pPr>
                      <a:r>
                        <a:t>3.2 ms</a:t>
                      </a:r>
                    </a:p>
                  </a:txBody>
                  <a:tcPr marL="73152" marR="73152" marT="36576" marB="36576">
                    <a:solidFill>
                      <a:srgbClr val="F0FDFA"/>
                    </a:solidFill>
                  </a:tcPr>
                </a:tc>
                <a:tc>
                  <a:txBody>
                    <a:bodyPr/>
                    <a:lstStyle/>
                    <a:p>
                      <a:pPr algn="ctr">
                        <a:defRPr sz="950" b="1">
                          <a:solidFill>
                            <a:srgbClr val="0F766E"/>
                          </a:solidFill>
                        </a:defRPr>
                      </a:pPr>
                      <a:r>
                        <a:t>312 p/s</a:t>
                      </a:r>
                    </a:p>
                  </a:txBody>
                  <a:tcPr marL="73152" marR="73152" marT="36576" marB="36576">
                    <a:solidFill>
                      <a:srgbClr val="F0FDFA"/>
                    </a:solidFill>
                  </a:tcPr>
                </a:tc>
                <a:tc>
                  <a:txBody>
                    <a:bodyPr/>
                    <a:lstStyle/>
                    <a:p>
                      <a:pPr algn="ctr">
                        <a:defRPr sz="950" b="1">
                          <a:solidFill>
                            <a:srgbClr val="0F766E"/>
                          </a:solidFill>
                        </a:defRPr>
                      </a:pPr>
                      <a:r>
                        <a:t>1,680 MB</a:t>
                      </a:r>
                    </a:p>
                  </a:txBody>
                  <a:tcPr marL="73152" marR="73152" marT="36576" marB="36576">
                    <a:solidFill>
                      <a:srgbClr val="F0FDFA"/>
                    </a:solidFill>
                  </a:tcPr>
                </a:tc>
                <a:tc>
                  <a:txBody>
                    <a:bodyPr/>
                    <a:lstStyle/>
                    <a:p>
                      <a:pPr algn="ctr">
                        <a:defRPr sz="950" b="1">
                          <a:solidFill>
                            <a:srgbClr val="0F766E"/>
                          </a:solidFill>
                        </a:defRPr>
                      </a:pPr>
                      <a:r>
                        <a:t>1.8 ms</a:t>
                      </a:r>
                    </a:p>
                  </a:txBody>
                  <a:tcPr marL="73152" marR="73152" marT="36576" marB="36576">
                    <a:solidFill>
                      <a:srgbClr val="F0FDFA"/>
                    </a:solidFill>
                  </a:tcPr>
                </a:tc>
              </a:tr>
            </a:tbl>
          </a:graphicData>
        </a:graphic>
      </p:graphicFrame>
      <p:sp>
        <p:nvSpPr>
          <p:cNvPr id="7" name="Rounded Rectangle 6"/>
          <p:cNvSpPr/>
          <p:nvPr/>
        </p:nvSpPr>
        <p:spPr>
          <a:xfrm>
            <a:off x="731520" y="4343400"/>
            <a:ext cx="5486400" cy="196596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4489704"/>
            <a:ext cx="5193792" cy="1673352"/>
          </a:xfrm>
          <a:prstGeom prst="rect">
            <a:avLst/>
          </a:prstGeom>
          <a:noFill/>
        </p:spPr>
        <p:txBody>
          <a:bodyPr wrap="square" lIns="0" tIns="0" rIns="0" bIns="0">
            <a:spAutoFit/>
          </a:bodyPr>
          <a:lstStyle/>
          <a:p>
            <a:pPr>
              <a:spcAft>
                <a:spcPts val="800"/>
              </a:spcAft>
              <a:defRPr sz="1300" b="1">
                <a:solidFill>
                  <a:srgbClr val="059669"/>
                </a:solidFill>
              </a:defRPr>
            </a:pPr>
            <a:r>
              <a:t>Real-Time Clinical PACS Compatibility</a:t>
            </a:r>
          </a:p>
          <a:p>
            <a:pPr>
              <a:spcAft>
                <a:spcPts val="600"/>
              </a:spcAft>
            </a:pPr>
            <a:r>
              <a:rPr b="1" sz="1050">
                <a:solidFill>
                  <a:srgbClr val="0F172A"/>
                </a:solidFill>
              </a:rPr>
              <a:t>•  Negligible Overhead: </a:t>
            </a:r>
            <a:r>
              <a:rPr sz="1050">
                <a:solidFill>
                  <a:srgbClr val="1E293B"/>
                </a:solidFill>
              </a:rPr>
              <a:t>Only +0.4 ms overhead per patch over frozen baseline (3.2 ms vs 2.8 ms).</a:t>
            </a:r>
          </a:p>
          <a:p>
            <a:pPr>
              <a:spcAft>
                <a:spcPts val="600"/>
              </a:spcAft>
            </a:pPr>
            <a:r>
              <a:rPr b="1" sz="1050">
                <a:solidFill>
                  <a:srgbClr val="0F172A"/>
                </a:solidFill>
              </a:rPr>
              <a:t>•  Ultra-Low Memory Footprint: </a:t>
            </a:r>
            <a:r>
              <a:rPr sz="1050">
                <a:solidFill>
                  <a:srgbClr val="1E293B"/>
                </a:solidFill>
              </a:rPr>
              <a:t>Requires only 1,680 MB VRAM, fitting into standard 8GB hospital edge workstations.</a:t>
            </a:r>
          </a:p>
          <a:p>
            <a:pPr>
              <a:spcAft>
                <a:spcPts val="600"/>
              </a:spcAft>
            </a:pPr>
            <a:r>
              <a:rPr b="1" sz="1050">
                <a:solidFill>
                  <a:srgbClr val="0F172A"/>
                </a:solidFill>
              </a:rPr>
              <a:t>•  Instant Rollback: </a:t>
            </a:r>
            <a:r>
              <a:rPr sz="1050">
                <a:solidFill>
                  <a:srgbClr val="1E293B"/>
                </a:solidFill>
              </a:rPr>
              <a:t>Rollback executes in 1.8 ms—recovering parameters in under 1/500th of a second without pipeline stall.</a:t>
            </a:r>
          </a:p>
        </p:txBody>
      </p:sp>
      <p:sp>
        <p:nvSpPr>
          <p:cNvPr id="9" name="Rounded Rectangle 8"/>
          <p:cNvSpPr/>
          <p:nvPr/>
        </p:nvSpPr>
        <p:spPr>
          <a:xfrm>
            <a:off x="4572000" y="4453128"/>
            <a:ext cx="1508760" cy="256032"/>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59669"/>
                </a:solidFill>
              </a:defRPr>
            </a:pPr>
            <a:r>
              <a:t>312 PATCHES/SEC</a:t>
            </a:r>
          </a:p>
        </p:txBody>
      </p:sp>
      <p:sp>
        <p:nvSpPr>
          <p:cNvPr id="10" name="Rounded Rectangle 9"/>
          <p:cNvSpPr/>
          <p:nvPr/>
        </p:nvSpPr>
        <p:spPr>
          <a:xfrm>
            <a:off x="6345936" y="3126787"/>
            <a:ext cx="5138928" cy="1976024"/>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ig_v2_gpu_training_convergence.png"/>
          <p:cNvPicPr>
            <a:picLocks noChangeAspect="1"/>
          </p:cNvPicPr>
          <p:nvPr/>
        </p:nvPicPr>
        <p:blipFill>
          <a:blip r:embed="rId2"/>
          <a:stretch>
            <a:fillRect/>
          </a:stretch>
        </p:blipFill>
        <p:spPr>
          <a:xfrm>
            <a:off x="6400800" y="3181651"/>
            <a:ext cx="5029200" cy="1591976"/>
          </a:xfrm>
          <a:prstGeom prst="rect">
            <a:avLst/>
          </a:prstGeom>
        </p:spPr>
      </p:pic>
      <p:sp>
        <p:nvSpPr>
          <p:cNvPr id="12" name="TextBox 11"/>
          <p:cNvSpPr txBox="1"/>
          <p:nvPr/>
        </p:nvSpPr>
        <p:spPr>
          <a:xfrm>
            <a:off x="6400800" y="4819348"/>
            <a:ext cx="5029200" cy="228600"/>
          </a:xfrm>
          <a:prstGeom prst="rect">
            <a:avLst/>
          </a:prstGeom>
          <a:noFill/>
        </p:spPr>
        <p:txBody>
          <a:bodyPr wrap="square" lIns="0" tIns="0" rIns="0" bIns="0">
            <a:spAutoFit/>
          </a:bodyPr>
          <a:lstStyle/>
          <a:p>
            <a:pPr algn="ctr">
              <a:defRPr sz="850" i="1">
                <a:solidFill>
                  <a:srgbClr val="64748B"/>
                </a:solidFill>
              </a:defRPr>
            </a:pPr>
            <a:r>
              <a:t>GPU Inference Latency &amp; Parameter Convergence: SafeAdapt converges in &lt;= 5 steps with minimal latency overhead.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274320"/>
          </a:xfrm>
          <a:prstGeom prst="rect">
            <a:avLst/>
          </a:prstGeom>
          <a:noFill/>
        </p:spPr>
        <p:txBody>
          <a:bodyPr wrap="square" lIns="0" tIns="0" rIns="0" bIns="0">
            <a:spAutoFit/>
          </a:bodyPr>
          <a:lstStyle/>
          <a:p>
            <a:pPr>
              <a:defRPr sz="1000" b="1">
                <a:solidFill>
                  <a:srgbClr val="0D9488"/>
                </a:solidFill>
              </a:defRPr>
            </a:pPr>
            <a:r>
              <a:t>CLINICAL GOVERNANCE</a:t>
            </a:r>
          </a:p>
        </p:txBody>
      </p:sp>
      <p:sp>
        <p:nvSpPr>
          <p:cNvPr id="4" name="TextBox 3"/>
          <p:cNvSpPr txBox="1"/>
          <p:nvPr/>
        </p:nvSpPr>
        <p:spPr>
          <a:xfrm>
            <a:off x="731520" y="594360"/>
            <a:ext cx="10728655" cy="502920"/>
          </a:xfrm>
          <a:prstGeom prst="rect">
            <a:avLst/>
          </a:prstGeom>
          <a:noFill/>
        </p:spPr>
        <p:txBody>
          <a:bodyPr wrap="square" lIns="0" tIns="0" rIns="0" bIns="0">
            <a:spAutoFit/>
          </a:bodyPr>
          <a:lstStyle/>
          <a:p>
            <a:pPr>
              <a:defRPr sz="2400" b="1">
                <a:solidFill>
                  <a:srgbClr val="0F172A"/>
                </a:solidFill>
              </a:defRPr>
            </a:pPr>
            <a:r>
              <a:t>Regulatory Compliance, Patient Privacy &amp; DICOM Standards</a:t>
            </a:r>
          </a:p>
        </p:txBody>
      </p:sp>
      <p:sp>
        <p:nvSpPr>
          <p:cNvPr id="5" name="Rounded Rectangle 4"/>
          <p:cNvSpPr/>
          <p:nvPr/>
        </p:nvSpPr>
        <p:spPr>
          <a:xfrm>
            <a:off x="731520" y="1115568"/>
            <a:ext cx="10728655" cy="384048"/>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rIns="137160" bIns="36576"/>
          <a:lstStyle/>
          <a:p>
            <a:pPr algn="ctr">
              <a:defRPr sz="1100" b="1">
                <a:solidFill>
                  <a:srgbClr val="0F766E"/>
                </a:solidFill>
              </a:defRPr>
            </a:pPr>
            <a:r>
              <a:t>KEY TAKEAWAY:  Engineered for hospital deployment: HIPAA/GDPR compliance with zero cross-patient data leakage.</a:t>
            </a:r>
          </a:p>
        </p:txBody>
      </p:sp>
      <p:sp>
        <p:nvSpPr>
          <p:cNvPr id="6" name="Rounded Rectangle 5"/>
          <p:cNvSpPr/>
          <p:nvPr/>
        </p:nvSpPr>
        <p:spPr>
          <a:xfrm>
            <a:off x="731520" y="1645920"/>
            <a:ext cx="3429000" cy="466344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792224"/>
            <a:ext cx="3136392" cy="4370832"/>
          </a:xfrm>
          <a:prstGeom prst="rect">
            <a:avLst/>
          </a:prstGeom>
          <a:noFill/>
        </p:spPr>
        <p:txBody>
          <a:bodyPr wrap="square" lIns="0" tIns="0" rIns="0" bIns="0">
            <a:spAutoFit/>
          </a:bodyPr>
          <a:lstStyle/>
          <a:p>
            <a:pPr>
              <a:spcAft>
                <a:spcPts val="800"/>
              </a:spcAft>
              <a:defRPr sz="1300" b="1">
                <a:solidFill>
                  <a:srgbClr val="0D9488"/>
                </a:solidFill>
              </a:defRPr>
            </a:pPr>
            <a:r>
              <a:t>1. Deterministic Episodic Resets</a:t>
            </a:r>
          </a:p>
          <a:p>
            <a:pPr>
              <a:spcAft>
                <a:spcPts val="600"/>
              </a:spcAft>
            </a:pPr>
            <a:r>
              <a:rPr b="1" sz="1050">
                <a:solidFill>
                  <a:srgbClr val="0F172A"/>
                </a:solidFill>
              </a:rPr>
              <a:t>•  The Clinical Dilemma: </a:t>
            </a:r>
            <a:r>
              <a:rPr sz="1050">
                <a:solidFill>
                  <a:srgbClr val="1E293B"/>
                </a:solidFill>
              </a:rPr>
              <a:t>In a hospital queue, slide processing order is random. Continual learning algorithms (CoTTA, RoTTA) allow Patient A's tissue to alter Patient B's diagnosis.</a:t>
            </a:r>
          </a:p>
          <a:p>
            <a:pPr>
              <a:spcAft>
                <a:spcPts val="600"/>
              </a:spcAft>
            </a:pPr>
            <a:r>
              <a:rPr b="1" sz="1050">
                <a:solidFill>
                  <a:srgbClr val="0F172A"/>
                </a:solidFill>
              </a:rPr>
              <a:t>•  Regulatory Hazard: </a:t>
            </a:r>
            <a:r>
              <a:rPr sz="1050">
                <a:solidFill>
                  <a:srgbClr val="1E293B"/>
                </a:solidFill>
              </a:rPr>
              <a:t>Violates FDA non-leakage standards and EU AI Act reproducibility requirements.</a:t>
            </a:r>
          </a:p>
          <a:p>
            <a:pPr>
              <a:spcAft>
                <a:spcPts val="600"/>
              </a:spcAft>
            </a:pPr>
            <a:r>
              <a:rPr b="1" sz="1050">
                <a:solidFill>
                  <a:srgbClr val="0F172A"/>
                </a:solidFill>
              </a:rPr>
              <a:t>•  SafeAdapt Guarantee: </a:t>
            </a:r>
            <a:r>
              <a:rPr sz="1050">
                <a:solidFill>
                  <a:srgbClr val="1E293B"/>
                </a:solidFill>
              </a:rPr>
              <a:t>Enforces mathematical parameter resets to theta_0 upon slide completion, guaranteeing deterministic, order-independent diagnosis.</a:t>
            </a:r>
          </a:p>
        </p:txBody>
      </p:sp>
      <p:sp>
        <p:nvSpPr>
          <p:cNvPr id="8" name="Rounded Rectangle 7"/>
          <p:cNvSpPr/>
          <p:nvPr/>
        </p:nvSpPr>
        <p:spPr>
          <a:xfrm>
            <a:off x="2514600" y="1755648"/>
            <a:ext cx="1508760" cy="256032"/>
          </a:xfrm>
          <a:prstGeom prst="roundRect">
            <a:avLst/>
          </a:prstGeom>
          <a:solidFill>
            <a:srgbClr val="ECFDF5"/>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D9488"/>
                </a:solidFill>
              </a:defRPr>
            </a:pPr>
            <a:r>
              <a:t>HIPAA / GDPR</a:t>
            </a:r>
          </a:p>
        </p:txBody>
      </p:sp>
      <p:sp>
        <p:nvSpPr>
          <p:cNvPr id="9" name="Rounded Rectangle 8"/>
          <p:cNvSpPr/>
          <p:nvPr/>
        </p:nvSpPr>
        <p:spPr>
          <a:xfrm>
            <a:off x="4389120" y="1645920"/>
            <a:ext cx="3429000" cy="466344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35424" y="1792224"/>
            <a:ext cx="3136392" cy="4370832"/>
          </a:xfrm>
          <a:prstGeom prst="rect">
            <a:avLst/>
          </a:prstGeom>
          <a:noFill/>
        </p:spPr>
        <p:txBody>
          <a:bodyPr wrap="square" lIns="0" tIns="0" rIns="0" bIns="0">
            <a:spAutoFit/>
          </a:bodyPr>
          <a:lstStyle/>
          <a:p>
            <a:pPr>
              <a:spcAft>
                <a:spcPts val="800"/>
              </a:spcAft>
              <a:defRPr sz="1300" b="1">
                <a:solidFill>
                  <a:srgbClr val="0F172A"/>
                </a:solidFill>
              </a:defRPr>
            </a:pPr>
            <a:r>
              <a:t>2. Native DICOM Integration</a:t>
            </a:r>
          </a:p>
          <a:p>
            <a:pPr>
              <a:spcAft>
                <a:spcPts val="600"/>
              </a:spcAft>
            </a:pPr>
            <a:r>
              <a:rPr b="1" sz="1050">
                <a:solidFill>
                  <a:srgbClr val="0F172A"/>
                </a:solidFill>
              </a:rPr>
              <a:t>•  Standard Header Parsing: </a:t>
            </a:r>
            <a:r>
              <a:rPr sz="1050">
                <a:solidFill>
                  <a:srgbClr val="1E293B"/>
                </a:solidFill>
              </a:rPr>
              <a:t>Directly interfaces with DICOM Whole Slide Imaging metadata standards.</a:t>
            </a:r>
          </a:p>
          <a:p>
            <a:pPr>
              <a:spcAft>
                <a:spcPts val="600"/>
              </a:spcAft>
            </a:pPr>
            <a:r>
              <a:rPr b="1" sz="1050">
                <a:solidFill>
                  <a:srgbClr val="0F172A"/>
                </a:solidFill>
              </a:rPr>
              <a:t>•  Automatic Triggering: </a:t>
            </a:r>
            <a:r>
              <a:rPr sz="1050">
                <a:solidFill>
                  <a:srgbClr val="1E293B"/>
                </a:solidFill>
              </a:rPr>
              <a:t>DICOM Accession Number (0008,0050) and Study Instance UID (0020,000D) automatically trigger FIFO buffer purges and parameter resets.</a:t>
            </a:r>
          </a:p>
          <a:p>
            <a:pPr>
              <a:spcAft>
                <a:spcPts val="600"/>
              </a:spcAft>
            </a:pPr>
            <a:r>
              <a:rPr b="1" sz="1050">
                <a:solidFill>
                  <a:srgbClr val="0F172A"/>
                </a:solidFill>
              </a:rPr>
              <a:t>•  Audit Logging: </a:t>
            </a:r>
            <a:r>
              <a:rPr sz="1050">
                <a:solidFill>
                  <a:srgbClr val="1E293B"/>
                </a:solidFill>
              </a:rPr>
              <a:t>Outputs cryptographically hashed adaptation logs for every slide, fulfilling hospital QA requirements.</a:t>
            </a:r>
          </a:p>
        </p:txBody>
      </p:sp>
      <p:sp>
        <p:nvSpPr>
          <p:cNvPr id="11" name="Rounded Rectangle 10"/>
          <p:cNvSpPr/>
          <p:nvPr/>
        </p:nvSpPr>
        <p:spPr>
          <a:xfrm>
            <a:off x="6172200" y="1755648"/>
            <a:ext cx="1508760" cy="256032"/>
          </a:xfrm>
          <a:prstGeom prst="roundRect">
            <a:avLst/>
          </a:prstGeom>
          <a:solidFill>
            <a:srgbClr val="ECFDF5"/>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F172A"/>
                </a:solidFill>
              </a:defRPr>
            </a:pPr>
            <a:r>
              <a:t>DICOM WSI TAGS</a:t>
            </a:r>
          </a:p>
        </p:txBody>
      </p:sp>
      <p:sp>
        <p:nvSpPr>
          <p:cNvPr id="12" name="Rounded Rectangle 11"/>
          <p:cNvSpPr/>
          <p:nvPr/>
        </p:nvSpPr>
        <p:spPr>
          <a:xfrm>
            <a:off x="8046720" y="1645920"/>
            <a:ext cx="3429000" cy="466344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1792224"/>
            <a:ext cx="3136392" cy="4370832"/>
          </a:xfrm>
          <a:prstGeom prst="rect">
            <a:avLst/>
          </a:prstGeom>
          <a:noFill/>
        </p:spPr>
        <p:txBody>
          <a:bodyPr wrap="square" lIns="0" tIns="0" rIns="0" bIns="0">
            <a:spAutoFit/>
          </a:bodyPr>
          <a:lstStyle/>
          <a:p>
            <a:pPr>
              <a:spcAft>
                <a:spcPts val="800"/>
              </a:spcAft>
              <a:defRPr sz="1300" b="1">
                <a:solidFill>
                  <a:srgbClr val="059669"/>
                </a:solidFill>
              </a:defRPr>
            </a:pPr>
            <a:r>
              <a:t>3. Fail-Closed Safety Philosophy</a:t>
            </a:r>
          </a:p>
          <a:p>
            <a:pPr>
              <a:spcAft>
                <a:spcPts val="600"/>
              </a:spcAft>
            </a:pPr>
            <a:r>
              <a:rPr b="1" sz="1050">
                <a:solidFill>
                  <a:srgbClr val="0F172A"/>
                </a:solidFill>
              </a:rPr>
              <a:t>•  Medical Device Principles: </a:t>
            </a:r>
            <a:r>
              <a:rPr sz="1050">
                <a:solidFill>
                  <a:srgbClr val="1E293B"/>
                </a:solidFill>
              </a:rPr>
              <a:t>Engineered in accordance with IEC 62304 medical device software lifecycle standards.</a:t>
            </a:r>
          </a:p>
          <a:p>
            <a:pPr>
              <a:spcAft>
                <a:spcPts val="600"/>
              </a:spcAft>
            </a:pPr>
            <a:r>
              <a:rPr b="1" sz="1050">
                <a:solidFill>
                  <a:srgbClr val="0F172A"/>
                </a:solidFill>
              </a:rPr>
              <a:t>•  Safe Fallback State: </a:t>
            </a:r>
            <a:r>
              <a:rPr sz="1050">
                <a:solidFill>
                  <a:srgbClr val="1E293B"/>
                </a:solidFill>
              </a:rPr>
              <a:t>If an extreme out-of-distribution artifact occurs, the system defaults to the certified source model rather than risking erratic adapted outputs.</a:t>
            </a:r>
          </a:p>
          <a:p>
            <a:pPr>
              <a:spcAft>
                <a:spcPts val="600"/>
              </a:spcAft>
            </a:pPr>
            <a:r>
              <a:rPr b="1" sz="1050">
                <a:solidFill>
                  <a:srgbClr val="0F172A"/>
                </a:solidFill>
              </a:rPr>
              <a:t>•  Pathologist Trust: </a:t>
            </a:r>
            <a:r>
              <a:rPr sz="1050">
                <a:solidFill>
                  <a:srgbClr val="1E293B"/>
                </a:solidFill>
              </a:rPr>
              <a:t>Provides pathologists with transparent safety indicators on every generated diagnostic report.</a:t>
            </a:r>
          </a:p>
        </p:txBody>
      </p:sp>
      <p:sp>
        <p:nvSpPr>
          <p:cNvPr id="14" name="Rounded Rectangle 13"/>
          <p:cNvSpPr/>
          <p:nvPr/>
        </p:nvSpPr>
        <p:spPr>
          <a:xfrm>
            <a:off x="9829800" y="1755648"/>
            <a:ext cx="1508760" cy="256032"/>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59669"/>
                </a:solidFill>
              </a:defRPr>
            </a:pPr>
            <a:r>
              <a:t>IEC 62304 ALIGNED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274320"/>
          </a:xfrm>
          <a:prstGeom prst="rect">
            <a:avLst/>
          </a:prstGeom>
          <a:noFill/>
        </p:spPr>
        <p:txBody>
          <a:bodyPr wrap="square" lIns="0" tIns="0" rIns="0" bIns="0">
            <a:spAutoFit/>
          </a:bodyPr>
          <a:lstStyle/>
          <a:p>
            <a:pPr>
              <a:defRPr sz="1000" b="1">
                <a:solidFill>
                  <a:srgbClr val="0D9488"/>
                </a:solidFill>
              </a:defRPr>
            </a:pPr>
            <a:r>
              <a:t>ABLATION &amp; SENSITIVITY ANALYSIS</a:t>
            </a:r>
          </a:p>
        </p:txBody>
      </p:sp>
      <p:sp>
        <p:nvSpPr>
          <p:cNvPr id="4" name="TextBox 3"/>
          <p:cNvSpPr txBox="1"/>
          <p:nvPr/>
        </p:nvSpPr>
        <p:spPr>
          <a:xfrm>
            <a:off x="731520" y="594360"/>
            <a:ext cx="10728655" cy="502920"/>
          </a:xfrm>
          <a:prstGeom prst="rect">
            <a:avLst/>
          </a:prstGeom>
          <a:noFill/>
        </p:spPr>
        <p:txBody>
          <a:bodyPr wrap="square" lIns="0" tIns="0" rIns="0" bIns="0">
            <a:spAutoFit/>
          </a:bodyPr>
          <a:lstStyle/>
          <a:p>
            <a:pPr>
              <a:defRPr sz="2400" b="1">
                <a:solidFill>
                  <a:srgbClr val="0F172A"/>
                </a:solidFill>
              </a:defRPr>
            </a:pPr>
            <a:r>
              <a:t>Dissecting SafeAdapt: Component-by-Component Impact</a:t>
            </a:r>
          </a:p>
        </p:txBody>
      </p:sp>
      <p:sp>
        <p:nvSpPr>
          <p:cNvPr id="5" name="Rounded Rectangle 4"/>
          <p:cNvSpPr/>
          <p:nvPr/>
        </p:nvSpPr>
        <p:spPr>
          <a:xfrm>
            <a:off x="731520" y="1115568"/>
            <a:ext cx="10728655" cy="384048"/>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rIns="137160" bIns="36576"/>
          <a:lstStyle/>
          <a:p>
            <a:pPr algn="ctr">
              <a:defRPr sz="1100" b="1">
                <a:solidFill>
                  <a:srgbClr val="0F766E"/>
                </a:solidFill>
              </a:defRPr>
            </a:pPr>
            <a:r>
              <a:t>KEY TAKEAWAY:  Every architectural safeguard provides measurable value: removing any module degrades accuracy or re-introduces collapse.</a:t>
            </a:r>
          </a:p>
        </p:txBody>
      </p:sp>
      <p:graphicFrame>
        <p:nvGraphicFramePr>
          <p:cNvPr id="6" name="Table 5"/>
          <p:cNvGraphicFramePr>
            <a:graphicFrameLocks noGrp="1"/>
          </p:cNvGraphicFramePr>
          <p:nvPr/>
        </p:nvGraphicFramePr>
        <p:xfrm>
          <a:off x="731520" y="1645920"/>
          <a:ext cx="6309360" cy="2926080"/>
        </p:xfrm>
        <a:graphic>
          <a:graphicData uri="http://schemas.openxmlformats.org/drawingml/2006/table">
            <a:tbl>
              <a:tblPr firstRow="1" bandRow="1">
                <a:tableStyleId>{5C22544A-7EE6-4342-B048-85BDC9FD1C3A}</a:tableStyleId>
              </a:tblPr>
              <a:tblGrid>
                <a:gridCol w="2011680"/>
                <a:gridCol w="822960"/>
                <a:gridCol w="822960"/>
                <a:gridCol w="1005840"/>
                <a:gridCol w="1645920"/>
              </a:tblGrid>
              <a:tr h="487680">
                <a:tc>
                  <a:txBody>
                    <a:bodyPr/>
                    <a:lstStyle/>
                    <a:p>
                      <a:pPr algn="l">
                        <a:defRPr sz="1000" b="1">
                          <a:solidFill>
                            <a:srgbClr val="FFFFFF"/>
                          </a:solidFill>
                        </a:defRPr>
                      </a:pPr>
                      <a:r>
                        <a:t>Configuration</a:t>
                      </a:r>
                    </a:p>
                  </a:txBody>
                  <a:tcPr marL="73152" marR="73152" marT="36576" marB="36576">
                    <a:solidFill>
                      <a:srgbClr val="0F172A"/>
                    </a:solidFill>
                  </a:tcPr>
                </a:tc>
                <a:tc>
                  <a:txBody>
                    <a:bodyPr/>
                    <a:lstStyle/>
                    <a:p>
                      <a:pPr algn="ctr">
                        <a:defRPr sz="1000" b="1">
                          <a:solidFill>
                            <a:srgbClr val="FFFFFF"/>
                          </a:solidFill>
                        </a:defRPr>
                      </a:pPr>
                      <a:r>
                        <a:t>AUROC</a:t>
                      </a:r>
                    </a:p>
                  </a:txBody>
                  <a:tcPr marL="73152" marR="73152" marT="36576" marB="36576">
                    <a:solidFill>
                      <a:srgbClr val="0F172A"/>
                    </a:solidFill>
                  </a:tcPr>
                </a:tc>
                <a:tc>
                  <a:txBody>
                    <a:bodyPr/>
                    <a:lstStyle/>
                    <a:p>
                      <a:pPr algn="ctr">
                        <a:defRPr sz="1000" b="1">
                          <a:solidFill>
                            <a:srgbClr val="FFFFFF"/>
                          </a:solidFill>
                        </a:defRPr>
                      </a:pPr>
                      <a:r>
                        <a:t>ECE</a:t>
                      </a:r>
                    </a:p>
                  </a:txBody>
                  <a:tcPr marL="73152" marR="73152" marT="36576" marB="36576">
                    <a:solidFill>
                      <a:srgbClr val="0F172A"/>
                    </a:solidFill>
                  </a:tcPr>
                </a:tc>
                <a:tc>
                  <a:txBody>
                    <a:bodyPr/>
                    <a:lstStyle/>
                    <a:p>
                      <a:pPr algn="ctr">
                        <a:defRPr sz="1000" b="1">
                          <a:solidFill>
                            <a:srgbClr val="FFFFFF"/>
                          </a:solidFill>
                        </a:defRPr>
                      </a:pPr>
                      <a:r>
                        <a:t>Collapse Rate</a:t>
                      </a:r>
                    </a:p>
                  </a:txBody>
                  <a:tcPr marL="73152" marR="73152" marT="36576" marB="36576">
                    <a:solidFill>
                      <a:srgbClr val="0F172A"/>
                    </a:solidFill>
                  </a:tcPr>
                </a:tc>
                <a:tc>
                  <a:txBody>
                    <a:bodyPr/>
                    <a:lstStyle/>
                    <a:p>
                      <a:pPr algn="ctr">
                        <a:defRPr sz="1000" b="1">
                          <a:solidFill>
                            <a:srgbClr val="FFFFFF"/>
                          </a:solidFill>
                        </a:defRPr>
                      </a:pPr>
                      <a:r>
                        <a:t>Contribution</a:t>
                      </a:r>
                    </a:p>
                  </a:txBody>
                  <a:tcPr marL="73152" marR="73152" marT="36576" marB="36576">
                    <a:solidFill>
                      <a:srgbClr val="0F172A"/>
                    </a:solidFill>
                  </a:tcPr>
                </a:tc>
              </a:tr>
              <a:tr h="487680">
                <a:tc>
                  <a:txBody>
                    <a:bodyPr/>
                    <a:lstStyle/>
                    <a:p>
                      <a:pPr algn="l">
                        <a:defRPr sz="950" b="1">
                          <a:solidFill>
                            <a:srgbClr val="0F172A"/>
                          </a:solidFill>
                        </a:defRPr>
                      </a:pPr>
                      <a:r>
                        <a:t>Frozen Source Model</a:t>
                      </a:r>
                    </a:p>
                  </a:txBody>
                  <a:tcPr marL="73152" marR="73152" marT="36576" marB="36576">
                    <a:solidFill>
                      <a:srgbClr val="FFFFFF"/>
                    </a:solidFill>
                  </a:tcPr>
                </a:tc>
                <a:tc>
                  <a:txBody>
                    <a:bodyPr/>
                    <a:lstStyle/>
                    <a:p>
                      <a:pPr algn="ctr">
                        <a:defRPr sz="950" b="0">
                          <a:solidFill>
                            <a:srgbClr val="0F172A"/>
                          </a:solidFill>
                        </a:defRPr>
                      </a:pPr>
                      <a:r>
                        <a:t>0.8312</a:t>
                      </a:r>
                    </a:p>
                  </a:txBody>
                  <a:tcPr marL="73152" marR="73152" marT="36576" marB="36576">
                    <a:solidFill>
                      <a:srgbClr val="FFFFFF"/>
                    </a:solidFill>
                  </a:tcPr>
                </a:tc>
                <a:tc>
                  <a:txBody>
                    <a:bodyPr/>
                    <a:lstStyle/>
                    <a:p>
                      <a:pPr algn="ctr">
                        <a:defRPr sz="950" b="0">
                          <a:solidFill>
                            <a:srgbClr val="0F172A"/>
                          </a:solidFill>
                        </a:defRPr>
                      </a:pPr>
                      <a:r>
                        <a:t>0.1642</a:t>
                      </a:r>
                    </a:p>
                  </a:txBody>
                  <a:tcPr marL="73152" marR="73152" marT="36576" marB="36576">
                    <a:solidFill>
                      <a:srgbClr val="FFFFFF"/>
                    </a:solidFill>
                  </a:tcPr>
                </a:tc>
                <a:tc>
                  <a:txBody>
                    <a:bodyPr/>
                    <a:lstStyle/>
                    <a:p>
                      <a:pPr algn="ctr">
                        <a:defRPr sz="950" b="0">
                          <a:solidFill>
                            <a:srgbClr val="0F172A"/>
                          </a:solidFill>
                        </a:defRPr>
                      </a:pPr>
                      <a:r>
                        <a:t>0.0%</a:t>
                      </a:r>
                    </a:p>
                  </a:txBody>
                  <a:tcPr marL="73152" marR="73152" marT="36576" marB="36576">
                    <a:solidFill>
                      <a:srgbClr val="FFFFFF"/>
                    </a:solidFill>
                  </a:tcPr>
                </a:tc>
                <a:tc>
                  <a:txBody>
                    <a:bodyPr/>
                    <a:lstStyle/>
                    <a:p>
                      <a:pPr algn="ctr">
                        <a:defRPr sz="950" b="0">
                          <a:solidFill>
                            <a:srgbClr val="0F172A"/>
                          </a:solidFill>
                        </a:defRPr>
                      </a:pPr>
                      <a:r>
                        <a:t>Reference Baseline</a:t>
                      </a:r>
                    </a:p>
                  </a:txBody>
                  <a:tcPr marL="73152" marR="73152" marT="36576" marB="36576">
                    <a:solidFill>
                      <a:srgbClr val="FFFFFF"/>
                    </a:solidFill>
                  </a:tcPr>
                </a:tc>
              </a:tr>
              <a:tr h="487680">
                <a:tc>
                  <a:txBody>
                    <a:bodyPr/>
                    <a:lstStyle/>
                    <a:p>
                      <a:pPr algn="l">
                        <a:defRPr sz="950" b="1">
                          <a:solidFill>
                            <a:srgbClr val="DC2626"/>
                          </a:solidFill>
                        </a:defRPr>
                      </a:pPr>
                      <a:r>
                        <a:t>+ Standard Tent (Entropy Min)</a:t>
                      </a:r>
                    </a:p>
                  </a:txBody>
                  <a:tcPr marL="73152" marR="73152" marT="36576" marB="36576">
                    <a:solidFill>
                      <a:srgbClr val="FEF2F2"/>
                    </a:solidFill>
                  </a:tcPr>
                </a:tc>
                <a:tc>
                  <a:txBody>
                    <a:bodyPr/>
                    <a:lstStyle/>
                    <a:p>
                      <a:pPr algn="ctr">
                        <a:defRPr sz="950" b="1">
                          <a:solidFill>
                            <a:srgbClr val="DC2626"/>
                          </a:solidFill>
                        </a:defRPr>
                      </a:pPr>
                      <a:r>
                        <a:t>0.7645</a:t>
                      </a:r>
                    </a:p>
                  </a:txBody>
                  <a:tcPr marL="73152" marR="73152" marT="36576" marB="36576">
                    <a:solidFill>
                      <a:srgbClr val="FEF2F2"/>
                    </a:solidFill>
                  </a:tcPr>
                </a:tc>
                <a:tc>
                  <a:txBody>
                    <a:bodyPr/>
                    <a:lstStyle/>
                    <a:p>
                      <a:pPr algn="ctr">
                        <a:defRPr sz="950" b="1">
                          <a:solidFill>
                            <a:srgbClr val="DC2626"/>
                          </a:solidFill>
                        </a:defRPr>
                      </a:pPr>
                      <a:r>
                        <a:t>0.2810</a:t>
                      </a:r>
                    </a:p>
                  </a:txBody>
                  <a:tcPr marL="73152" marR="73152" marT="36576" marB="36576">
                    <a:solidFill>
                      <a:srgbClr val="FEF2F2"/>
                    </a:solidFill>
                  </a:tcPr>
                </a:tc>
                <a:tc>
                  <a:txBody>
                    <a:bodyPr/>
                    <a:lstStyle/>
                    <a:p>
                      <a:pPr algn="ctr">
                        <a:defRPr sz="950" b="1">
                          <a:solidFill>
                            <a:srgbClr val="DC2626"/>
                          </a:solidFill>
                        </a:defRPr>
                      </a:pPr>
                      <a:r>
                        <a:t>40.0%</a:t>
                      </a:r>
                    </a:p>
                  </a:txBody>
                  <a:tcPr marL="73152" marR="73152" marT="36576" marB="36576">
                    <a:solidFill>
                      <a:srgbClr val="FEF2F2"/>
                    </a:solidFill>
                  </a:tcPr>
                </a:tc>
                <a:tc>
                  <a:txBody>
                    <a:bodyPr/>
                    <a:lstStyle/>
                    <a:p>
                      <a:pPr algn="ctr">
                        <a:defRPr sz="950" b="1">
                          <a:solidFill>
                            <a:srgbClr val="DC2626"/>
                          </a:solidFill>
                        </a:defRPr>
                      </a:pPr>
                      <a:r>
                        <a:t>Collapse Failure (-0.0667)</a:t>
                      </a:r>
                    </a:p>
                  </a:txBody>
                  <a:tcPr marL="73152" marR="73152" marT="36576" marB="36576">
                    <a:solidFill>
                      <a:srgbClr val="FEF2F2"/>
                    </a:solidFill>
                  </a:tcPr>
                </a:tc>
              </a:tr>
              <a:tr h="487680">
                <a:tc>
                  <a:txBody>
                    <a:bodyPr/>
                    <a:lstStyle/>
                    <a:p>
                      <a:pPr algn="l">
                        <a:defRPr sz="950" b="1">
                          <a:solidFill>
                            <a:srgbClr val="0F172A"/>
                          </a:solidFill>
                        </a:defRPr>
                      </a:pPr>
                      <a:r>
                        <a:t>+ Sinkhorn Optimal Transport</a:t>
                      </a:r>
                    </a:p>
                  </a:txBody>
                  <a:tcPr marL="73152" marR="73152" marT="36576" marB="36576">
                    <a:solidFill>
                      <a:srgbClr val="FFFFFF"/>
                    </a:solidFill>
                  </a:tcPr>
                </a:tc>
                <a:tc>
                  <a:txBody>
                    <a:bodyPr/>
                    <a:lstStyle/>
                    <a:p>
                      <a:pPr algn="ctr">
                        <a:defRPr sz="950" b="0">
                          <a:solidFill>
                            <a:srgbClr val="0F172A"/>
                          </a:solidFill>
                        </a:defRPr>
                      </a:pPr>
                      <a:r>
                        <a:t>0.9124</a:t>
                      </a:r>
                    </a:p>
                  </a:txBody>
                  <a:tcPr marL="73152" marR="73152" marT="36576" marB="36576">
                    <a:solidFill>
                      <a:srgbClr val="FFFFFF"/>
                    </a:solidFill>
                  </a:tcPr>
                </a:tc>
                <a:tc>
                  <a:txBody>
                    <a:bodyPr/>
                    <a:lstStyle/>
                    <a:p>
                      <a:pPr algn="ctr">
                        <a:defRPr sz="950" b="0">
                          <a:solidFill>
                            <a:srgbClr val="0F172A"/>
                          </a:solidFill>
                        </a:defRPr>
                      </a:pPr>
                      <a:r>
                        <a:t>0.0890</a:t>
                      </a:r>
                    </a:p>
                  </a:txBody>
                  <a:tcPr marL="73152" marR="73152" marT="36576" marB="36576">
                    <a:solidFill>
                      <a:srgbClr val="FFFFFF"/>
                    </a:solidFill>
                  </a:tcPr>
                </a:tc>
                <a:tc>
                  <a:txBody>
                    <a:bodyPr/>
                    <a:lstStyle/>
                    <a:p>
                      <a:pPr algn="ctr">
                        <a:defRPr sz="950" b="0">
                          <a:solidFill>
                            <a:srgbClr val="0F172A"/>
                          </a:solidFill>
                        </a:defRPr>
                      </a:pPr>
                      <a:r>
                        <a:t>8.0%</a:t>
                      </a:r>
                    </a:p>
                  </a:txBody>
                  <a:tcPr marL="73152" marR="73152" marT="36576" marB="36576">
                    <a:solidFill>
                      <a:srgbClr val="FFFFFF"/>
                    </a:solidFill>
                  </a:tcPr>
                </a:tc>
                <a:tc>
                  <a:txBody>
                    <a:bodyPr/>
                    <a:lstStyle/>
                    <a:p>
                      <a:pPr algn="ctr">
                        <a:defRPr sz="950" b="0">
                          <a:solidFill>
                            <a:srgbClr val="0F172A"/>
                          </a:solidFill>
                        </a:defRPr>
                      </a:pPr>
                      <a:r>
                        <a:t>Primary Alignment (+0.0812)</a:t>
                      </a:r>
                    </a:p>
                  </a:txBody>
                  <a:tcPr marL="73152" marR="73152" marT="36576" marB="36576">
                    <a:solidFill>
                      <a:srgbClr val="FFFFFF"/>
                    </a:solidFill>
                  </a:tcPr>
                </a:tc>
              </a:tr>
              <a:tr h="487680">
                <a:tc>
                  <a:txBody>
                    <a:bodyPr/>
                    <a:lstStyle/>
                    <a:p>
                      <a:pPr algn="l">
                        <a:defRPr sz="950" b="1">
                          <a:solidFill>
                            <a:srgbClr val="0F172A"/>
                          </a:solidFill>
                        </a:defRPr>
                      </a:pPr>
                      <a:r>
                        <a:t>+ Cross-Attention Memory (CMR)</a:t>
                      </a:r>
                    </a:p>
                  </a:txBody>
                  <a:tcPr marL="73152" marR="73152" marT="36576" marB="36576">
                    <a:solidFill>
                      <a:srgbClr val="F8FAFC"/>
                    </a:solidFill>
                  </a:tcPr>
                </a:tc>
                <a:tc>
                  <a:txBody>
                    <a:bodyPr/>
                    <a:lstStyle/>
                    <a:p>
                      <a:pPr algn="ctr">
                        <a:defRPr sz="950" b="0">
                          <a:solidFill>
                            <a:srgbClr val="0F172A"/>
                          </a:solidFill>
                        </a:defRPr>
                      </a:pPr>
                      <a:r>
                        <a:t>0.9348</a:t>
                      </a:r>
                    </a:p>
                  </a:txBody>
                  <a:tcPr marL="73152" marR="73152" marT="36576" marB="36576">
                    <a:solidFill>
                      <a:srgbClr val="F8FAFC"/>
                    </a:solidFill>
                  </a:tcPr>
                </a:tc>
                <a:tc>
                  <a:txBody>
                    <a:bodyPr/>
                    <a:lstStyle/>
                    <a:p>
                      <a:pPr algn="ctr">
                        <a:defRPr sz="950" b="0">
                          <a:solidFill>
                            <a:srgbClr val="0F172A"/>
                          </a:solidFill>
                        </a:defRPr>
                      </a:pPr>
                      <a:r>
                        <a:t>0.0610</a:t>
                      </a:r>
                    </a:p>
                  </a:txBody>
                  <a:tcPr marL="73152" marR="73152" marT="36576" marB="36576">
                    <a:solidFill>
                      <a:srgbClr val="F8FAFC"/>
                    </a:solidFill>
                  </a:tcPr>
                </a:tc>
                <a:tc>
                  <a:txBody>
                    <a:bodyPr/>
                    <a:lstStyle/>
                    <a:p>
                      <a:pPr algn="ctr">
                        <a:defRPr sz="950" b="0">
                          <a:solidFill>
                            <a:srgbClr val="0F172A"/>
                          </a:solidFill>
                        </a:defRPr>
                      </a:pPr>
                      <a:r>
                        <a:t>4.0%</a:t>
                      </a:r>
                    </a:p>
                  </a:txBody>
                  <a:tcPr marL="73152" marR="73152" marT="36576" marB="36576">
                    <a:solidFill>
                      <a:srgbClr val="F8FAFC"/>
                    </a:solidFill>
                  </a:tcPr>
                </a:tc>
                <a:tc>
                  <a:txBody>
                    <a:bodyPr/>
                    <a:lstStyle/>
                    <a:p>
                      <a:pPr algn="ctr">
                        <a:defRPr sz="950" b="0">
                          <a:solidFill>
                            <a:srgbClr val="0F172A"/>
                          </a:solidFill>
                        </a:defRPr>
                      </a:pPr>
                      <a:r>
                        <a:t>Artifact Rejection (+0.0224)</a:t>
                      </a:r>
                    </a:p>
                  </a:txBody>
                  <a:tcPr marL="73152" marR="73152" marT="36576" marB="36576">
                    <a:solidFill>
                      <a:srgbClr val="F8FAFC"/>
                    </a:solidFill>
                  </a:tcPr>
                </a:tc>
              </a:tr>
              <a:tr h="487680">
                <a:tc>
                  <a:txBody>
                    <a:bodyPr/>
                    <a:lstStyle/>
                    <a:p>
                      <a:pPr algn="l">
                        <a:defRPr sz="950" b="1">
                          <a:solidFill>
                            <a:srgbClr val="0F766E"/>
                          </a:solidFill>
                        </a:defRPr>
                      </a:pPr>
                      <a:r>
                        <a:t>+ Full SafeAdapt (with Conformal)</a:t>
                      </a:r>
                    </a:p>
                  </a:txBody>
                  <a:tcPr marL="73152" marR="73152" marT="36576" marB="36576">
                    <a:solidFill>
                      <a:srgbClr val="F0FDFA"/>
                    </a:solidFill>
                  </a:tcPr>
                </a:tc>
                <a:tc>
                  <a:txBody>
                    <a:bodyPr/>
                    <a:lstStyle/>
                    <a:p>
                      <a:pPr algn="ctr">
                        <a:defRPr sz="950" b="1">
                          <a:solidFill>
                            <a:srgbClr val="0F766E"/>
                          </a:solidFill>
                        </a:defRPr>
                      </a:pPr>
                      <a:r>
                        <a:t>0.9495</a:t>
                      </a:r>
                    </a:p>
                  </a:txBody>
                  <a:tcPr marL="73152" marR="73152" marT="36576" marB="36576">
                    <a:solidFill>
                      <a:srgbClr val="F0FDFA"/>
                    </a:solidFill>
                  </a:tcPr>
                </a:tc>
                <a:tc>
                  <a:txBody>
                    <a:bodyPr/>
                    <a:lstStyle/>
                    <a:p>
                      <a:pPr algn="ctr">
                        <a:defRPr sz="950" b="1">
                          <a:solidFill>
                            <a:srgbClr val="0F766E"/>
                          </a:solidFill>
                        </a:defRPr>
                      </a:pPr>
                      <a:r>
                        <a:t>0.0418</a:t>
                      </a:r>
                    </a:p>
                  </a:txBody>
                  <a:tcPr marL="73152" marR="73152" marT="36576" marB="36576">
                    <a:solidFill>
                      <a:srgbClr val="F0FDFA"/>
                    </a:solidFill>
                  </a:tcPr>
                </a:tc>
                <a:tc>
                  <a:txBody>
                    <a:bodyPr/>
                    <a:lstStyle/>
                    <a:p>
                      <a:pPr algn="ctr">
                        <a:defRPr sz="950" b="1">
                          <a:solidFill>
                            <a:srgbClr val="0F766E"/>
                          </a:solidFill>
                        </a:defRPr>
                      </a:pPr>
                      <a:r>
                        <a:t>0.0%</a:t>
                      </a:r>
                    </a:p>
                  </a:txBody>
                  <a:tcPr marL="73152" marR="73152" marT="36576" marB="36576">
                    <a:solidFill>
                      <a:srgbClr val="F0FDFA"/>
                    </a:solidFill>
                  </a:tcPr>
                </a:tc>
                <a:tc>
                  <a:txBody>
                    <a:bodyPr/>
                    <a:lstStyle/>
                    <a:p>
                      <a:pPr algn="ctr">
                        <a:defRPr sz="950" b="1">
                          <a:solidFill>
                            <a:srgbClr val="0F766E"/>
                          </a:solidFill>
                        </a:defRPr>
                      </a:pPr>
                      <a:r>
                        <a:t>Complete Safety (+0.0147)</a:t>
                      </a:r>
                    </a:p>
                  </a:txBody>
                  <a:tcPr marL="73152" marR="73152" marT="36576" marB="36576">
                    <a:solidFill>
                      <a:srgbClr val="F0FDFA"/>
                    </a:solidFill>
                  </a:tcPr>
                </a:tc>
              </a:tr>
            </a:tbl>
          </a:graphicData>
        </a:graphic>
      </p:graphicFrame>
      <p:sp>
        <p:nvSpPr>
          <p:cNvPr id="7" name="Rounded Rectangle 6"/>
          <p:cNvSpPr/>
          <p:nvPr/>
        </p:nvSpPr>
        <p:spPr>
          <a:xfrm>
            <a:off x="731520" y="4709160"/>
            <a:ext cx="6309360" cy="160020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lIns="137160" rIns="137160" tIns="109728"/>
          <a:lstStyle/>
          <a:p>
            <a:pPr algn="ctr">
              <a:defRPr sz="1100" b="1">
                <a:solidFill>
                  <a:srgbClr val="0F766E"/>
                </a:solidFill>
              </a:defRPr>
            </a:pPr>
            <a:r>
              <a:t>KEY ABLATION INSIGHTS:</a:t>
            </a:r>
          </a:p>
          <a:p>
            <a:r>
              <a:rPr b="1" sz="950">
                <a:solidFill>
                  <a:srgbClr val="0F172A"/>
                </a:solidFill>
              </a:rPr>
              <a:t>• Sinkhorn OT is the primary engine: </a:t>
            </a:r>
            <a:r>
              <a:rPr sz="950">
                <a:solidFill>
                  <a:srgbClr val="1E293B"/>
                </a:solidFill>
              </a:rPr>
              <a:t>Drives a +0.0812 AUROC jump by preserving semantic category geometry.</a:t>
            </a:r>
          </a:p>
          <a:p>
            <a:r>
              <a:rPr b="1" sz="950">
                <a:solidFill>
                  <a:srgbClr val="0F172A"/>
                </a:solidFill>
              </a:rPr>
              <a:t>• CMR provides artifact shielding: </a:t>
            </a:r>
            <a:r>
              <a:rPr sz="950">
                <a:solidFill>
                  <a:srgbClr val="1E293B"/>
                </a:solidFill>
              </a:rPr>
              <a:t>Adds +0.0224 AUROC and halves remaining collapse risk by absorbing debris.</a:t>
            </a:r>
          </a:p>
          <a:p>
            <a:r>
              <a:rPr b="1" sz="950">
                <a:solidFill>
                  <a:srgbClr val="0F172A"/>
                </a:solidFill>
              </a:rPr>
              <a:t>• Conformal Rollback provides total safety: </a:t>
            </a:r>
            <a:r>
              <a:rPr sz="950">
                <a:solidFill>
                  <a:srgbClr val="1E293B"/>
                </a:solidFill>
              </a:rPr>
              <a:t>Provides the final +0.0147 gain and drives catastrophic collapse to exactly 0.0%.</a:t>
            </a:r>
          </a:p>
        </p:txBody>
      </p:sp>
      <p:sp>
        <p:nvSpPr>
          <p:cNvPr id="8" name="Rounded Rectangle 7"/>
          <p:cNvSpPr/>
          <p:nvPr/>
        </p:nvSpPr>
        <p:spPr>
          <a:xfrm>
            <a:off x="7223760" y="1645920"/>
            <a:ext cx="4236415" cy="219456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70064" y="1792224"/>
            <a:ext cx="3943807" cy="1901952"/>
          </a:xfrm>
          <a:prstGeom prst="rect">
            <a:avLst/>
          </a:prstGeom>
          <a:noFill/>
        </p:spPr>
        <p:txBody>
          <a:bodyPr wrap="square" lIns="0" tIns="0" rIns="0" bIns="0">
            <a:spAutoFit/>
          </a:bodyPr>
          <a:lstStyle/>
          <a:p>
            <a:pPr>
              <a:spcAft>
                <a:spcPts val="800"/>
              </a:spcAft>
              <a:defRPr sz="1300" b="1">
                <a:solidFill>
                  <a:srgbClr val="0F172A"/>
                </a:solidFill>
              </a:defRPr>
            </a:pPr>
            <a:r>
              <a:t>Sensitivity to Epsilon &amp; Tau</a:t>
            </a:r>
          </a:p>
          <a:p>
            <a:pPr>
              <a:spcAft>
                <a:spcPts val="600"/>
              </a:spcAft>
            </a:pPr>
            <a:r>
              <a:rPr b="1" sz="1050">
                <a:solidFill>
                  <a:srgbClr val="0F172A"/>
                </a:solidFill>
              </a:rPr>
              <a:t>•  Sinkhorn Regularizer epsilon: </a:t>
            </a:r>
            <a:r>
              <a:rPr sz="1050">
                <a:solidFill>
                  <a:srgbClr val="1E293B"/>
                </a:solidFill>
              </a:rPr>
              <a:t>Stable across 3 orders of magnitude (0.01 to 0.5); optimal at epsilon = 0.05.</a:t>
            </a:r>
          </a:p>
          <a:p>
            <a:pPr>
              <a:spcAft>
                <a:spcPts val="600"/>
              </a:spcAft>
            </a:pPr>
            <a:r>
              <a:rPr b="1" sz="1050">
                <a:solidFill>
                  <a:srgbClr val="0F172A"/>
                </a:solidFill>
              </a:rPr>
              <a:t>•  Temperature tau: </a:t>
            </a:r>
            <a:r>
              <a:rPr sz="1050">
                <a:solidFill>
                  <a:srgbClr val="1E293B"/>
                </a:solidFill>
              </a:rPr>
              <a:t>Maintains high AUROC (&gt;0.94) across tau in [0.05, 0.20], demonstrating hyperparameter robustness.</a:t>
            </a:r>
          </a:p>
        </p:txBody>
      </p:sp>
      <p:sp>
        <p:nvSpPr>
          <p:cNvPr id="10" name="Rounded Rectangle 9"/>
          <p:cNvSpPr/>
          <p:nvPr/>
        </p:nvSpPr>
        <p:spPr>
          <a:xfrm>
            <a:off x="9814255" y="1755648"/>
            <a:ext cx="1508760" cy="256032"/>
          </a:xfrm>
          <a:prstGeom prst="roundRect">
            <a:avLst/>
          </a:prstGeom>
          <a:solidFill>
            <a:srgbClr val="ECFDF5"/>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F172A"/>
                </a:solidFill>
              </a:defRPr>
            </a:pPr>
            <a:r>
              <a:t>ROBUST HYPERPARAMETERS</a:t>
            </a:r>
          </a:p>
        </p:txBody>
      </p:sp>
      <p:sp>
        <p:nvSpPr>
          <p:cNvPr id="11" name="Rounded Rectangle 10"/>
          <p:cNvSpPr/>
          <p:nvPr/>
        </p:nvSpPr>
        <p:spPr>
          <a:xfrm>
            <a:off x="7223760" y="4023360"/>
            <a:ext cx="4236415" cy="228600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70064" y="4169664"/>
            <a:ext cx="3943807" cy="1993392"/>
          </a:xfrm>
          <a:prstGeom prst="rect">
            <a:avLst/>
          </a:prstGeom>
          <a:noFill/>
        </p:spPr>
        <p:txBody>
          <a:bodyPr wrap="square" lIns="0" tIns="0" rIns="0" bIns="0">
            <a:spAutoFit/>
          </a:bodyPr>
          <a:lstStyle/>
          <a:p>
            <a:pPr>
              <a:spcAft>
                <a:spcPts val="800"/>
              </a:spcAft>
              <a:defRPr sz="1300" b="1">
                <a:solidFill>
                  <a:srgbClr val="0D9488"/>
                </a:solidFill>
              </a:defRPr>
            </a:pPr>
            <a:r>
              <a:t>Sensitivity to Conformal Alpha</a:t>
            </a:r>
          </a:p>
          <a:p>
            <a:pPr>
              <a:spcAft>
                <a:spcPts val="600"/>
              </a:spcAft>
            </a:pPr>
            <a:r>
              <a:rPr b="1" sz="1050">
                <a:solidFill>
                  <a:srgbClr val="0F172A"/>
                </a:solidFill>
              </a:rPr>
              <a:t>•  Safety Bound alpha = 0.05: </a:t>
            </a:r>
            <a:r>
              <a:rPr sz="1050">
                <a:solidFill>
                  <a:srgbClr val="1E293B"/>
                </a:solidFill>
              </a:rPr>
              <a:t>Strikes optimal balance between positive adaptation and proactive rollback.</a:t>
            </a:r>
          </a:p>
          <a:p>
            <a:pPr>
              <a:spcAft>
                <a:spcPts val="600"/>
              </a:spcAft>
            </a:pPr>
            <a:r>
              <a:rPr b="1" sz="1050">
                <a:solidFill>
                  <a:srgbClr val="0F172A"/>
                </a:solidFill>
              </a:rPr>
              <a:t>•  Overly Strict (alpha = 0.01): </a:t>
            </a:r>
            <a:r>
              <a:rPr sz="1050">
                <a:solidFill>
                  <a:srgbClr val="1E293B"/>
                </a:solidFill>
              </a:rPr>
              <a:t>Triggers premature rollbacks, preserving safety but limiting adaptation gain to 0.8920.</a:t>
            </a:r>
          </a:p>
          <a:p>
            <a:pPr>
              <a:spcAft>
                <a:spcPts val="600"/>
              </a:spcAft>
            </a:pPr>
            <a:r>
              <a:rPr b="1" sz="1050">
                <a:solidFill>
                  <a:srgbClr val="0F172A"/>
                </a:solidFill>
              </a:rPr>
              <a:t>•  Overly Permissive (alpha = 0.10): </a:t>
            </a:r>
            <a:r>
              <a:rPr sz="1050">
                <a:solidFill>
                  <a:srgbClr val="1E293B"/>
                </a:solidFill>
              </a:rPr>
              <a:t>Allows 2% edge-case drift; confirms alpha = 0.05 as the ideal clinical setting.</a:t>
            </a:r>
          </a:p>
        </p:txBody>
      </p:sp>
      <p:sp>
        <p:nvSpPr>
          <p:cNvPr id="13" name="Rounded Rectangle 12"/>
          <p:cNvSpPr/>
          <p:nvPr/>
        </p:nvSpPr>
        <p:spPr>
          <a:xfrm>
            <a:off x="9814255" y="4133088"/>
            <a:ext cx="1508760" cy="256032"/>
          </a:xfrm>
          <a:prstGeom prst="roundRect">
            <a:avLst/>
          </a:prstGeom>
          <a:solidFill>
            <a:srgbClr val="ECFDF5"/>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D9488"/>
                </a:solidFill>
              </a:defRPr>
            </a:pPr>
            <a:r>
              <a:t>CALIBRATED ALPHA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274320"/>
          </a:xfrm>
          <a:prstGeom prst="rect">
            <a:avLst/>
          </a:prstGeom>
          <a:noFill/>
        </p:spPr>
        <p:txBody>
          <a:bodyPr wrap="square" lIns="0" tIns="0" rIns="0" bIns="0">
            <a:spAutoFit/>
          </a:bodyPr>
          <a:lstStyle/>
          <a:p>
            <a:pPr>
              <a:defRPr sz="1000" b="1">
                <a:solidFill>
                  <a:srgbClr val="0D9488"/>
                </a:solidFill>
              </a:defRPr>
            </a:pPr>
            <a:r>
              <a:t>ADVANCED BENCHMARKING</a:t>
            </a:r>
          </a:p>
        </p:txBody>
      </p:sp>
      <p:sp>
        <p:nvSpPr>
          <p:cNvPr id="4" name="TextBox 3"/>
          <p:cNvSpPr txBox="1"/>
          <p:nvPr/>
        </p:nvSpPr>
        <p:spPr>
          <a:xfrm>
            <a:off x="731520" y="594360"/>
            <a:ext cx="10728655" cy="502920"/>
          </a:xfrm>
          <a:prstGeom prst="rect">
            <a:avLst/>
          </a:prstGeom>
          <a:noFill/>
        </p:spPr>
        <p:txBody>
          <a:bodyPr wrap="square" lIns="0" tIns="0" rIns="0" bIns="0">
            <a:spAutoFit/>
          </a:bodyPr>
          <a:lstStyle/>
          <a:p>
            <a:pPr>
              <a:defRPr sz="2400" b="1">
                <a:solidFill>
                  <a:srgbClr val="0F172A"/>
                </a:solidFill>
              </a:defRPr>
            </a:pPr>
            <a:r>
              <a:t>SafeAdapt vs. Recent Continual Paradigms (SAR, CoTTA, RoTTA)</a:t>
            </a:r>
          </a:p>
        </p:txBody>
      </p:sp>
      <p:sp>
        <p:nvSpPr>
          <p:cNvPr id="5" name="Rounded Rectangle 4"/>
          <p:cNvSpPr/>
          <p:nvPr/>
        </p:nvSpPr>
        <p:spPr>
          <a:xfrm>
            <a:off x="731520" y="1115568"/>
            <a:ext cx="10728655" cy="384048"/>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rIns="137160" bIns="36576"/>
          <a:lstStyle/>
          <a:p>
            <a:pPr algn="ctr">
              <a:defRPr sz="1100" b="1">
                <a:solidFill>
                  <a:srgbClr val="0F766E"/>
                </a:solidFill>
              </a:defRPr>
            </a:pPr>
            <a:r>
              <a:t>KEY TAKEAWAY:  Continual methods suffer from error accumulation across slides; SafeAdapt guarantees deterministic safety and superior accuracy.</a:t>
            </a:r>
          </a:p>
        </p:txBody>
      </p:sp>
      <p:sp>
        <p:nvSpPr>
          <p:cNvPr id="6" name="Rounded Rectangle 5"/>
          <p:cNvSpPr/>
          <p:nvPr/>
        </p:nvSpPr>
        <p:spPr>
          <a:xfrm>
            <a:off x="731520" y="1645920"/>
            <a:ext cx="3429000" cy="4663440"/>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792224"/>
            <a:ext cx="3136392" cy="4370832"/>
          </a:xfrm>
          <a:prstGeom prst="rect">
            <a:avLst/>
          </a:prstGeom>
          <a:noFill/>
        </p:spPr>
        <p:txBody>
          <a:bodyPr wrap="square" lIns="0" tIns="0" rIns="0" bIns="0">
            <a:spAutoFit/>
          </a:bodyPr>
          <a:lstStyle/>
          <a:p>
            <a:pPr>
              <a:spcAft>
                <a:spcPts val="800"/>
              </a:spcAft>
              <a:defRPr sz="1300" b="1">
                <a:solidFill>
                  <a:srgbClr val="DC2626"/>
                </a:solidFill>
              </a:defRPr>
            </a:pPr>
            <a:r>
              <a:t>1. Error Accumulation in Continual TTA</a:t>
            </a:r>
          </a:p>
          <a:p>
            <a:pPr>
              <a:spcAft>
                <a:spcPts val="600"/>
              </a:spcAft>
            </a:pPr>
            <a:r>
              <a:rPr b="1" sz="1050">
                <a:solidFill>
                  <a:srgbClr val="0F172A"/>
                </a:solidFill>
              </a:rPr>
              <a:t>•  The Continual Paradigm: </a:t>
            </a:r>
            <a:r>
              <a:rPr sz="1050">
                <a:solidFill>
                  <a:srgbClr val="1E293B"/>
                </a:solidFill>
              </a:rPr>
              <a:t>Methods like CoTTA (CVPR '22) and RoTTA (CVPR '23) maintain memory banks and EMA teachers across multiple patient slides.</a:t>
            </a:r>
          </a:p>
          <a:p>
            <a:pPr>
              <a:spcAft>
                <a:spcPts val="600"/>
              </a:spcAft>
            </a:pPr>
            <a:r>
              <a:rPr b="1" sz="1050">
                <a:solidFill>
                  <a:srgbClr val="0F172A"/>
                </a:solidFill>
              </a:rPr>
              <a:t>•  The Pathology Failure: </a:t>
            </a:r>
            <a:r>
              <a:rPr sz="1050">
                <a:solidFill>
                  <a:srgbClr val="1E293B"/>
                </a:solidFill>
              </a:rPr>
              <a:t>When an extreme outlier slide enters the stream, corrupted features permanently poison the memory bank, contaminating subsequent patient slides.</a:t>
            </a:r>
          </a:p>
          <a:p>
            <a:pPr>
              <a:spcAft>
                <a:spcPts val="600"/>
              </a:spcAft>
            </a:pPr>
            <a:r>
              <a:rPr b="1" sz="1050">
                <a:solidFill>
                  <a:srgbClr val="0F172A"/>
                </a:solidFill>
              </a:rPr>
              <a:t>•  SafeAdapt Resolution: </a:t>
            </a:r>
            <a:r>
              <a:rPr sz="1050">
                <a:solidFill>
                  <a:srgbClr val="1E293B"/>
                </a:solidFill>
              </a:rPr>
              <a:t>Deterministic episodic resets completely prevent cross-slide error propagation.</a:t>
            </a:r>
          </a:p>
        </p:txBody>
      </p:sp>
      <p:sp>
        <p:nvSpPr>
          <p:cNvPr id="8" name="Rounded Rectangle 7"/>
          <p:cNvSpPr/>
          <p:nvPr/>
        </p:nvSpPr>
        <p:spPr>
          <a:xfrm>
            <a:off x="2514600" y="1755648"/>
            <a:ext cx="1508760" cy="256032"/>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DC2626"/>
                </a:solidFill>
              </a:defRPr>
            </a:pPr>
            <a:r>
              <a:t>CONTINUAL POISONING</a:t>
            </a:r>
          </a:p>
        </p:txBody>
      </p:sp>
      <p:sp>
        <p:nvSpPr>
          <p:cNvPr id="9" name="Rounded Rectangle 8"/>
          <p:cNvSpPr/>
          <p:nvPr/>
        </p:nvSpPr>
        <p:spPr>
          <a:xfrm>
            <a:off x="4389120" y="1645920"/>
            <a:ext cx="3429000" cy="466344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35424" y="1792224"/>
            <a:ext cx="3136392" cy="4370832"/>
          </a:xfrm>
          <a:prstGeom prst="rect">
            <a:avLst/>
          </a:prstGeom>
          <a:noFill/>
        </p:spPr>
        <p:txBody>
          <a:bodyPr wrap="square" lIns="0" tIns="0" rIns="0" bIns="0">
            <a:spAutoFit/>
          </a:bodyPr>
          <a:lstStyle/>
          <a:p>
            <a:pPr>
              <a:spcAft>
                <a:spcPts val="800"/>
              </a:spcAft>
              <a:defRPr sz="1300" b="1">
                <a:solidFill>
                  <a:srgbClr val="0F172A"/>
                </a:solidFill>
              </a:defRPr>
            </a:pPr>
            <a:r>
              <a:t>2. Gradient-Norm Pitfall in SAR</a:t>
            </a:r>
          </a:p>
          <a:p>
            <a:pPr>
              <a:spcAft>
                <a:spcPts val="600"/>
              </a:spcAft>
            </a:pPr>
            <a:r>
              <a:rPr b="1" sz="1050">
                <a:solidFill>
                  <a:srgbClr val="0F172A"/>
                </a:solidFill>
              </a:rPr>
              <a:t>•  SAR Mechanism: </a:t>
            </a:r>
            <a:r>
              <a:rPr sz="1050">
                <a:solidFill>
                  <a:srgbClr val="1E293B"/>
                </a:solidFill>
              </a:rPr>
              <a:t>Sharpness-Aware Minimization filters updates by checking for sudden gradient norm spikes.</a:t>
            </a:r>
          </a:p>
          <a:p>
            <a:pPr>
              <a:spcAft>
                <a:spcPts val="600"/>
              </a:spcAft>
            </a:pPr>
            <a:r>
              <a:rPr b="1" sz="1050">
                <a:solidFill>
                  <a:srgbClr val="0F172A"/>
                </a:solidFill>
              </a:rPr>
              <a:t>•  The Pathology Reality: </a:t>
            </a:r>
            <a:r>
              <a:rPr sz="1050">
                <a:solidFill>
                  <a:srgbClr val="1E293B"/>
                </a:solidFill>
              </a:rPr>
              <a:t>Stain drift between scanners is smooth and continuous. Gradients remain low-norm but point in completely wrong directions.</a:t>
            </a:r>
          </a:p>
          <a:p>
            <a:pPr>
              <a:spcAft>
                <a:spcPts val="600"/>
              </a:spcAft>
            </a:pPr>
            <a:r>
              <a:rPr b="1" sz="1050">
                <a:solidFill>
                  <a:srgbClr val="0F172A"/>
                </a:solidFill>
              </a:rPr>
              <a:t>•  Silent Drift: </a:t>
            </a:r>
            <a:r>
              <a:rPr sz="1050">
                <a:solidFill>
                  <a:srgbClr val="1E293B"/>
                </a:solidFill>
              </a:rPr>
              <a:t>SAR silently drifts into collapsed attractors on 15% of slides because its gradient threshold is never triggered.</a:t>
            </a:r>
          </a:p>
        </p:txBody>
      </p:sp>
      <p:sp>
        <p:nvSpPr>
          <p:cNvPr id="11" name="Rounded Rectangle 10"/>
          <p:cNvSpPr/>
          <p:nvPr/>
        </p:nvSpPr>
        <p:spPr>
          <a:xfrm>
            <a:off x="6172200" y="1755648"/>
            <a:ext cx="1508760" cy="256032"/>
          </a:xfrm>
          <a:prstGeom prst="roundRect">
            <a:avLst/>
          </a:prstGeom>
          <a:solidFill>
            <a:srgbClr val="ECFDF5"/>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F172A"/>
                </a:solidFill>
              </a:defRPr>
            </a:pPr>
            <a:r>
              <a:t>THRESHOLD BLINDNESS</a:t>
            </a:r>
          </a:p>
        </p:txBody>
      </p:sp>
      <p:sp>
        <p:nvSpPr>
          <p:cNvPr id="12" name="Rounded Rectangle 11"/>
          <p:cNvSpPr/>
          <p:nvPr/>
        </p:nvSpPr>
        <p:spPr>
          <a:xfrm>
            <a:off x="8046720" y="1645920"/>
            <a:ext cx="3429000" cy="466344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1792224"/>
            <a:ext cx="3136392" cy="4370832"/>
          </a:xfrm>
          <a:prstGeom prst="rect">
            <a:avLst/>
          </a:prstGeom>
          <a:noFill/>
        </p:spPr>
        <p:txBody>
          <a:bodyPr wrap="square" lIns="0" tIns="0" rIns="0" bIns="0">
            <a:spAutoFit/>
          </a:bodyPr>
          <a:lstStyle/>
          <a:p>
            <a:pPr>
              <a:spcAft>
                <a:spcPts val="800"/>
              </a:spcAft>
              <a:defRPr sz="1300" b="1">
                <a:solidFill>
                  <a:srgbClr val="059669"/>
                </a:solidFill>
              </a:defRPr>
            </a:pPr>
            <a:r>
              <a:t>3. Empirical Dominance</a:t>
            </a:r>
          </a:p>
          <a:p>
            <a:pPr>
              <a:spcAft>
                <a:spcPts val="600"/>
              </a:spcAft>
            </a:pPr>
            <a:r>
              <a:rPr b="1" sz="1050">
                <a:solidFill>
                  <a:srgbClr val="0F172A"/>
                </a:solidFill>
              </a:rPr>
              <a:t>•  AUROC Superiority: </a:t>
            </a:r>
            <a:r>
              <a:rPr sz="1050">
                <a:solidFill>
                  <a:srgbClr val="1E293B"/>
                </a:solidFill>
              </a:rPr>
              <a:t>SafeAdapt (0.9495) outperforms RoTTA (0.8715) by +0.078 and CoTTA (0.8210) by +0.128 AUROC.</a:t>
            </a:r>
          </a:p>
          <a:p>
            <a:pPr>
              <a:spcAft>
                <a:spcPts val="600"/>
              </a:spcAft>
            </a:pPr>
            <a:r>
              <a:rPr b="1" sz="1050">
                <a:solidFill>
                  <a:srgbClr val="0F172A"/>
                </a:solidFill>
              </a:rPr>
              <a:t>•  Calibration Superiority: </a:t>
            </a:r>
            <a:r>
              <a:rPr sz="1050">
                <a:solidFill>
                  <a:srgbClr val="1E293B"/>
                </a:solidFill>
              </a:rPr>
              <a:t>ECE of 0.0418 vs 0.1150 (RoTTA) and 0.1890 (CoTTA)—a 64% reduction in miscalibration.</a:t>
            </a:r>
          </a:p>
          <a:p>
            <a:pPr>
              <a:spcAft>
                <a:spcPts val="600"/>
              </a:spcAft>
            </a:pPr>
            <a:r>
              <a:rPr b="1" sz="1050">
                <a:solidFill>
                  <a:srgbClr val="0F172A"/>
                </a:solidFill>
              </a:rPr>
              <a:t>•  System Efficiency: </a:t>
            </a:r>
            <a:r>
              <a:rPr sz="1050">
                <a:solidFill>
                  <a:srgbClr val="1E293B"/>
                </a:solidFill>
              </a:rPr>
              <a:t>Requires 46% less GPU memory than RoTTA and 62% less than CoTTA.</a:t>
            </a:r>
          </a:p>
        </p:txBody>
      </p:sp>
      <p:sp>
        <p:nvSpPr>
          <p:cNvPr id="14" name="Rounded Rectangle 13"/>
          <p:cNvSpPr/>
          <p:nvPr/>
        </p:nvSpPr>
        <p:spPr>
          <a:xfrm>
            <a:off x="9829800" y="1755648"/>
            <a:ext cx="1508760" cy="256032"/>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59669"/>
                </a:solidFill>
              </a:defRPr>
            </a:pPr>
            <a:r>
              <a:t>CLEAR SUPERIORITY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274320"/>
          </a:xfrm>
          <a:prstGeom prst="rect">
            <a:avLst/>
          </a:prstGeom>
          <a:noFill/>
        </p:spPr>
        <p:txBody>
          <a:bodyPr wrap="square" lIns="0" tIns="0" rIns="0" bIns="0">
            <a:spAutoFit/>
          </a:bodyPr>
          <a:lstStyle/>
          <a:p>
            <a:pPr>
              <a:defRPr sz="1000" b="1">
                <a:solidFill>
                  <a:srgbClr val="0D9488"/>
                </a:solidFill>
              </a:defRPr>
            </a:pPr>
            <a:r>
              <a:t>RESEARCH SUMMARY</a:t>
            </a:r>
          </a:p>
        </p:txBody>
      </p:sp>
      <p:sp>
        <p:nvSpPr>
          <p:cNvPr id="4" name="TextBox 3"/>
          <p:cNvSpPr txBox="1"/>
          <p:nvPr/>
        </p:nvSpPr>
        <p:spPr>
          <a:xfrm>
            <a:off x="731520" y="594360"/>
            <a:ext cx="10728655" cy="502920"/>
          </a:xfrm>
          <a:prstGeom prst="rect">
            <a:avLst/>
          </a:prstGeom>
          <a:noFill/>
        </p:spPr>
        <p:txBody>
          <a:bodyPr wrap="square" lIns="0" tIns="0" rIns="0" bIns="0">
            <a:spAutoFit/>
          </a:bodyPr>
          <a:lstStyle/>
          <a:p>
            <a:pPr>
              <a:defRPr sz="2400" b="1">
                <a:solidFill>
                  <a:srgbClr val="0F172A"/>
                </a:solidFill>
              </a:defRPr>
            </a:pPr>
            <a:r>
              <a:t>Summary of Four Foundational Contributions</a:t>
            </a:r>
          </a:p>
        </p:txBody>
      </p:sp>
      <p:sp>
        <p:nvSpPr>
          <p:cNvPr id="5" name="Rounded Rectangle 4"/>
          <p:cNvSpPr/>
          <p:nvPr/>
        </p:nvSpPr>
        <p:spPr>
          <a:xfrm>
            <a:off x="731520" y="1115568"/>
            <a:ext cx="10728655" cy="384048"/>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rIns="137160" bIns="36576"/>
          <a:lstStyle/>
          <a:p>
            <a:pPr algn="ctr">
              <a:defRPr sz="1100" b="1">
                <a:solidFill>
                  <a:srgbClr val="0F766E"/>
                </a:solidFill>
              </a:defRPr>
            </a:pPr>
            <a:r>
              <a:t>KEY TAKEAWAY:  A complete theoretical, algorithmic, empirical, and clinical framework for safe test-time adaptation.</a:t>
            </a:r>
          </a:p>
        </p:txBody>
      </p:sp>
      <p:sp>
        <p:nvSpPr>
          <p:cNvPr id="6" name="Rounded Rectangle 5"/>
          <p:cNvSpPr/>
          <p:nvPr/>
        </p:nvSpPr>
        <p:spPr>
          <a:xfrm>
            <a:off x="731520" y="1645920"/>
            <a:ext cx="5212080" cy="219456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792224"/>
            <a:ext cx="4919472" cy="1901952"/>
          </a:xfrm>
          <a:prstGeom prst="rect">
            <a:avLst/>
          </a:prstGeom>
          <a:noFill/>
        </p:spPr>
        <p:txBody>
          <a:bodyPr wrap="square" lIns="0" tIns="0" rIns="0" bIns="0">
            <a:spAutoFit/>
          </a:bodyPr>
          <a:lstStyle/>
          <a:p>
            <a:pPr>
              <a:spcAft>
                <a:spcPts val="800"/>
              </a:spcAft>
              <a:defRPr sz="1300" b="1">
                <a:solidFill>
                  <a:srgbClr val="0F172A"/>
                </a:solidFill>
              </a:defRPr>
            </a:pPr>
            <a:r>
              <a:t>1. Theoretical Foundation</a:t>
            </a:r>
          </a:p>
          <a:p>
            <a:pPr>
              <a:spcAft>
                <a:spcPts val="600"/>
              </a:spcAft>
            </a:pPr>
            <a:r>
              <a:rPr b="1" sz="1050">
                <a:solidFill>
                  <a:srgbClr val="0F172A"/>
                </a:solidFill>
              </a:rPr>
              <a:t>•  Proposition 1 Proof: </a:t>
            </a:r>
            <a:r>
              <a:rPr sz="1050">
                <a:solidFill>
                  <a:srgbClr val="1E293B"/>
                </a:solidFill>
              </a:rPr>
              <a:t>Proved via Taylor expansion why entropy minimization causes representation collapse in pathology.</a:t>
            </a:r>
          </a:p>
          <a:p>
            <a:pPr>
              <a:spcAft>
                <a:spcPts val="600"/>
              </a:spcAft>
            </a:pPr>
            <a:r>
              <a:rPr b="1" sz="1050">
                <a:solidFill>
                  <a:srgbClr val="0F172A"/>
                </a:solidFill>
              </a:rPr>
              <a:t>•  Rank Equivalence (rho = -0.9917): </a:t>
            </a:r>
            <a:r>
              <a:rPr sz="1050">
                <a:solidFill>
                  <a:srgbClr val="1E293B"/>
                </a:solidFill>
              </a:rPr>
              <a:t>Demonstrated asymptotic inverse rank equivalence between epistemic variance and predictive confidence.</a:t>
            </a:r>
          </a:p>
          <a:p>
            <a:pPr>
              <a:spcAft>
                <a:spcPts val="600"/>
              </a:spcAft>
            </a:pPr>
            <a:r>
              <a:rPr b="1" sz="1050">
                <a:solidFill>
                  <a:srgbClr val="0F172A"/>
                </a:solidFill>
              </a:rPr>
              <a:t>•  Mathematical Discovery: </a:t>
            </a:r>
            <a:r>
              <a:rPr sz="1050">
                <a:solidFill>
                  <a:srgbClr val="1E293B"/>
                </a:solidFill>
              </a:rPr>
              <a:t>Explained why scalar gating mechanisms in EATA and SAR fail to detect catastrophic collapse.</a:t>
            </a:r>
          </a:p>
        </p:txBody>
      </p:sp>
      <p:sp>
        <p:nvSpPr>
          <p:cNvPr id="8" name="Rounded Rectangle 7"/>
          <p:cNvSpPr/>
          <p:nvPr/>
        </p:nvSpPr>
        <p:spPr>
          <a:xfrm>
            <a:off x="4297680" y="1755648"/>
            <a:ext cx="1508760" cy="256032"/>
          </a:xfrm>
          <a:prstGeom prst="roundRect">
            <a:avLst/>
          </a:prstGeom>
          <a:solidFill>
            <a:srgbClr val="ECFDF5"/>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F172A"/>
                </a:solidFill>
              </a:defRPr>
            </a:pPr>
            <a:r>
              <a:t>THEORETICAL RIGOR</a:t>
            </a:r>
          </a:p>
        </p:txBody>
      </p:sp>
      <p:sp>
        <p:nvSpPr>
          <p:cNvPr id="9" name="Rounded Rectangle 8"/>
          <p:cNvSpPr/>
          <p:nvPr/>
        </p:nvSpPr>
        <p:spPr>
          <a:xfrm>
            <a:off x="6217920" y="1645920"/>
            <a:ext cx="5212080" cy="219456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64224" y="1792224"/>
            <a:ext cx="4919472" cy="1901952"/>
          </a:xfrm>
          <a:prstGeom prst="rect">
            <a:avLst/>
          </a:prstGeom>
          <a:noFill/>
        </p:spPr>
        <p:txBody>
          <a:bodyPr wrap="square" lIns="0" tIns="0" rIns="0" bIns="0">
            <a:spAutoFit/>
          </a:bodyPr>
          <a:lstStyle/>
          <a:p>
            <a:pPr>
              <a:spcAft>
                <a:spcPts val="800"/>
              </a:spcAft>
              <a:defRPr sz="1300" b="1">
                <a:solidFill>
                  <a:srgbClr val="0D9488"/>
                </a:solidFill>
              </a:defRPr>
            </a:pPr>
            <a:r>
              <a:t>2. Algorithmic Innovation</a:t>
            </a:r>
          </a:p>
          <a:p>
            <a:pPr>
              <a:spcAft>
                <a:spcPts val="600"/>
              </a:spcAft>
            </a:pPr>
            <a:r>
              <a:rPr b="1" sz="1050">
                <a:solidFill>
                  <a:srgbClr val="0F172A"/>
                </a:solidFill>
              </a:rPr>
              <a:t>•  Dual-Stream Sinkhorn OT: </a:t>
            </a:r>
            <a:r>
              <a:rPr sz="1050">
                <a:solidFill>
                  <a:srgbClr val="1E293B"/>
                </a:solidFill>
              </a:rPr>
              <a:t>Formulated exact marginal optimal transport to align streaming features without label-dependent collapse.</a:t>
            </a:r>
          </a:p>
          <a:p>
            <a:pPr>
              <a:spcAft>
                <a:spcPts val="600"/>
              </a:spcAft>
            </a:pPr>
            <a:r>
              <a:rPr b="1" sz="1050">
                <a:solidFill>
                  <a:srgbClr val="0F172A"/>
                </a:solidFill>
              </a:rPr>
              <a:t>•  Cross-Attention Memory (CMR): </a:t>
            </a:r>
            <a:r>
              <a:rPr sz="1050">
                <a:solidFill>
                  <a:srgbClr val="1E293B"/>
                </a:solidFill>
              </a:rPr>
              <a:t>Introduced dynamic episodic memory with an explicit slack channel to absorb staining artifacts.</a:t>
            </a:r>
          </a:p>
          <a:p>
            <a:pPr>
              <a:spcAft>
                <a:spcPts val="600"/>
              </a:spcAft>
            </a:pPr>
            <a:r>
              <a:rPr b="1" sz="1050">
                <a:solidFill>
                  <a:srgbClr val="0F172A"/>
                </a:solidFill>
              </a:rPr>
              <a:t>•  Geometry Preservation: </a:t>
            </a:r>
            <a:r>
              <a:rPr sz="1050">
                <a:solidFill>
                  <a:srgbClr val="1E293B"/>
                </a:solidFill>
              </a:rPr>
              <a:t>Maintains category balance regardless of slide tumor burden.</a:t>
            </a:r>
          </a:p>
        </p:txBody>
      </p:sp>
      <p:sp>
        <p:nvSpPr>
          <p:cNvPr id="11" name="Rounded Rectangle 10"/>
          <p:cNvSpPr/>
          <p:nvPr/>
        </p:nvSpPr>
        <p:spPr>
          <a:xfrm>
            <a:off x="9784080" y="1755648"/>
            <a:ext cx="1508760" cy="256032"/>
          </a:xfrm>
          <a:prstGeom prst="roundRect">
            <a:avLst/>
          </a:prstGeom>
          <a:solidFill>
            <a:srgbClr val="ECFDF5"/>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D9488"/>
                </a:solidFill>
              </a:defRPr>
            </a:pPr>
            <a:r>
              <a:t>ALGORITHMIC NOVELTY</a:t>
            </a:r>
          </a:p>
        </p:txBody>
      </p:sp>
      <p:sp>
        <p:nvSpPr>
          <p:cNvPr id="12" name="Rounded Rectangle 11"/>
          <p:cNvSpPr/>
          <p:nvPr/>
        </p:nvSpPr>
        <p:spPr>
          <a:xfrm>
            <a:off x="731520" y="4069080"/>
            <a:ext cx="5212080" cy="219456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4215384"/>
            <a:ext cx="4919472" cy="1901952"/>
          </a:xfrm>
          <a:prstGeom prst="rect">
            <a:avLst/>
          </a:prstGeom>
          <a:noFill/>
        </p:spPr>
        <p:txBody>
          <a:bodyPr wrap="square" lIns="0" tIns="0" rIns="0" bIns="0">
            <a:spAutoFit/>
          </a:bodyPr>
          <a:lstStyle/>
          <a:p>
            <a:pPr>
              <a:spcAft>
                <a:spcPts val="800"/>
              </a:spcAft>
              <a:defRPr sz="1300" b="1">
                <a:solidFill>
                  <a:srgbClr val="059669"/>
                </a:solidFill>
              </a:defRPr>
            </a:pPr>
            <a:r>
              <a:t>3. Provable Safety Guarantees</a:t>
            </a:r>
          </a:p>
          <a:p>
            <a:pPr>
              <a:spcAft>
                <a:spcPts val="600"/>
              </a:spcAft>
            </a:pPr>
            <a:r>
              <a:rPr b="1" sz="1050">
                <a:solidFill>
                  <a:srgbClr val="0F172A"/>
                </a:solidFill>
              </a:rPr>
              <a:t>•  Theorem 1 Conformal Bounds: </a:t>
            </a:r>
            <a:r>
              <a:rPr sz="1050">
                <a:solidFill>
                  <a:srgbClr val="1E293B"/>
                </a:solidFill>
              </a:rPr>
              <a:t>Derived distribution-free finite-sample clinical risk bounds bounding error at significance level alpha.</a:t>
            </a:r>
          </a:p>
          <a:p>
            <a:pPr>
              <a:spcAft>
                <a:spcPts val="600"/>
              </a:spcAft>
            </a:pPr>
            <a:r>
              <a:rPr b="1" sz="1050">
                <a:solidFill>
                  <a:srgbClr val="0F172A"/>
                </a:solidFill>
              </a:rPr>
              <a:t>•  Sub-2ms Deterministic Rollback: </a:t>
            </a:r>
            <a:r>
              <a:rPr sz="1050">
                <a:solidFill>
                  <a:srgbClr val="1E293B"/>
                </a:solidFill>
              </a:rPr>
              <a:t>Engineered an in-memory GPU parameter cache executing state recovery in exactly 1.8 ms.</a:t>
            </a:r>
          </a:p>
          <a:p>
            <a:pPr>
              <a:spcAft>
                <a:spcPts val="600"/>
              </a:spcAft>
            </a:pPr>
            <a:r>
              <a:rPr b="1" sz="1050">
                <a:solidFill>
                  <a:srgbClr val="0F172A"/>
                </a:solidFill>
              </a:rPr>
              <a:t>•  Zero Catastrophic Collapse: </a:t>
            </a:r>
            <a:r>
              <a:rPr sz="1050">
                <a:solidFill>
                  <a:srgbClr val="1E293B"/>
                </a:solidFill>
              </a:rPr>
              <a:t>Completely eliminated catastrophic collapse across all 50 multicenter patient slides (0.0%).</a:t>
            </a:r>
          </a:p>
        </p:txBody>
      </p:sp>
      <p:sp>
        <p:nvSpPr>
          <p:cNvPr id="14" name="Rounded Rectangle 13"/>
          <p:cNvSpPr/>
          <p:nvPr/>
        </p:nvSpPr>
        <p:spPr>
          <a:xfrm>
            <a:off x="4297680" y="4178808"/>
            <a:ext cx="1508760" cy="256032"/>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59669"/>
                </a:solidFill>
              </a:defRPr>
            </a:pPr>
            <a:r>
              <a:t>PROVABLE SAFETY</a:t>
            </a:r>
          </a:p>
        </p:txBody>
      </p:sp>
      <p:sp>
        <p:nvSpPr>
          <p:cNvPr id="15" name="Rounded Rectangle 14"/>
          <p:cNvSpPr/>
          <p:nvPr/>
        </p:nvSpPr>
        <p:spPr>
          <a:xfrm>
            <a:off x="6217920" y="4069080"/>
            <a:ext cx="5212080" cy="219456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64224" y="4215384"/>
            <a:ext cx="4919472" cy="1901952"/>
          </a:xfrm>
          <a:prstGeom prst="rect">
            <a:avLst/>
          </a:prstGeom>
          <a:noFill/>
        </p:spPr>
        <p:txBody>
          <a:bodyPr wrap="square" lIns="0" tIns="0" rIns="0" bIns="0">
            <a:spAutoFit/>
          </a:bodyPr>
          <a:lstStyle/>
          <a:p>
            <a:pPr>
              <a:spcAft>
                <a:spcPts val="800"/>
              </a:spcAft>
              <a:defRPr sz="1300" b="1">
                <a:solidFill>
                  <a:srgbClr val="0D9488"/>
                </a:solidFill>
              </a:defRPr>
            </a:pPr>
            <a:r>
              <a:t>4. SOTA Empirical Performance</a:t>
            </a:r>
          </a:p>
          <a:p>
            <a:pPr>
              <a:spcAft>
                <a:spcPts val="600"/>
              </a:spcAft>
            </a:pPr>
            <a:r>
              <a:rPr b="1" sz="1050">
                <a:solidFill>
                  <a:srgbClr val="0F172A"/>
                </a:solidFill>
              </a:rPr>
              <a:t>•  CAMELYON17 Benchmark: </a:t>
            </a:r>
            <a:r>
              <a:rPr sz="1050">
                <a:solidFill>
                  <a:srgbClr val="1E293B"/>
                </a:solidFill>
              </a:rPr>
              <a:t>0.9495 AUROC (+14.2% over source) and 0.0418 ECE across 5 university medical centers.</a:t>
            </a:r>
          </a:p>
          <a:p>
            <a:pPr>
              <a:spcAft>
                <a:spcPts val="600"/>
              </a:spcAft>
            </a:pPr>
            <a:r>
              <a:rPr b="1" sz="1050">
                <a:solidFill>
                  <a:srgbClr val="0F172A"/>
                </a:solidFill>
              </a:rPr>
              <a:t>•  MIDOG 2021 Mitosis: </a:t>
            </a:r>
            <a:r>
              <a:rPr sz="1050">
                <a:solidFill>
                  <a:srgbClr val="1E293B"/>
                </a:solidFill>
              </a:rPr>
              <a:t>0.5172 F1-score (+25.5% over source) with 38.7% reduction in false-positive detections.</a:t>
            </a:r>
          </a:p>
          <a:p>
            <a:pPr>
              <a:spcAft>
                <a:spcPts val="600"/>
              </a:spcAft>
            </a:pPr>
            <a:r>
              <a:rPr b="1" sz="1050">
                <a:solidFill>
                  <a:srgbClr val="0F172A"/>
                </a:solidFill>
              </a:rPr>
              <a:t>•  Clinical Edge Deployment: </a:t>
            </a:r>
            <a:r>
              <a:rPr sz="1050">
                <a:solidFill>
                  <a:srgbClr val="1E293B"/>
                </a:solidFill>
              </a:rPr>
              <a:t>312 patches/sec throughput with only 1,680 MB VRAM footprint.</a:t>
            </a:r>
          </a:p>
        </p:txBody>
      </p:sp>
      <p:sp>
        <p:nvSpPr>
          <p:cNvPr id="17" name="Rounded Rectangle 16"/>
          <p:cNvSpPr/>
          <p:nvPr/>
        </p:nvSpPr>
        <p:spPr>
          <a:xfrm>
            <a:off x="9784080" y="4178808"/>
            <a:ext cx="1508760" cy="256032"/>
          </a:xfrm>
          <a:prstGeom prst="roundRect">
            <a:avLst/>
          </a:prstGeom>
          <a:solidFill>
            <a:srgbClr val="ECFDF5"/>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D9488"/>
                </a:solidFill>
              </a:defRPr>
            </a:pPr>
            <a:r>
              <a:t>EMPIRICAL SOTA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274320"/>
          </a:xfrm>
          <a:prstGeom prst="rect">
            <a:avLst/>
          </a:prstGeom>
          <a:noFill/>
        </p:spPr>
        <p:txBody>
          <a:bodyPr wrap="square" lIns="0" tIns="0" rIns="0" bIns="0">
            <a:spAutoFit/>
          </a:bodyPr>
          <a:lstStyle/>
          <a:p>
            <a:pPr>
              <a:defRPr sz="1000" b="1">
                <a:solidFill>
                  <a:srgbClr val="0D9488"/>
                </a:solidFill>
              </a:defRPr>
            </a:pPr>
            <a:r>
              <a:t>FUTURE HORIZONS</a:t>
            </a:r>
          </a:p>
        </p:txBody>
      </p:sp>
      <p:sp>
        <p:nvSpPr>
          <p:cNvPr id="4" name="TextBox 3"/>
          <p:cNvSpPr txBox="1"/>
          <p:nvPr/>
        </p:nvSpPr>
        <p:spPr>
          <a:xfrm>
            <a:off x="731520" y="594360"/>
            <a:ext cx="10728655" cy="502920"/>
          </a:xfrm>
          <a:prstGeom prst="rect">
            <a:avLst/>
          </a:prstGeom>
          <a:noFill/>
        </p:spPr>
        <p:txBody>
          <a:bodyPr wrap="square" lIns="0" tIns="0" rIns="0" bIns="0">
            <a:spAutoFit/>
          </a:bodyPr>
          <a:lstStyle/>
          <a:p>
            <a:pPr>
              <a:defRPr sz="2400" b="1">
                <a:solidFill>
                  <a:srgbClr val="0F172A"/>
                </a:solidFill>
              </a:defRPr>
            </a:pPr>
            <a:r>
              <a:t>Future Improvements, Clinical Translation &amp; Open-Source Roadmap</a:t>
            </a:r>
          </a:p>
        </p:txBody>
      </p:sp>
      <p:sp>
        <p:nvSpPr>
          <p:cNvPr id="5" name="Rounded Rectangle 4"/>
          <p:cNvSpPr/>
          <p:nvPr/>
        </p:nvSpPr>
        <p:spPr>
          <a:xfrm>
            <a:off x="731520" y="1115568"/>
            <a:ext cx="10728655" cy="384048"/>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rIns="137160" bIns="36576"/>
          <a:lstStyle/>
          <a:p>
            <a:pPr algn="ctr">
              <a:defRPr sz="1100" b="1">
                <a:solidFill>
                  <a:srgbClr val="0F766E"/>
                </a:solidFill>
              </a:defRPr>
            </a:pPr>
            <a:r>
              <a:t>KEY TAKEAWAY:  SafeAdapt bridges the gap between academic TTA research and real-world clinical whole-slide pathology deployment.</a:t>
            </a:r>
          </a:p>
        </p:txBody>
      </p:sp>
      <p:sp>
        <p:nvSpPr>
          <p:cNvPr id="6" name="Rounded Rectangle 5"/>
          <p:cNvSpPr/>
          <p:nvPr/>
        </p:nvSpPr>
        <p:spPr>
          <a:xfrm>
            <a:off x="731520" y="1645920"/>
            <a:ext cx="3429000" cy="365760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792224"/>
            <a:ext cx="3136392" cy="3364992"/>
          </a:xfrm>
          <a:prstGeom prst="rect">
            <a:avLst/>
          </a:prstGeom>
          <a:noFill/>
        </p:spPr>
        <p:txBody>
          <a:bodyPr wrap="square" lIns="0" tIns="0" rIns="0" bIns="0">
            <a:spAutoFit/>
          </a:bodyPr>
          <a:lstStyle/>
          <a:p>
            <a:pPr>
              <a:spcAft>
                <a:spcPts val="800"/>
              </a:spcAft>
              <a:defRPr sz="1300" b="1">
                <a:solidFill>
                  <a:srgbClr val="0D9488"/>
                </a:solidFill>
              </a:defRPr>
            </a:pPr>
            <a:r>
              <a:t>1. Foundation Model Extensions</a:t>
            </a:r>
          </a:p>
          <a:p>
            <a:pPr>
              <a:spcAft>
                <a:spcPts val="600"/>
              </a:spcAft>
            </a:pPr>
            <a:r>
              <a:rPr b="1" sz="1050">
                <a:solidFill>
                  <a:srgbClr val="0F172A"/>
                </a:solidFill>
              </a:rPr>
              <a:t>•  Pathology Foundation Models: </a:t>
            </a:r>
            <a:r>
              <a:rPr sz="1050">
                <a:solidFill>
                  <a:srgbClr val="1E293B"/>
                </a:solidFill>
              </a:rPr>
              <a:t>Extending SafeAdapt to self-supervised vision-language models like CONCH, UNI, and Virchow.</a:t>
            </a:r>
          </a:p>
          <a:p>
            <a:pPr>
              <a:spcAft>
                <a:spcPts val="600"/>
              </a:spcAft>
            </a:pPr>
            <a:r>
              <a:rPr b="1" sz="1050">
                <a:solidFill>
                  <a:srgbClr val="0F172A"/>
                </a:solidFill>
              </a:rPr>
              <a:t>•  Multi-Modal Adaptation: </a:t>
            </a:r>
            <a:r>
              <a:rPr sz="1050">
                <a:solidFill>
                  <a:srgbClr val="1E293B"/>
                </a:solidFill>
              </a:rPr>
              <a:t>Adapting text prompts and visual tokens simultaneously under multi-center slide scanner shifts.</a:t>
            </a:r>
          </a:p>
          <a:p>
            <a:pPr>
              <a:spcAft>
                <a:spcPts val="600"/>
              </a:spcAft>
            </a:pPr>
            <a:r>
              <a:rPr b="1" sz="1050">
                <a:solidFill>
                  <a:srgbClr val="0F172A"/>
                </a:solidFill>
              </a:rPr>
              <a:t>•  Low-Compute Adapters: </a:t>
            </a:r>
            <a:r>
              <a:rPr sz="1050">
                <a:solidFill>
                  <a:srgbClr val="1E293B"/>
                </a:solidFill>
              </a:rPr>
              <a:t>Implementing LoRA rank-decomposition adapters to adapt multi-billion parameter foundation backbones in &lt;5 ms.</a:t>
            </a:r>
          </a:p>
        </p:txBody>
      </p:sp>
      <p:sp>
        <p:nvSpPr>
          <p:cNvPr id="8" name="Rounded Rectangle 7"/>
          <p:cNvSpPr/>
          <p:nvPr/>
        </p:nvSpPr>
        <p:spPr>
          <a:xfrm>
            <a:off x="2514600" y="1755648"/>
            <a:ext cx="1508760" cy="256032"/>
          </a:xfrm>
          <a:prstGeom prst="roundRect">
            <a:avLst/>
          </a:prstGeom>
          <a:solidFill>
            <a:srgbClr val="ECFDF5"/>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D9488"/>
                </a:solidFill>
              </a:defRPr>
            </a:pPr>
            <a:r>
              <a:t>FUTURE FRONTIER 1</a:t>
            </a:r>
          </a:p>
        </p:txBody>
      </p:sp>
      <p:sp>
        <p:nvSpPr>
          <p:cNvPr id="9" name="Rounded Rectangle 8"/>
          <p:cNvSpPr/>
          <p:nvPr/>
        </p:nvSpPr>
        <p:spPr>
          <a:xfrm>
            <a:off x="4389120" y="1645920"/>
            <a:ext cx="3429000" cy="3657600"/>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35424" y="1792224"/>
            <a:ext cx="3136392" cy="3364992"/>
          </a:xfrm>
          <a:prstGeom prst="rect">
            <a:avLst/>
          </a:prstGeom>
          <a:noFill/>
        </p:spPr>
        <p:txBody>
          <a:bodyPr wrap="square" lIns="0" tIns="0" rIns="0" bIns="0">
            <a:spAutoFit/>
          </a:bodyPr>
          <a:lstStyle/>
          <a:p>
            <a:pPr>
              <a:spcAft>
                <a:spcPts val="800"/>
              </a:spcAft>
              <a:defRPr sz="1300" b="1">
                <a:solidFill>
                  <a:srgbClr val="0F172A"/>
                </a:solidFill>
              </a:defRPr>
            </a:pPr>
            <a:r>
              <a:t>2. Intraoperative &amp; 3D Histology</a:t>
            </a:r>
          </a:p>
          <a:p>
            <a:pPr>
              <a:spcAft>
                <a:spcPts val="600"/>
              </a:spcAft>
            </a:pPr>
            <a:r>
              <a:rPr b="1" sz="1050">
                <a:solidFill>
                  <a:srgbClr val="0F172A"/>
                </a:solidFill>
              </a:rPr>
              <a:t>•  Intraoperative Frozen Sections: </a:t>
            </a:r>
            <a:r>
              <a:rPr sz="1050">
                <a:solidFill>
                  <a:srgbClr val="1E293B"/>
                </a:solidFill>
              </a:rPr>
              <a:t>Adapting to rapid intraoperative biopsies where freezing artifacts distort tissue and surgeons need diagnosis in &lt;15 mins.</a:t>
            </a:r>
          </a:p>
          <a:p>
            <a:pPr>
              <a:spcAft>
                <a:spcPts val="600"/>
              </a:spcAft>
            </a:pPr>
            <a:r>
              <a:rPr b="1" sz="1050">
                <a:solidFill>
                  <a:srgbClr val="0F172A"/>
                </a:solidFill>
              </a:rPr>
              <a:t>•  3D Volumetric Histology: </a:t>
            </a:r>
            <a:r>
              <a:rPr sz="1050">
                <a:solidFill>
                  <a:srgbClr val="1E293B"/>
                </a:solidFill>
              </a:rPr>
              <a:t>Extending optimal transport alignment across sequential multi-slice 3D spatial histopathology reconstructions.</a:t>
            </a:r>
          </a:p>
          <a:p>
            <a:pPr>
              <a:spcAft>
                <a:spcPts val="600"/>
              </a:spcAft>
            </a:pPr>
            <a:r>
              <a:rPr b="1" sz="1050">
                <a:solidFill>
                  <a:srgbClr val="0F172A"/>
                </a:solidFill>
              </a:rPr>
              <a:t>•  Rare Cancer Subtyping: </a:t>
            </a:r>
            <a:r>
              <a:rPr sz="1050">
                <a:solidFill>
                  <a:srgbClr val="1E293B"/>
                </a:solidFill>
              </a:rPr>
              <a:t>Evaluating on ultra-rare sarcomas and pediatric brain tumors with limited source training data.</a:t>
            </a:r>
          </a:p>
        </p:txBody>
      </p:sp>
      <p:sp>
        <p:nvSpPr>
          <p:cNvPr id="11" name="Rounded Rectangle 10"/>
          <p:cNvSpPr/>
          <p:nvPr/>
        </p:nvSpPr>
        <p:spPr>
          <a:xfrm>
            <a:off x="6172200" y="1755648"/>
            <a:ext cx="1508760" cy="256032"/>
          </a:xfrm>
          <a:prstGeom prst="roundRect">
            <a:avLst/>
          </a:prstGeom>
          <a:solidFill>
            <a:srgbClr val="ECFDF5"/>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F172A"/>
                </a:solidFill>
              </a:defRPr>
            </a:pPr>
            <a:r>
              <a:t>FUTURE FRONTIER 2</a:t>
            </a:r>
          </a:p>
        </p:txBody>
      </p:sp>
      <p:sp>
        <p:nvSpPr>
          <p:cNvPr id="12" name="Rounded Rectangle 11"/>
          <p:cNvSpPr/>
          <p:nvPr/>
        </p:nvSpPr>
        <p:spPr>
          <a:xfrm>
            <a:off x="8046720" y="1645920"/>
            <a:ext cx="3429000" cy="365760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4" y="1792224"/>
            <a:ext cx="3136392" cy="3364992"/>
          </a:xfrm>
          <a:prstGeom prst="rect">
            <a:avLst/>
          </a:prstGeom>
          <a:noFill/>
        </p:spPr>
        <p:txBody>
          <a:bodyPr wrap="square" lIns="0" tIns="0" rIns="0" bIns="0">
            <a:spAutoFit/>
          </a:bodyPr>
          <a:lstStyle/>
          <a:p>
            <a:pPr>
              <a:spcAft>
                <a:spcPts val="800"/>
              </a:spcAft>
              <a:defRPr sz="1300" b="1">
                <a:solidFill>
                  <a:srgbClr val="059669"/>
                </a:solidFill>
              </a:defRPr>
            </a:pPr>
            <a:r>
              <a:t>3. Clinical Translation &amp; Open Source</a:t>
            </a:r>
          </a:p>
          <a:p>
            <a:pPr>
              <a:spcAft>
                <a:spcPts val="600"/>
              </a:spcAft>
            </a:pPr>
            <a:r>
              <a:rPr b="1" sz="1050">
                <a:solidFill>
                  <a:srgbClr val="0F172A"/>
                </a:solidFill>
              </a:rPr>
              <a:t>•  PACS &amp; Viewer Integration: </a:t>
            </a:r>
            <a:r>
              <a:rPr sz="1050">
                <a:solidFill>
                  <a:srgbClr val="1E293B"/>
                </a:solidFill>
              </a:rPr>
              <a:t>Live plugin integration with open-source digital pathology viewers (QuPath) and hospital PACS (Orthanc).</a:t>
            </a:r>
          </a:p>
          <a:p>
            <a:pPr>
              <a:spcAft>
                <a:spcPts val="600"/>
              </a:spcAft>
            </a:pPr>
            <a:r>
              <a:rPr b="1" sz="1050">
                <a:solidFill>
                  <a:srgbClr val="0F172A"/>
                </a:solidFill>
              </a:rPr>
              <a:t>•  Prospective Hospital Trials: </a:t>
            </a:r>
            <a:r>
              <a:rPr sz="1050">
                <a:solidFill>
                  <a:srgbClr val="1E293B"/>
                </a:solidFill>
              </a:rPr>
              <a:t>Active multi-center trial integration across 3 hospitals to evaluate oncologist turnaround times.</a:t>
            </a:r>
          </a:p>
          <a:p>
            <a:pPr>
              <a:spcAft>
                <a:spcPts val="600"/>
              </a:spcAft>
            </a:pPr>
            <a:r>
              <a:rPr b="1" sz="1050">
                <a:solidFill>
                  <a:srgbClr val="0F172A"/>
                </a:solidFill>
              </a:rPr>
              <a:t>•  Open-Source Code Release: </a:t>
            </a:r>
            <a:r>
              <a:rPr sz="1050">
                <a:solidFill>
                  <a:srgbClr val="1E293B"/>
                </a:solidFill>
              </a:rPr>
              <a:t>Full PyTorch codebase, weights, and reproduction scripts released under permissive academic license.</a:t>
            </a:r>
          </a:p>
        </p:txBody>
      </p:sp>
      <p:sp>
        <p:nvSpPr>
          <p:cNvPr id="14" name="Rounded Rectangle 13"/>
          <p:cNvSpPr/>
          <p:nvPr/>
        </p:nvSpPr>
        <p:spPr>
          <a:xfrm>
            <a:off x="9829800" y="1755648"/>
            <a:ext cx="1508760" cy="256032"/>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59669"/>
                </a:solidFill>
              </a:defRPr>
            </a:pPr>
            <a:r>
              <a:t>TRANSLATION READY</a:t>
            </a:r>
          </a:p>
        </p:txBody>
      </p:sp>
      <p:sp>
        <p:nvSpPr>
          <p:cNvPr id="15" name="Rounded Rectangle 14"/>
          <p:cNvSpPr/>
          <p:nvPr/>
        </p:nvSpPr>
        <p:spPr>
          <a:xfrm>
            <a:off x="731520" y="5486400"/>
            <a:ext cx="10728655" cy="822960"/>
          </a:xfrm>
          <a:prstGeom prst="round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lIns="182880" rIns="182880" tIns="109728"/>
          <a:lstStyle/>
          <a:p>
            <a:pPr algn="ctr">
              <a:defRPr sz="1400" b="1">
                <a:solidFill>
                  <a:srgbClr val="FFFFFF"/>
                </a:solidFill>
              </a:defRPr>
            </a:pPr>
            <a:r>
              <a:t>Thank you to the respected committee members and faculty reviewers.</a:t>
            </a:r>
          </a:p>
          <a:p>
            <a:pPr algn="ctr">
              <a:spcBef>
                <a:spcPts val="400"/>
              </a:spcBef>
              <a:defRPr sz="1200">
                <a:solidFill>
                  <a:srgbClr val="0D9488"/>
                </a:solidFill>
              </a:defRPr>
            </a:pPr>
            <a:r>
              <a:t>Open for questions, technical discussion, and viva voce examination.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