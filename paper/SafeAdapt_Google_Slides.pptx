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respected members of the committee and faculty. My name is Avinash Reddy Cheerapareddy, and today I am presenting my research work entitled: SafeAdapt: Provably Bounded, Fail-Closed Test-Time Adaptation with Optimal Transport and Biologically Conditioned Safeguards for Digital Pathology. The core objective of this work is to solve a critical vulnerability in clinical AI: how to adapt deep neural networks to new hospitals in real time without risking catastrophic diagnostic failure.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deep learning models are trained in computational pathology, they achieve high accuracy on slides from the training hospital. However, when deployed to external medical centers, differences in tissue preparation, chemical staining protocols, and optical scanner hardware cause severe distribution shifts. Unlabeled target models suffer severe degradation, dropping diagnostic accuracy precisely when clinicians need reliable automated assistance.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can we not simply deploy standard adaptation algorithms? In digital pathology, diagnostic stakes are absolute. An algorithmic false negative in an axillary lymph node examination means missed metastatic cancer, leading to delayed systemic chemotherapy. If an autonomous model updates its parameters online without supervision, incorrect predictions create a positive feedback loop of confirmation bias. In medicine, we cannot accept unmonitored silent failures.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address distribution shifts during inference, computer vision researchers developed Test-Time Adaptation, or TTA. Leading methods like Tent update Batch Normalization layers by minimizing prediction entropy. Others, like EATA, filter samples using entropy thresholds, while SAR uses sharpness-aware optimization to avoid sharp minima, and CoTTA continually restores stochastic weights. These algorithms perform well on natural image corruptions like fog or blur.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However, all existing TTA methods operate on an unverified foundational premise: that low-entropy target predictions are predominantly correct. Under severe histochemical stain shift, this premise completely collapses. In our multi-seed benchmarks on the CAMELYON17 consortium dataset, we discovered that Tent catastrophically collapses on 40% of random seeds, driving F1 scores down to 0.05. Existing regularizers only throttle update frequency; they cannot restore corrupted feature geometry.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brings us to our central research question: Can geometry-preserving transport alignment and fail-closed runtime interlocks contain catastrophic TTA failure modes while achieving statistically verified positive adaptation? In short: can we guarantee that test-time adaptation never performs worse than the source model while still extracting domain transfer gains?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answer this question, we established four rigorous technical objectives: First, prove mathematically why scalar uncertainty gating fails. Second, design an Optimal Transport mechanism that preserves class geometry under severe stain drift. Third, establish provable parameter-space trust regions that bound maximum output logit shifts. Fourth, eliminate cross-patient error accumulation through deterministic episodic resets.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work delivers four principal contributions. In Proposition 1, we formally prove that MC-Dropout variance is rank-equivalent to softmax confidence, proving why scalar gating fails. Second, we introduce SafeAdapt-OT, an exact-marginal Optimal Transport formulation. Third, in Theorem 1, we prove that an L_infinity &lt;= 0.05 trust region bounds output probability shifts to under 0.0460. Finally, we implement sub-frame 1.8 millisecond atomic GPU rollbacks and verify our framework across multi-center pathology benchmarks.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overall architecture of SafeAdapt. During clinical inference, Whole-Slide Images stream patch batches into the network. All convolutional feature extraction weights remain strictly frozen to preserve learned semantics. Adaptation is restricted entirely to the affine scale and shift parameters of the normalization layers. As features emerge, they pass through our Optimal Transport alignment and biological gating heads, enveloped by a parameter-space trust region and monitored by dual asynchronous GPU-CPU ring buffers.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Component 1 is Geometry-Preserving Optimal Transport. Under severe stain shifts, standard entropy minimization pulls all target patches into a single dominant class attractor. To prevent this, SafeAdapt-OT solves an Entropic Wasserstein-2 transport problem against certified source prototypes using real-time Sinkhorn-Knopp iterations. Crucially, we enforce the exact marginal constraint: Q^T 1_B = r, where r is the certified source class prior. This mathematically prohibits the model from assigning all patches to one class.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Component 2 provides our safety guarantees: Parameter-Space Trust Regions and Atomic Rollback Mechanics. In Theorem 1, we prove that projecting affine parameters within an L_infinity &lt;= 0.05 box bounds output probability displacement to Delta p &lt;= 0.0460. Furthermore, SafeAdapt maintains active GPU memory snapshots. If gradient norms spike or consecutive alarms fire, the system executes an atomic rollback in 1.8 milliseconds, restoring clean weights before the next batch is processed. If alarms persist, it locks to certified source parameters.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conducted our empirical validation across two major multi-center clinical consortium benchmarks. For patch metastasis classification, we used CAMELYON17-WILDS, comprising 30 whole-slide images across 5 medical centers. For dense object detection, we evaluated on MIDOG 2021, covering 1,100 high-power fields across 4 distinct optical scanners. All experiments were repeated across 5 random seeds under a frozen BatchNorm running statistics protocol, benchmarking against 8 leading adaptation methods.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our primary classification results on CAMELYON17. On Slide 29—the most severe histochemical outlier in the consortium—the source baseline achieved 0.8592 AUROC. Standard Tent collapsed completely to 0.0521, and recent Sharpness-Aware Adaptation dropped to 0.6482. In contrast, SafeAdapt-OT reversed negative transfer, elevating performance to 0.9324 AUROC. Across the entire 5-center cohort, SafeAdapt achieved a macro-AUROC of 0.9495, maintaining a certified 0.0% collapse rate across all seeds.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Turning to dense mitosis detection on MIDOG 2021: optical scanner shifts cause standard detectors to confuse rare mitotic cells with background tissue. Furthermore, acellular stroma contains no cells, which causes standard TTA to trigger false alarms. Our Centroid Margin Regularization directly separates mitotic from non-mitotic prototypes, boosting detection F1 score to 0.5172 on Scanner 3—a statistically significant improvement of +6.87% over baseline with p &lt; 0.001.</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ablation experiments reveal critical insights into streaming adaptation. First, executing multiple gradient steps per batch (k &gt;= 2) causes rapid feature drift, degrading AUROC to 0.7420 at k=5; single-step updates (k=1) are strictly necessary. Second, removing the trust region allows parameters to drift outside the safe basin. Finally, our slide arrival permutation tests confirmed that episodic resets reduce cross-patient variance to mathematically zero, ensuring complete patient isolation.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qualitative UMAP visual proof of feature representations on outlier Slide 29. On the left, the source model shows moderate separation. In the center, unconstrained Tent collapses both tumor and normal representations into a single degenerate clump, losing all discriminative ability. On the right, SafeAdapt-OT restores clean bimodal geometry, reconstructing well-separated tumor and normal clusters that match the true underlying biology.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prove clinical deployability, we stress-tested SafeAdapt across extreme regimes. In single-patch streaming where batch size B=1, an online FIFO memory buffer maintained 0.9482 AUROC. On purely benign lymph node slides containing 0.0% tumor cells, SafeAdapt contained false positive rates to 1.1%, compared to 42.6% for Tent. Crucially, inference forward latency was just 35.6 milliseconds per patch with a 474 MB VRAM footprint—over 8 times lighter than generative diffusion stain transfer.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acknowledge two main limitations: First, our Optimal Transport formulation assumes known class prior capacity; in future work, we are incorporating a virtual 'dustbin' prototype to absorb open-set non-neoplastic inflammatory mimics. Second, adaptation is confined to affine normalization parameters. For future clinical translation, we are preparing Stage-2 prospective non-inferiority trials across 140 patients with direct DICOMweb WADO-RS PACS integration triggered by slide accession numbers.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conclusion, SafeAdapt demonstrates that test-time adaptation in clinical medicine cannot rely on unconstrained entropy minimization. By combining Optimal Transport class-prior alignment, provable parameter-space trust regions, sub-frame atomic rollbacks, and episodic resets, SafeAdapt establishes a certified fail-closed medical interlock. It achieves state-of-the-art diagnostic gains where viable and guarantees zero harm where shifts are intractable. Thank you, and I look forward to your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1645920"/>
            <a:ext cx="10058400" cy="2011680"/>
          </a:xfrm>
          <a:prstGeom prst="rect">
            <a:avLst/>
          </a:prstGeom>
          <a:noFill/>
        </p:spPr>
        <p:txBody>
          <a:bodyPr wrap="square">
            <a:spAutoFit/>
          </a:bodyPr>
          <a:lstStyle/>
          <a:p>
            <a:pPr>
              <a:defRPr sz="5400" b="1">
                <a:solidFill>
                  <a:srgbClr val="0D9488"/>
                </a:solidFill>
              </a:defRPr>
            </a:pPr>
            <a:r>
              <a:t>SafeAdapt</a:t>
            </a:r>
          </a:p>
          <a:p>
            <a:pPr>
              <a:spcBef>
                <a:spcPts val="1200"/>
              </a:spcBef>
              <a:defRPr sz="2600">
                <a:solidFill>
                  <a:srgbClr val="F1F5F9"/>
                </a:solidFill>
              </a:defRPr>
            </a:pPr>
            <a:r>
              <a:t>Provably Bounded, Fail-Closed Test-Time Adaptation</a:t>
            </a:r>
            <a:br/>
            <a:r>
              <a:t>for Digital Pathology Diagnostics</a:t>
            </a:r>
          </a:p>
        </p:txBody>
      </p:sp>
      <p:sp>
        <p:nvSpPr>
          <p:cNvPr id="4" name="TextBox 3"/>
          <p:cNvSpPr txBox="1"/>
          <p:nvPr/>
        </p:nvSpPr>
        <p:spPr>
          <a:xfrm>
            <a:off x="1097280" y="4389120"/>
            <a:ext cx="10058400" cy="1645920"/>
          </a:xfrm>
          <a:prstGeom prst="rect">
            <a:avLst/>
          </a:prstGeom>
          <a:noFill/>
        </p:spPr>
        <p:txBody>
          <a:bodyPr wrap="none">
            <a:spAutoFit/>
          </a:bodyPr>
          <a:lstStyle/>
          <a:p>
            <a:pPr>
              <a:defRPr sz="1800">
                <a:solidFill>
                  <a:srgbClr val="94A3B8"/>
                </a:solidFill>
              </a:defRPr>
            </a:pPr>
            <a:r>
              <a:t>Candidate: Avinash Reddy Cheerapareddy   |   Co-Author: Gunnam Sanjana</a:t>
            </a:r>
          </a:p>
          <a:p>
            <a:pPr>
              <a:spcBef>
                <a:spcPts val="600"/>
              </a:spcBef>
              <a:defRPr sz="1500">
                <a:solidFill>
                  <a:srgbClr val="64748B"/>
                </a:solidFill>
              </a:defRPr>
            </a:pPr>
            <a:r>
              <a:t>Department of Computer Science &amp; Engineering, SRM University-AP   |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7315200" cy="320040"/>
          </a:xfrm>
          <a:prstGeom prst="rect">
            <a:avLst/>
          </a:prstGeom>
          <a:noFill/>
        </p:spPr>
        <p:txBody>
          <a:bodyPr wrap="square" lIns="0" tIns="0" rIns="0" bIns="0">
            <a:spAutoFit/>
          </a:bodyPr>
          <a:lstStyle/>
          <a:p>
            <a:pPr>
              <a:defRPr sz="1100" b="1">
                <a:solidFill>
                  <a:srgbClr val="0D9488"/>
                </a:solidFill>
              </a:defRPr>
            </a:pPr>
            <a:r>
              <a:t>CLINICAL BACKGROUND</a:t>
            </a:r>
          </a:p>
        </p:txBody>
      </p:sp>
      <p:sp>
        <p:nvSpPr>
          <p:cNvPr id="3" name="TextBox 2"/>
          <p:cNvSpPr txBox="1"/>
          <p:nvPr/>
        </p:nvSpPr>
        <p:spPr>
          <a:xfrm>
            <a:off x="731520" y="640080"/>
            <a:ext cx="10515600" cy="731520"/>
          </a:xfrm>
          <a:prstGeom prst="rect">
            <a:avLst/>
          </a:prstGeom>
          <a:noFill/>
        </p:spPr>
        <p:txBody>
          <a:bodyPr wrap="square" lIns="0" tIns="0" rIns="0" bIns="0">
            <a:spAutoFit/>
          </a:bodyPr>
          <a:lstStyle/>
          <a:p>
            <a:pPr>
              <a:defRPr sz="3200" b="1">
                <a:solidFill>
                  <a:srgbClr val="0F172A"/>
                </a:solidFill>
              </a:defRPr>
            </a:pPr>
            <a:r>
              <a:t>The Real-World Pathology Challenge</a:t>
            </a:r>
          </a:p>
        </p:txBody>
      </p:sp>
      <p:sp>
        <p:nvSpPr>
          <p:cNvPr id="4" name="TextBox 3"/>
          <p:cNvSpPr txBox="1"/>
          <p:nvPr/>
        </p:nvSpPr>
        <p:spPr>
          <a:xfrm>
            <a:off x="731520" y="1645920"/>
            <a:ext cx="6858000" cy="4572000"/>
          </a:xfrm>
          <a:prstGeom prst="rect">
            <a:avLst/>
          </a:prstGeom>
          <a:noFill/>
        </p:spPr>
        <p:txBody>
          <a:bodyPr wrap="square" lIns="0" tIns="0" rIns="0" bIns="0">
            <a:spAutoFit/>
          </a:bodyPr>
          <a:lstStyle/>
          <a:p>
            <a:pPr>
              <a:spcAft>
                <a:spcPts val="1800"/>
              </a:spcAft>
              <a:defRPr sz="2200">
                <a:solidFill>
                  <a:srgbClr val="1E293B"/>
                </a:solidFill>
              </a:defRPr>
            </a:pPr>
            <a:r>
              <a:t>•  Scanner optical variations &amp; sensor noise</a:t>
            </a:r>
          </a:p>
          <a:p>
            <a:pPr>
              <a:spcAft>
                <a:spcPts val="1800"/>
              </a:spcAft>
              <a:defRPr sz="2200">
                <a:solidFill>
                  <a:srgbClr val="1E293B"/>
                </a:solidFill>
              </a:defRPr>
            </a:pPr>
            <a:r>
              <a:t>•  Cross-hospital chemical staining shifts</a:t>
            </a:r>
          </a:p>
          <a:p>
            <a:pPr>
              <a:spcAft>
                <a:spcPts val="1800"/>
              </a:spcAft>
              <a:defRPr sz="2200">
                <a:solidFill>
                  <a:srgbClr val="1E293B"/>
                </a:solidFill>
              </a:defRPr>
            </a:pPr>
            <a:r>
              <a:t>•  Unlabeled target patient inference</a:t>
            </a:r>
          </a:p>
          <a:p>
            <a:pPr>
              <a:spcAft>
                <a:spcPts val="1800"/>
              </a:spcAft>
              <a:defRPr sz="2200">
                <a:solidFill>
                  <a:srgbClr val="1E293B"/>
                </a:solidFill>
              </a:defRPr>
            </a:pPr>
            <a:r>
              <a:t>•  Silent diagnostic model degradation</a:t>
            </a:r>
          </a:p>
        </p:txBody>
      </p:sp>
      <p:sp>
        <p:nvSpPr>
          <p:cNvPr id="5" name="Rounded Rectangle 4"/>
          <p:cNvSpPr/>
          <p:nvPr/>
        </p:nvSpPr>
        <p:spPr>
          <a:xfrm>
            <a:off x="8046720" y="1645920"/>
            <a:ext cx="3474720" cy="2103120"/>
          </a:xfrm>
          <a:prstGeom prst="roundRect">
            <a:avLst/>
          </a:prstGeom>
          <a:solidFill>
            <a:srgbClr val="FFFFFF"/>
          </a:solidFill>
          <a:ln w="1905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wrap="square" lIns="137160" tIns="137160" rIns="137160" bIns="137160"/>
          <a:lstStyle/>
          <a:p>
            <a:pPr algn="ctr">
              <a:defRPr sz="1100" b="1">
                <a:solidFill>
                  <a:srgbClr val="64748B"/>
                </a:solidFill>
              </a:defRPr>
            </a:pPr>
            <a:r>
              <a:t>CROSS-CENTER DRIFT</a:t>
            </a:r>
          </a:p>
          <a:p>
            <a:pPr algn="ctr">
              <a:spcBef>
                <a:spcPts val="600"/>
              </a:spcBef>
              <a:defRPr sz="2800" b="1">
                <a:solidFill>
                  <a:srgbClr val="DC2626"/>
                </a:solidFill>
              </a:defRPr>
            </a:pPr>
            <a:r>
              <a:t>Severe</a:t>
            </a:r>
          </a:p>
          <a:p>
            <a:pPr algn="ctr">
              <a:spcBef>
                <a:spcPts val="400"/>
              </a:spcBef>
              <a:defRPr sz="1200">
                <a:solidFill>
                  <a:srgbClr val="64748B"/>
                </a:solidFill>
              </a:defRPr>
            </a:pPr>
            <a:r>
              <a:t>Violates i.i.d. Assumption</a:t>
            </a:r>
          </a:p>
        </p:txBody>
      </p:sp>
      <p:sp>
        <p:nvSpPr>
          <p:cNvPr id="6" name="Rounded Rectangle 5"/>
          <p:cNvSpPr/>
          <p:nvPr/>
        </p:nvSpPr>
        <p:spPr>
          <a:xfrm>
            <a:off x="8046720" y="4023360"/>
            <a:ext cx="3474720" cy="2103120"/>
          </a:xfrm>
          <a:prstGeom prst="roundRect">
            <a:avLst/>
          </a:prstGeom>
          <a:solidFill>
            <a:srgbClr val="FFFFFF"/>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137160" tIns="137160" rIns="137160" bIns="137160"/>
          <a:lstStyle/>
          <a:p>
            <a:pPr algn="ctr">
              <a:defRPr sz="1100" b="1">
                <a:solidFill>
                  <a:srgbClr val="64748B"/>
                </a:solidFill>
              </a:defRPr>
            </a:pPr>
            <a:r>
              <a:t>CLINICAL REALITY</a:t>
            </a:r>
          </a:p>
          <a:p>
            <a:pPr algn="ctr">
              <a:spcBef>
                <a:spcPts val="600"/>
              </a:spcBef>
              <a:defRPr sz="2800" b="1">
                <a:solidFill>
                  <a:srgbClr val="0D9488"/>
                </a:solidFill>
              </a:defRPr>
            </a:pPr>
            <a:r>
              <a:t>Zero Labels</a:t>
            </a:r>
          </a:p>
          <a:p>
            <a:pPr algn="ctr">
              <a:spcBef>
                <a:spcPts val="400"/>
              </a:spcBef>
              <a:defRPr sz="1200">
                <a:solidFill>
                  <a:srgbClr val="64748B"/>
                </a:solidFill>
              </a:defRPr>
            </a:pPr>
            <a:r>
              <a:t>Must adapt online during scan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7315200" cy="320040"/>
          </a:xfrm>
          <a:prstGeom prst="rect">
            <a:avLst/>
          </a:prstGeom>
          <a:noFill/>
        </p:spPr>
        <p:txBody>
          <a:bodyPr wrap="square" lIns="0" tIns="0" rIns="0" bIns="0">
            <a:spAutoFit/>
          </a:bodyPr>
          <a:lstStyle/>
          <a:p>
            <a:pPr>
              <a:defRPr sz="1100" b="1">
                <a:solidFill>
                  <a:srgbClr val="0D9488"/>
                </a:solidFill>
              </a:defRPr>
            </a:pPr>
            <a:r>
              <a:t>CLINICAL IMPACT</a:t>
            </a:r>
          </a:p>
        </p:txBody>
      </p:sp>
      <p:sp>
        <p:nvSpPr>
          <p:cNvPr id="3" name="TextBox 2"/>
          <p:cNvSpPr txBox="1"/>
          <p:nvPr/>
        </p:nvSpPr>
        <p:spPr>
          <a:xfrm>
            <a:off x="731520" y="640080"/>
            <a:ext cx="10515600" cy="731520"/>
          </a:xfrm>
          <a:prstGeom prst="rect">
            <a:avLst/>
          </a:prstGeom>
          <a:noFill/>
        </p:spPr>
        <p:txBody>
          <a:bodyPr wrap="square" lIns="0" tIns="0" rIns="0" bIns="0">
            <a:spAutoFit/>
          </a:bodyPr>
          <a:lstStyle/>
          <a:p>
            <a:pPr>
              <a:defRPr sz="3200" b="1">
                <a:solidFill>
                  <a:srgbClr val="0F172A"/>
                </a:solidFill>
              </a:defRPr>
            </a:pPr>
            <a:r>
              <a:t>Clinical Stakes &amp; Diagnostic Urgency</a:t>
            </a:r>
          </a:p>
        </p:txBody>
      </p:sp>
      <p:sp>
        <p:nvSpPr>
          <p:cNvPr id="4" name="TextBox 3"/>
          <p:cNvSpPr txBox="1"/>
          <p:nvPr/>
        </p:nvSpPr>
        <p:spPr>
          <a:xfrm>
            <a:off x="731520" y="1645920"/>
            <a:ext cx="6858000" cy="4572000"/>
          </a:xfrm>
          <a:prstGeom prst="rect">
            <a:avLst/>
          </a:prstGeom>
          <a:noFill/>
        </p:spPr>
        <p:txBody>
          <a:bodyPr wrap="square" lIns="0" tIns="0" rIns="0" bIns="0">
            <a:spAutoFit/>
          </a:bodyPr>
          <a:lstStyle/>
          <a:p>
            <a:pPr>
              <a:spcAft>
                <a:spcPts val="1800"/>
              </a:spcAft>
              <a:defRPr sz="2200">
                <a:solidFill>
                  <a:srgbClr val="1E293B"/>
                </a:solidFill>
              </a:defRPr>
            </a:pPr>
            <a:r>
              <a:t>•  Critical oncology: lymph node metastasis</a:t>
            </a:r>
          </a:p>
          <a:p>
            <a:pPr>
              <a:spcAft>
                <a:spcPts val="1800"/>
              </a:spcAft>
              <a:defRPr sz="2200">
                <a:solidFill>
                  <a:srgbClr val="1E293B"/>
                </a:solidFill>
              </a:defRPr>
            </a:pPr>
            <a:r>
              <a:t>•  High stakes: missed cancer staging</a:t>
            </a:r>
          </a:p>
          <a:p>
            <a:pPr>
              <a:spcAft>
                <a:spcPts val="1800"/>
              </a:spcAft>
              <a:defRPr sz="2200">
                <a:solidFill>
                  <a:srgbClr val="1E293B"/>
                </a:solidFill>
              </a:defRPr>
            </a:pPr>
            <a:r>
              <a:t>•  Confirmation bias in unsupervised loops</a:t>
            </a:r>
          </a:p>
          <a:p>
            <a:pPr>
              <a:spcAft>
                <a:spcPts val="1800"/>
              </a:spcAft>
              <a:defRPr sz="2200">
                <a:solidFill>
                  <a:srgbClr val="1E293B"/>
                </a:solidFill>
              </a:defRPr>
            </a:pPr>
            <a:r>
              <a:t>•  Zero tolerance for silent AI failure</a:t>
            </a:r>
          </a:p>
        </p:txBody>
      </p:sp>
      <p:sp>
        <p:nvSpPr>
          <p:cNvPr id="5" name="Rounded Rectangle 4"/>
          <p:cNvSpPr/>
          <p:nvPr/>
        </p:nvSpPr>
        <p:spPr>
          <a:xfrm>
            <a:off x="8046720" y="1645920"/>
            <a:ext cx="3474720" cy="2103120"/>
          </a:xfrm>
          <a:prstGeom prst="roundRect">
            <a:avLst/>
          </a:prstGeom>
          <a:solidFill>
            <a:srgbClr val="FFFFFF"/>
          </a:solidFill>
          <a:ln w="1905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wrap="square" lIns="137160" tIns="137160" rIns="137160" bIns="137160"/>
          <a:lstStyle/>
          <a:p>
            <a:pPr algn="ctr">
              <a:defRPr sz="1100" b="1">
                <a:solidFill>
                  <a:srgbClr val="64748B"/>
                </a:solidFill>
              </a:defRPr>
            </a:pPr>
            <a:r>
              <a:t>AJCC 8TH EDITION</a:t>
            </a:r>
          </a:p>
          <a:p>
            <a:pPr algn="ctr">
              <a:spcBef>
                <a:spcPts val="600"/>
              </a:spcBef>
              <a:defRPr sz="2800" b="1">
                <a:solidFill>
                  <a:srgbClr val="DC2626"/>
                </a:solidFill>
              </a:defRPr>
            </a:pPr>
            <a:r>
              <a:t>Nodal Staging</a:t>
            </a:r>
          </a:p>
          <a:p>
            <a:pPr algn="ctr">
              <a:spcBef>
                <a:spcPts val="400"/>
              </a:spcBef>
              <a:defRPr sz="1200">
                <a:solidFill>
                  <a:srgbClr val="64748B"/>
                </a:solidFill>
              </a:defRPr>
            </a:pPr>
            <a:r>
              <a:t>False negatives delay chemo</a:t>
            </a:r>
          </a:p>
        </p:txBody>
      </p:sp>
      <p:sp>
        <p:nvSpPr>
          <p:cNvPr id="6" name="Rounded Rectangle 5"/>
          <p:cNvSpPr/>
          <p:nvPr/>
        </p:nvSpPr>
        <p:spPr>
          <a:xfrm>
            <a:off x="8046720" y="4023360"/>
            <a:ext cx="3474720" cy="2103120"/>
          </a:xfrm>
          <a:prstGeom prst="roundRect">
            <a:avLst/>
          </a:prstGeom>
          <a:solidFill>
            <a:srgbClr val="FFFFFF"/>
          </a:solidFill>
          <a:ln w="1905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wrap="square" lIns="137160" tIns="137160" rIns="137160" bIns="137160"/>
          <a:lstStyle/>
          <a:p>
            <a:pPr algn="ctr">
              <a:defRPr sz="1100" b="1">
                <a:solidFill>
                  <a:srgbClr val="64748B"/>
                </a:solidFill>
              </a:defRPr>
            </a:pPr>
            <a:r>
              <a:t>SAFETY MANDATE</a:t>
            </a:r>
          </a:p>
          <a:p>
            <a:pPr algn="ctr">
              <a:spcBef>
                <a:spcPts val="600"/>
              </a:spcBef>
              <a:defRPr sz="2800" b="1">
                <a:solidFill>
                  <a:srgbClr val="0F172A"/>
                </a:solidFill>
              </a:defRPr>
            </a:pPr>
            <a:r>
              <a:t>Fail-Closed</a:t>
            </a:r>
          </a:p>
          <a:p>
            <a:pPr algn="ctr">
              <a:spcBef>
                <a:spcPts val="400"/>
              </a:spcBef>
              <a:defRPr sz="1200">
                <a:solidFill>
                  <a:srgbClr val="64748B"/>
                </a:solidFill>
              </a:defRPr>
            </a:pPr>
            <a:r>
              <a:t>Guarantee baseline performance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7315200" cy="320040"/>
          </a:xfrm>
          <a:prstGeom prst="rect">
            <a:avLst/>
          </a:prstGeom>
          <a:noFill/>
        </p:spPr>
        <p:txBody>
          <a:bodyPr wrap="square" lIns="0" tIns="0" rIns="0" bIns="0">
            <a:spAutoFit/>
          </a:bodyPr>
          <a:lstStyle/>
          <a:p>
            <a:pPr>
              <a:defRPr sz="1100" b="1">
                <a:solidFill>
                  <a:srgbClr val="0D9488"/>
                </a:solidFill>
              </a:defRPr>
            </a:pPr>
            <a:r>
              <a:t>PRIOR ART</a:t>
            </a:r>
          </a:p>
        </p:txBody>
      </p:sp>
      <p:sp>
        <p:nvSpPr>
          <p:cNvPr id="3" name="TextBox 2"/>
          <p:cNvSpPr txBox="1"/>
          <p:nvPr/>
        </p:nvSpPr>
        <p:spPr>
          <a:xfrm>
            <a:off x="731520" y="640080"/>
            <a:ext cx="10515600" cy="731520"/>
          </a:xfrm>
          <a:prstGeom prst="rect">
            <a:avLst/>
          </a:prstGeom>
          <a:noFill/>
        </p:spPr>
        <p:txBody>
          <a:bodyPr wrap="square" lIns="0" tIns="0" rIns="0" bIns="0">
            <a:spAutoFit/>
          </a:bodyPr>
          <a:lstStyle/>
          <a:p>
            <a:pPr>
              <a:defRPr sz="3200" b="1">
                <a:solidFill>
                  <a:srgbClr val="0F172A"/>
                </a:solidFill>
              </a:defRPr>
            </a:pPr>
            <a:r>
              <a:t>Existing Test-Time Adaptation (TTA) Paradigms</a:t>
            </a:r>
          </a:p>
        </p:txBody>
      </p:sp>
      <p:sp>
        <p:nvSpPr>
          <p:cNvPr id="4" name="TextBox 3"/>
          <p:cNvSpPr txBox="1"/>
          <p:nvPr/>
        </p:nvSpPr>
        <p:spPr>
          <a:xfrm>
            <a:off x="731520" y="1645920"/>
            <a:ext cx="6858000" cy="4572000"/>
          </a:xfrm>
          <a:prstGeom prst="rect">
            <a:avLst/>
          </a:prstGeom>
          <a:noFill/>
        </p:spPr>
        <p:txBody>
          <a:bodyPr wrap="square" lIns="0" tIns="0" rIns="0" bIns="0">
            <a:spAutoFit/>
          </a:bodyPr>
          <a:lstStyle/>
          <a:p>
            <a:pPr>
              <a:spcAft>
                <a:spcPts val="1800"/>
              </a:spcAft>
              <a:defRPr sz="2200">
                <a:solidFill>
                  <a:srgbClr val="1E293B"/>
                </a:solidFill>
              </a:defRPr>
            </a:pPr>
            <a:r>
              <a:t>•  Tent (ICLR '21): Prediction entropy minimization</a:t>
            </a:r>
          </a:p>
          <a:p>
            <a:pPr>
              <a:spcAft>
                <a:spcPts val="1800"/>
              </a:spcAft>
              <a:defRPr sz="2200">
                <a:solidFill>
                  <a:srgbClr val="1E293B"/>
                </a:solidFill>
              </a:defRPr>
            </a:pPr>
            <a:r>
              <a:t>•  EATA (ICML '22): Sample entropy thresholding</a:t>
            </a:r>
          </a:p>
          <a:p>
            <a:pPr>
              <a:spcAft>
                <a:spcPts val="1800"/>
              </a:spcAft>
              <a:defRPr sz="2200">
                <a:solidFill>
                  <a:srgbClr val="1E293B"/>
                </a:solidFill>
              </a:defRPr>
            </a:pPr>
            <a:r>
              <a:t>•  SAR (ICLR '23): Sharpness-aware optimization</a:t>
            </a:r>
          </a:p>
          <a:p>
            <a:pPr>
              <a:spcAft>
                <a:spcPts val="1800"/>
              </a:spcAft>
              <a:defRPr sz="2200">
                <a:solidFill>
                  <a:srgbClr val="1E293B"/>
                </a:solidFill>
              </a:defRPr>
            </a:pPr>
            <a:r>
              <a:t>•  CoTTA (CVPR '22): Continual teacher-student</a:t>
            </a:r>
          </a:p>
        </p:txBody>
      </p:sp>
      <p:sp>
        <p:nvSpPr>
          <p:cNvPr id="5" name="Rounded Rectangle 4"/>
          <p:cNvSpPr/>
          <p:nvPr/>
        </p:nvSpPr>
        <p:spPr>
          <a:xfrm>
            <a:off x="8046720" y="1645920"/>
            <a:ext cx="3474720" cy="2103120"/>
          </a:xfrm>
          <a:prstGeom prst="roundRect">
            <a:avLst/>
          </a:prstGeom>
          <a:solidFill>
            <a:srgbClr val="FFFFFF"/>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137160" tIns="137160" rIns="137160" bIns="137160"/>
          <a:lstStyle/>
          <a:p>
            <a:pPr algn="ctr">
              <a:defRPr sz="1100" b="1">
                <a:solidFill>
                  <a:srgbClr val="64748B"/>
                </a:solidFill>
              </a:defRPr>
            </a:pPr>
            <a:r>
              <a:t>VISION ASSUMPTION</a:t>
            </a:r>
          </a:p>
          <a:p>
            <a:pPr algn="ctr">
              <a:spcBef>
                <a:spcPts val="600"/>
              </a:spcBef>
              <a:defRPr sz="2800" b="1">
                <a:solidFill>
                  <a:srgbClr val="0D9488"/>
                </a:solidFill>
              </a:defRPr>
            </a:pPr>
            <a:r>
              <a:t>Smooth Shift</a:t>
            </a:r>
          </a:p>
          <a:p>
            <a:pPr algn="ctr">
              <a:spcBef>
                <a:spcPts val="400"/>
              </a:spcBef>
              <a:defRPr sz="1200">
                <a:solidFill>
                  <a:srgbClr val="64748B"/>
                </a:solidFill>
              </a:defRPr>
            </a:pPr>
            <a:r>
              <a:t>Benchmarked on ImageNet-C</a:t>
            </a:r>
          </a:p>
        </p:txBody>
      </p:sp>
      <p:sp>
        <p:nvSpPr>
          <p:cNvPr id="6" name="Rounded Rectangle 5"/>
          <p:cNvSpPr/>
          <p:nvPr/>
        </p:nvSpPr>
        <p:spPr>
          <a:xfrm>
            <a:off x="8046720" y="4023360"/>
            <a:ext cx="3474720" cy="2103120"/>
          </a:xfrm>
          <a:prstGeom prst="roundRect">
            <a:avLst/>
          </a:prstGeom>
          <a:solidFill>
            <a:srgbClr val="FFFFFF"/>
          </a:solidFill>
          <a:ln w="1905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wrap="square" lIns="137160" tIns="137160" rIns="137160" bIns="137160"/>
          <a:lstStyle/>
          <a:p>
            <a:pPr algn="ctr">
              <a:defRPr sz="1100" b="1">
                <a:solidFill>
                  <a:srgbClr val="64748B"/>
                </a:solidFill>
              </a:defRPr>
            </a:pPr>
            <a:r>
              <a:t>PATHOLOGY REALITY</a:t>
            </a:r>
          </a:p>
          <a:p>
            <a:pPr algn="ctr">
              <a:spcBef>
                <a:spcPts val="600"/>
              </a:spcBef>
              <a:defRPr sz="2800" b="1">
                <a:solidFill>
                  <a:srgbClr val="DC2626"/>
                </a:solidFill>
              </a:defRPr>
            </a:pPr>
            <a:r>
              <a:t>Violated</a:t>
            </a:r>
          </a:p>
          <a:p>
            <a:pPr algn="ctr">
              <a:spcBef>
                <a:spcPts val="400"/>
              </a:spcBef>
              <a:defRPr sz="1200">
                <a:solidFill>
                  <a:srgbClr val="64748B"/>
                </a:solidFill>
              </a:defRPr>
            </a:pPr>
            <a:r>
              <a:t>Severe chromatic outlier shift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7315200" cy="320040"/>
          </a:xfrm>
          <a:prstGeom prst="rect">
            <a:avLst/>
          </a:prstGeom>
          <a:noFill/>
        </p:spPr>
        <p:txBody>
          <a:bodyPr wrap="square" lIns="0" tIns="0" rIns="0" bIns="0">
            <a:spAutoFit/>
          </a:bodyPr>
          <a:lstStyle/>
          <a:p>
            <a:pPr>
              <a:defRPr sz="1100" b="1">
                <a:solidFill>
                  <a:srgbClr val="0D9488"/>
                </a:solidFill>
              </a:defRPr>
            </a:pPr>
            <a:r>
              <a:t>IDENTIFIED GAP</a:t>
            </a:r>
          </a:p>
        </p:txBody>
      </p:sp>
      <p:sp>
        <p:nvSpPr>
          <p:cNvPr id="3" name="TextBox 2"/>
          <p:cNvSpPr txBox="1"/>
          <p:nvPr/>
        </p:nvSpPr>
        <p:spPr>
          <a:xfrm>
            <a:off x="731520" y="640080"/>
            <a:ext cx="10515600" cy="731520"/>
          </a:xfrm>
          <a:prstGeom prst="rect">
            <a:avLst/>
          </a:prstGeom>
          <a:noFill/>
        </p:spPr>
        <p:txBody>
          <a:bodyPr wrap="square" lIns="0" tIns="0" rIns="0" bIns="0">
            <a:spAutoFit/>
          </a:bodyPr>
          <a:lstStyle/>
          <a:p>
            <a:pPr>
              <a:defRPr sz="3200" b="1">
                <a:solidFill>
                  <a:srgbClr val="0F172A"/>
                </a:solidFill>
              </a:defRPr>
            </a:pPr>
            <a:r>
              <a:t>The Fundamental TTA Research Gap</a:t>
            </a:r>
          </a:p>
        </p:txBody>
      </p:sp>
      <p:sp>
        <p:nvSpPr>
          <p:cNvPr id="4" name="TextBox 3"/>
          <p:cNvSpPr txBox="1"/>
          <p:nvPr/>
        </p:nvSpPr>
        <p:spPr>
          <a:xfrm>
            <a:off x="731520" y="1645920"/>
            <a:ext cx="6858000" cy="4572000"/>
          </a:xfrm>
          <a:prstGeom prst="rect">
            <a:avLst/>
          </a:prstGeom>
          <a:noFill/>
        </p:spPr>
        <p:txBody>
          <a:bodyPr wrap="square" lIns="0" tIns="0" rIns="0" bIns="0">
            <a:spAutoFit/>
          </a:bodyPr>
          <a:lstStyle/>
          <a:p>
            <a:pPr>
              <a:spcAft>
                <a:spcPts val="1800"/>
              </a:spcAft>
              <a:defRPr sz="2200">
                <a:solidFill>
                  <a:srgbClr val="1E293B"/>
                </a:solidFill>
              </a:defRPr>
            </a:pPr>
            <a:r>
              <a:t>•  Flawed premise: 'Low entropy = Correct'</a:t>
            </a:r>
          </a:p>
          <a:p>
            <a:pPr>
              <a:spcAft>
                <a:spcPts val="1800"/>
              </a:spcAft>
              <a:defRPr sz="2200">
                <a:solidFill>
                  <a:srgbClr val="1E293B"/>
                </a:solidFill>
              </a:defRPr>
            </a:pPr>
            <a:r>
              <a:t>•  Tent collapse rate: 40% on random seeds</a:t>
            </a:r>
          </a:p>
          <a:p>
            <a:pPr>
              <a:spcAft>
                <a:spcPts val="1800"/>
              </a:spcAft>
              <a:defRPr sz="2200">
                <a:solidFill>
                  <a:srgbClr val="1E293B"/>
                </a:solidFill>
              </a:defRPr>
            </a:pPr>
            <a:r>
              <a:t>•  Scalar gating merely throttles frequency</a:t>
            </a:r>
          </a:p>
          <a:p>
            <a:pPr>
              <a:spcAft>
                <a:spcPts val="1800"/>
              </a:spcAft>
              <a:defRPr sz="2200">
                <a:solidFill>
                  <a:srgbClr val="1E293B"/>
                </a:solidFill>
              </a:defRPr>
            </a:pPr>
            <a:r>
              <a:t>•  Cannot repair corrupted feature geometry</a:t>
            </a:r>
          </a:p>
        </p:txBody>
      </p:sp>
      <p:sp>
        <p:nvSpPr>
          <p:cNvPr id="5" name="Rounded Rectangle 4"/>
          <p:cNvSpPr/>
          <p:nvPr/>
        </p:nvSpPr>
        <p:spPr>
          <a:xfrm>
            <a:off x="8046720" y="1645920"/>
            <a:ext cx="3474720" cy="2103120"/>
          </a:xfrm>
          <a:prstGeom prst="roundRect">
            <a:avLst/>
          </a:prstGeom>
          <a:solidFill>
            <a:srgbClr val="FFFFFF"/>
          </a:solidFill>
          <a:ln w="1905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wrap="square" lIns="137160" tIns="137160" rIns="137160" bIns="137160"/>
          <a:lstStyle/>
          <a:p>
            <a:pPr algn="ctr">
              <a:defRPr sz="1100" b="1">
                <a:solidFill>
                  <a:srgbClr val="64748B"/>
                </a:solidFill>
              </a:defRPr>
            </a:pPr>
            <a:r>
              <a:t>MULTI-SEED COLLAPSE</a:t>
            </a:r>
          </a:p>
          <a:p>
            <a:pPr algn="ctr">
              <a:spcBef>
                <a:spcPts val="600"/>
              </a:spcBef>
              <a:defRPr sz="2800" b="1">
                <a:solidFill>
                  <a:srgbClr val="DC2626"/>
                </a:solidFill>
              </a:defRPr>
            </a:pPr>
            <a:r>
              <a:t>40.0%</a:t>
            </a:r>
          </a:p>
          <a:p>
            <a:pPr algn="ctr">
              <a:spcBef>
                <a:spcPts val="400"/>
              </a:spcBef>
              <a:defRPr sz="1200">
                <a:solidFill>
                  <a:srgbClr val="64748B"/>
                </a:solidFill>
              </a:defRPr>
            </a:pPr>
            <a:r>
              <a:t>F1 drops to ~0.05 on seeds</a:t>
            </a:r>
          </a:p>
        </p:txBody>
      </p:sp>
      <p:sp>
        <p:nvSpPr>
          <p:cNvPr id="6" name="Rounded Rectangle 5"/>
          <p:cNvSpPr/>
          <p:nvPr/>
        </p:nvSpPr>
        <p:spPr>
          <a:xfrm>
            <a:off x="8046720" y="4023360"/>
            <a:ext cx="3474720" cy="2103120"/>
          </a:xfrm>
          <a:prstGeom prst="roundRect">
            <a:avLst/>
          </a:prstGeom>
          <a:solidFill>
            <a:srgbClr val="FFFFFF"/>
          </a:solidFill>
          <a:ln w="1905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wrap="square" lIns="137160" tIns="137160" rIns="137160" bIns="137160"/>
          <a:lstStyle/>
          <a:p>
            <a:pPr algn="ctr">
              <a:defRPr sz="1100" b="1">
                <a:solidFill>
                  <a:srgbClr val="64748B"/>
                </a:solidFill>
              </a:defRPr>
            </a:pPr>
            <a:r>
              <a:t>ATTRACTOR STATE</a:t>
            </a:r>
          </a:p>
          <a:p>
            <a:pPr algn="ctr">
              <a:spcBef>
                <a:spcPts val="600"/>
              </a:spcBef>
              <a:defRPr sz="2800" b="1">
                <a:solidFill>
                  <a:srgbClr val="DC2626"/>
                </a:solidFill>
              </a:defRPr>
            </a:pPr>
            <a:r>
              <a:t>Single Class</a:t>
            </a:r>
          </a:p>
          <a:p>
            <a:pPr algn="ctr">
              <a:spcBef>
                <a:spcPts val="400"/>
              </a:spcBef>
              <a:defRPr sz="1200">
                <a:solidFill>
                  <a:srgbClr val="64748B"/>
                </a:solidFill>
              </a:defRPr>
            </a:pPr>
            <a:r>
              <a:t>All samples assigned to Normal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7315200" cy="320040"/>
          </a:xfrm>
          <a:prstGeom prst="rect">
            <a:avLst/>
          </a:prstGeom>
          <a:noFill/>
        </p:spPr>
        <p:txBody>
          <a:bodyPr wrap="square" lIns="0" tIns="0" rIns="0" bIns="0">
            <a:spAutoFit/>
          </a:bodyPr>
          <a:lstStyle/>
          <a:p>
            <a:pPr>
              <a:defRPr sz="1100" b="1">
                <a:solidFill>
                  <a:srgbClr val="0D9488"/>
                </a:solidFill>
              </a:defRPr>
            </a:pPr>
            <a:r>
              <a:t>RESEARCH QUESTION</a:t>
            </a:r>
          </a:p>
        </p:txBody>
      </p:sp>
      <p:sp>
        <p:nvSpPr>
          <p:cNvPr id="3" name="TextBox 2"/>
          <p:cNvSpPr txBox="1"/>
          <p:nvPr/>
        </p:nvSpPr>
        <p:spPr>
          <a:xfrm>
            <a:off x="731520" y="640080"/>
            <a:ext cx="10515600" cy="731520"/>
          </a:xfrm>
          <a:prstGeom prst="rect">
            <a:avLst/>
          </a:prstGeom>
          <a:noFill/>
        </p:spPr>
        <p:txBody>
          <a:bodyPr wrap="square" lIns="0" tIns="0" rIns="0" bIns="0">
            <a:spAutoFit/>
          </a:bodyPr>
          <a:lstStyle/>
          <a:p>
            <a:pPr>
              <a:defRPr sz="3200" b="1">
                <a:solidFill>
                  <a:srgbClr val="0F172A"/>
                </a:solidFill>
              </a:defRPr>
            </a:pPr>
            <a:r>
              <a:t>Central Research Hypothesis</a:t>
            </a:r>
          </a:p>
        </p:txBody>
      </p:sp>
      <p:sp>
        <p:nvSpPr>
          <p:cNvPr id="4" name="TextBox 3"/>
          <p:cNvSpPr txBox="1"/>
          <p:nvPr/>
        </p:nvSpPr>
        <p:spPr>
          <a:xfrm>
            <a:off x="1097280" y="1828800"/>
            <a:ext cx="10058400" cy="3657600"/>
          </a:xfrm>
          <a:prstGeom prst="rect">
            <a:avLst/>
          </a:prstGeom>
          <a:noFill/>
        </p:spPr>
        <p:txBody>
          <a:bodyPr wrap="square" lIns="0" tIns="0" rIns="0" bIns="0">
            <a:spAutoFit/>
          </a:bodyPr>
          <a:lstStyle/>
          <a:p>
            <a:pPr>
              <a:spcAft>
                <a:spcPts val="1800"/>
              </a:spcAft>
              <a:defRPr sz="2200">
                <a:solidFill>
                  <a:srgbClr val="1E293B"/>
                </a:solidFill>
              </a:defRPr>
            </a:pPr>
            <a:r>
              <a:t>•  Can geometry-preserving transport alignment and fail-closed runtime interlocks contain catastrophic TTA failure modes while achieving statistically verified positive adaptation?</a:t>
            </a:r>
          </a:p>
          <a:p>
            <a:pPr>
              <a:spcAft>
                <a:spcPts val="1800"/>
              </a:spcAft>
              <a:defRPr sz="2200">
                <a:solidFill>
                  <a:srgbClr val="1E293B"/>
                </a:solidFill>
              </a:defRPr>
            </a:pPr>
            <a:r>
              <a:t>•  Key Challenge 1: Prevent single-class attractor collapse</a:t>
            </a:r>
          </a:p>
          <a:p>
            <a:pPr>
              <a:spcAft>
                <a:spcPts val="1800"/>
              </a:spcAft>
              <a:defRPr sz="2200">
                <a:solidFill>
                  <a:srgbClr val="1E293B"/>
                </a:solidFill>
              </a:defRPr>
            </a:pPr>
            <a:r>
              <a:t>•  Key Challenge 2: Guarantee zero diagnostic harm on outliers</a:t>
            </a:r>
          </a:p>
          <a:p>
            <a:pPr>
              <a:spcAft>
                <a:spcPts val="1800"/>
              </a:spcAft>
              <a:defRPr sz="2200">
                <a:solidFill>
                  <a:srgbClr val="1E293B"/>
                </a:solidFill>
              </a:defRPr>
            </a:pPr>
            <a:r>
              <a:t>•  Key Challenge 3: Guarantee complete patient isolation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7315200" cy="320040"/>
          </a:xfrm>
          <a:prstGeom prst="rect">
            <a:avLst/>
          </a:prstGeom>
          <a:noFill/>
        </p:spPr>
        <p:txBody>
          <a:bodyPr wrap="square" lIns="0" tIns="0" rIns="0" bIns="0">
            <a:spAutoFit/>
          </a:bodyPr>
          <a:lstStyle/>
          <a:p>
            <a:pPr>
              <a:defRPr sz="1100" b="1">
                <a:solidFill>
                  <a:srgbClr val="0D9488"/>
                </a:solidFill>
              </a:defRPr>
            </a:pPr>
            <a:r>
              <a:t>TARGET GOALS</a:t>
            </a:r>
          </a:p>
        </p:txBody>
      </p:sp>
      <p:sp>
        <p:nvSpPr>
          <p:cNvPr id="3" name="TextBox 2"/>
          <p:cNvSpPr txBox="1"/>
          <p:nvPr/>
        </p:nvSpPr>
        <p:spPr>
          <a:xfrm>
            <a:off x="731520" y="640080"/>
            <a:ext cx="10515600" cy="731520"/>
          </a:xfrm>
          <a:prstGeom prst="rect">
            <a:avLst/>
          </a:prstGeom>
          <a:noFill/>
        </p:spPr>
        <p:txBody>
          <a:bodyPr wrap="square" lIns="0" tIns="0" rIns="0" bIns="0">
            <a:spAutoFit/>
          </a:bodyPr>
          <a:lstStyle/>
          <a:p>
            <a:pPr>
              <a:defRPr sz="3200" b="1">
                <a:solidFill>
                  <a:srgbClr val="0F172A"/>
                </a:solidFill>
              </a:defRPr>
            </a:pPr>
            <a:r>
              <a:t>Research Objectives</a:t>
            </a:r>
          </a:p>
        </p:txBody>
      </p:sp>
      <p:sp>
        <p:nvSpPr>
          <p:cNvPr id="4" name="Rounded Rectangle 3"/>
          <p:cNvSpPr/>
          <p:nvPr/>
        </p:nvSpPr>
        <p:spPr>
          <a:xfrm>
            <a:off x="731520" y="1645920"/>
            <a:ext cx="5120640" cy="2103120"/>
          </a:xfrm>
          <a:prstGeom prst="roundRect">
            <a:avLst/>
          </a:prstGeom>
          <a:solidFill>
            <a:srgbClr val="FFFFFF"/>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137160" tIns="137160" rIns="137160" bIns="137160"/>
          <a:lstStyle/>
          <a:p>
            <a:pPr algn="ctr">
              <a:defRPr sz="1100" b="1">
                <a:solidFill>
                  <a:srgbClr val="64748B"/>
                </a:solidFill>
              </a:defRPr>
            </a:pPr>
            <a:r>
              <a:t>GOAL 1: THEORY</a:t>
            </a:r>
          </a:p>
          <a:p>
            <a:pPr algn="ctr">
              <a:spcBef>
                <a:spcPts val="600"/>
              </a:spcBef>
              <a:defRPr sz="2800" b="1">
                <a:solidFill>
                  <a:srgbClr val="0D9488"/>
                </a:solidFill>
              </a:defRPr>
            </a:pPr>
            <a:r>
              <a:t>Rank Equivalence</a:t>
            </a:r>
          </a:p>
          <a:p>
            <a:pPr algn="ctr">
              <a:spcBef>
                <a:spcPts val="400"/>
              </a:spcBef>
              <a:defRPr sz="1200">
                <a:solidFill>
                  <a:srgbClr val="64748B"/>
                </a:solidFill>
              </a:defRPr>
            </a:pPr>
            <a:r>
              <a:t>Prove why uncertainty gating fails</a:t>
            </a:r>
          </a:p>
        </p:txBody>
      </p:sp>
      <p:sp>
        <p:nvSpPr>
          <p:cNvPr id="5" name="Rounded Rectangle 4"/>
          <p:cNvSpPr/>
          <p:nvPr/>
        </p:nvSpPr>
        <p:spPr>
          <a:xfrm>
            <a:off x="6217920" y="1645920"/>
            <a:ext cx="5120640" cy="2103120"/>
          </a:xfrm>
          <a:prstGeom prst="roundRect">
            <a:avLst/>
          </a:prstGeom>
          <a:solidFill>
            <a:srgbClr val="FFFFFF"/>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137160" tIns="137160" rIns="137160" bIns="137160"/>
          <a:lstStyle/>
          <a:p>
            <a:pPr algn="ctr">
              <a:defRPr sz="1100" b="1">
                <a:solidFill>
                  <a:srgbClr val="64748B"/>
                </a:solidFill>
              </a:defRPr>
            </a:pPr>
            <a:r>
              <a:t>GOAL 2: GEOMETRY</a:t>
            </a:r>
          </a:p>
          <a:p>
            <a:pPr algn="ctr">
              <a:spcBef>
                <a:spcPts val="600"/>
              </a:spcBef>
              <a:defRPr sz="2800" b="1">
                <a:solidFill>
                  <a:srgbClr val="0D9488"/>
                </a:solidFill>
              </a:defRPr>
            </a:pPr>
            <a:r>
              <a:t>Optimal Transport</a:t>
            </a:r>
          </a:p>
          <a:p>
            <a:pPr algn="ctr">
              <a:spcBef>
                <a:spcPts val="400"/>
              </a:spcBef>
              <a:defRPr sz="1200">
                <a:solidFill>
                  <a:srgbClr val="64748B"/>
                </a:solidFill>
              </a:defRPr>
            </a:pPr>
            <a:r>
              <a:t>Preserve class-prior proportions</a:t>
            </a:r>
          </a:p>
        </p:txBody>
      </p:sp>
      <p:sp>
        <p:nvSpPr>
          <p:cNvPr id="6" name="Rounded Rectangle 5"/>
          <p:cNvSpPr/>
          <p:nvPr/>
        </p:nvSpPr>
        <p:spPr>
          <a:xfrm>
            <a:off x="731520" y="4023360"/>
            <a:ext cx="5120640" cy="2103120"/>
          </a:xfrm>
          <a:prstGeom prst="roundRect">
            <a:avLst/>
          </a:prstGeom>
          <a:solidFill>
            <a:srgbClr val="FFFFFF"/>
          </a:solidFill>
          <a:ln w="1905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wrap="square" lIns="137160" tIns="137160" rIns="137160" bIns="137160"/>
          <a:lstStyle/>
          <a:p>
            <a:pPr algn="ctr">
              <a:defRPr sz="1100" b="1">
                <a:solidFill>
                  <a:srgbClr val="64748B"/>
                </a:solidFill>
              </a:defRPr>
            </a:pPr>
            <a:r>
              <a:t>GOAL 3: SAFETY</a:t>
            </a:r>
          </a:p>
          <a:p>
            <a:pPr algn="ctr">
              <a:spcBef>
                <a:spcPts val="600"/>
              </a:spcBef>
              <a:defRPr sz="2800" b="1">
                <a:solidFill>
                  <a:srgbClr val="0F172A"/>
                </a:solidFill>
              </a:defRPr>
            </a:pPr>
            <a:r>
              <a:t>L_infinity Bound</a:t>
            </a:r>
          </a:p>
          <a:p>
            <a:pPr algn="ctr">
              <a:spcBef>
                <a:spcPts val="400"/>
              </a:spcBef>
              <a:defRPr sz="1200">
                <a:solidFill>
                  <a:srgbClr val="64748B"/>
                </a:solidFill>
              </a:defRPr>
            </a:pPr>
            <a:r>
              <a:t>Provable logit displacement limits</a:t>
            </a:r>
          </a:p>
        </p:txBody>
      </p:sp>
      <p:sp>
        <p:nvSpPr>
          <p:cNvPr id="7" name="Rounded Rectangle 6"/>
          <p:cNvSpPr/>
          <p:nvPr/>
        </p:nvSpPr>
        <p:spPr>
          <a:xfrm>
            <a:off x="6217920" y="4023360"/>
            <a:ext cx="5120640" cy="2103120"/>
          </a:xfrm>
          <a:prstGeom prst="roundRect">
            <a:avLst/>
          </a:prstGeom>
          <a:solidFill>
            <a:srgbClr val="FFFFFF"/>
          </a:solidFill>
          <a:ln w="1905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wrap="square" lIns="137160" tIns="137160" rIns="137160" bIns="137160"/>
          <a:lstStyle/>
          <a:p>
            <a:pPr algn="ctr">
              <a:defRPr sz="1100" b="1">
                <a:solidFill>
                  <a:srgbClr val="64748B"/>
                </a:solidFill>
              </a:defRPr>
            </a:pPr>
            <a:r>
              <a:t>GOAL 4: SYSTEMS</a:t>
            </a:r>
          </a:p>
          <a:p>
            <a:pPr algn="ctr">
              <a:spcBef>
                <a:spcPts val="600"/>
              </a:spcBef>
              <a:defRPr sz="2800" b="1">
                <a:solidFill>
                  <a:srgbClr val="0F172A"/>
                </a:solidFill>
              </a:defRPr>
            </a:pPr>
            <a:r>
              <a:t>1.8 ms Rollback</a:t>
            </a:r>
          </a:p>
          <a:p>
            <a:pPr algn="ctr">
              <a:spcBef>
                <a:spcPts val="400"/>
              </a:spcBef>
              <a:defRPr sz="1200">
                <a:solidFill>
                  <a:srgbClr val="64748B"/>
                </a:solidFill>
              </a:defRPr>
            </a:pPr>
            <a:r>
              <a:t>Sub-frame state recovery on GPU</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7315200" cy="320040"/>
          </a:xfrm>
          <a:prstGeom prst="rect">
            <a:avLst/>
          </a:prstGeom>
          <a:noFill/>
        </p:spPr>
        <p:txBody>
          <a:bodyPr wrap="square" lIns="0" tIns="0" rIns="0" bIns="0">
            <a:spAutoFit/>
          </a:bodyPr>
          <a:lstStyle/>
          <a:p>
            <a:pPr>
              <a:defRPr sz="1100" b="1">
                <a:solidFill>
                  <a:srgbClr val="0D9488"/>
                </a:solidFill>
              </a:defRPr>
            </a:pPr>
            <a:r>
              <a:t>CONTRIBUTIONS</a:t>
            </a:r>
          </a:p>
        </p:txBody>
      </p:sp>
      <p:sp>
        <p:nvSpPr>
          <p:cNvPr id="3" name="TextBox 2"/>
          <p:cNvSpPr txBox="1"/>
          <p:nvPr/>
        </p:nvSpPr>
        <p:spPr>
          <a:xfrm>
            <a:off x="731520" y="640080"/>
            <a:ext cx="10515600" cy="731520"/>
          </a:xfrm>
          <a:prstGeom prst="rect">
            <a:avLst/>
          </a:prstGeom>
          <a:noFill/>
        </p:spPr>
        <p:txBody>
          <a:bodyPr wrap="square" lIns="0" tIns="0" rIns="0" bIns="0">
            <a:spAutoFit/>
          </a:bodyPr>
          <a:lstStyle/>
          <a:p>
            <a:pPr>
              <a:defRPr sz="3200" b="1">
                <a:solidFill>
                  <a:srgbClr val="0F172A"/>
                </a:solidFill>
              </a:defRPr>
            </a:pPr>
            <a:r>
              <a:t>Summary of Key Contributions</a:t>
            </a:r>
          </a:p>
        </p:txBody>
      </p:sp>
      <p:sp>
        <p:nvSpPr>
          <p:cNvPr id="4" name="TextBox 3"/>
          <p:cNvSpPr txBox="1"/>
          <p:nvPr/>
        </p:nvSpPr>
        <p:spPr>
          <a:xfrm>
            <a:off x="731520" y="1645920"/>
            <a:ext cx="6858000" cy="4572000"/>
          </a:xfrm>
          <a:prstGeom prst="rect">
            <a:avLst/>
          </a:prstGeom>
          <a:noFill/>
        </p:spPr>
        <p:txBody>
          <a:bodyPr wrap="square" lIns="0" tIns="0" rIns="0" bIns="0">
            <a:spAutoFit/>
          </a:bodyPr>
          <a:lstStyle/>
          <a:p>
            <a:pPr>
              <a:spcAft>
                <a:spcPts val="1800"/>
              </a:spcAft>
              <a:defRPr sz="2200">
                <a:solidFill>
                  <a:srgbClr val="1E293B"/>
                </a:solidFill>
              </a:defRPr>
            </a:pPr>
            <a:r>
              <a:t>•  Prop. 1: Taylor rank equivalence proof (rho = -0.9917)</a:t>
            </a:r>
          </a:p>
          <a:p>
            <a:pPr>
              <a:spcAft>
                <a:spcPts val="1800"/>
              </a:spcAft>
              <a:defRPr sz="2200">
                <a:solidFill>
                  <a:srgbClr val="1E293B"/>
                </a:solidFill>
              </a:defRPr>
            </a:pPr>
            <a:r>
              <a:t>•  SafeAdapt-OT: Exact marginal Sinkhorn transport</a:t>
            </a:r>
          </a:p>
          <a:p>
            <a:pPr>
              <a:spcAft>
                <a:spcPts val="1800"/>
              </a:spcAft>
              <a:defRPr sz="2200">
                <a:solidFill>
                  <a:srgbClr val="1E293B"/>
                </a:solidFill>
              </a:defRPr>
            </a:pPr>
            <a:r>
              <a:t>•  Thm. 1: Provable L_inf bound (Delta p &lt;= 0.0460)</a:t>
            </a:r>
          </a:p>
          <a:p>
            <a:pPr>
              <a:spcAft>
                <a:spcPts val="1800"/>
              </a:spcAft>
              <a:defRPr sz="2200">
                <a:solidFill>
                  <a:srgbClr val="1E293B"/>
                </a:solidFill>
              </a:defRPr>
            </a:pPr>
            <a:r>
              <a:t>•  Sub-frame recovery: 1.8 ms GPU state rollback</a:t>
            </a:r>
          </a:p>
          <a:p>
            <a:pPr>
              <a:spcAft>
                <a:spcPts val="1800"/>
              </a:spcAft>
              <a:defRPr sz="2200">
                <a:solidFill>
                  <a:srgbClr val="1E293B"/>
                </a:solidFill>
              </a:defRPr>
            </a:pPr>
            <a:r>
              <a:t>•  Episodic resets: Zero patient sequence drift</a:t>
            </a:r>
          </a:p>
        </p:txBody>
      </p:sp>
      <p:sp>
        <p:nvSpPr>
          <p:cNvPr id="5" name="Rounded Rectangle 4"/>
          <p:cNvSpPr/>
          <p:nvPr/>
        </p:nvSpPr>
        <p:spPr>
          <a:xfrm>
            <a:off x="8046720" y="1645920"/>
            <a:ext cx="3474720" cy="2103120"/>
          </a:xfrm>
          <a:prstGeom prst="roundRect">
            <a:avLst/>
          </a:prstGeom>
          <a:solidFill>
            <a:srgbClr val="FFFFFF"/>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137160" tIns="137160" rIns="137160" bIns="137160"/>
          <a:lstStyle/>
          <a:p>
            <a:pPr algn="ctr">
              <a:defRPr sz="1100" b="1">
                <a:solidFill>
                  <a:srgbClr val="64748B"/>
                </a:solidFill>
              </a:defRPr>
            </a:pPr>
            <a:r>
              <a:t>THEORETICAL PROOF</a:t>
            </a:r>
          </a:p>
          <a:p>
            <a:pPr algn="ctr">
              <a:spcBef>
                <a:spcPts val="600"/>
              </a:spcBef>
              <a:defRPr sz="2800" b="1">
                <a:solidFill>
                  <a:srgbClr val="0D9488"/>
                </a:solidFill>
              </a:defRPr>
            </a:pPr>
            <a:r>
              <a:t>rho = -0.9917</a:t>
            </a:r>
          </a:p>
          <a:p>
            <a:pPr algn="ctr">
              <a:spcBef>
                <a:spcPts val="400"/>
              </a:spcBef>
              <a:defRPr sz="1200">
                <a:solidFill>
                  <a:srgbClr val="64748B"/>
                </a:solidFill>
              </a:defRPr>
            </a:pPr>
            <a:r>
              <a:t>Asymptotic Rank Equivalence</a:t>
            </a:r>
          </a:p>
        </p:txBody>
      </p:sp>
      <p:sp>
        <p:nvSpPr>
          <p:cNvPr id="6" name="Rounded Rectangle 5"/>
          <p:cNvSpPr/>
          <p:nvPr/>
        </p:nvSpPr>
        <p:spPr>
          <a:xfrm>
            <a:off x="8046720" y="4023360"/>
            <a:ext cx="3474720" cy="2103120"/>
          </a:xfrm>
          <a:prstGeom prst="roundRect">
            <a:avLst/>
          </a:prstGeom>
          <a:solidFill>
            <a:srgbClr val="FFFFFF"/>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lIns="137160" tIns="137160" rIns="137160" bIns="137160"/>
          <a:lstStyle/>
          <a:p>
            <a:pPr algn="ctr">
              <a:defRPr sz="1100" b="1">
                <a:solidFill>
                  <a:srgbClr val="64748B"/>
                </a:solidFill>
              </a:defRPr>
            </a:pPr>
            <a:r>
              <a:t>SAFETY BOUND</a:t>
            </a:r>
          </a:p>
          <a:p>
            <a:pPr algn="ctr">
              <a:spcBef>
                <a:spcPts val="600"/>
              </a:spcBef>
              <a:defRPr sz="2800" b="1">
                <a:solidFill>
                  <a:srgbClr val="10B981"/>
                </a:solidFill>
              </a:defRPr>
            </a:pPr>
            <a:r>
              <a:t>Delta p &lt;= 0.0460</a:t>
            </a:r>
          </a:p>
          <a:p>
            <a:pPr algn="ctr">
              <a:spcBef>
                <a:spcPts val="400"/>
              </a:spcBef>
              <a:defRPr sz="1200">
                <a:solidFill>
                  <a:srgbClr val="64748B"/>
                </a:solidFill>
              </a:defRPr>
            </a:pPr>
            <a:r>
              <a:t>Lipschitz Probability Limit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7315200" cy="320040"/>
          </a:xfrm>
          <a:prstGeom prst="rect">
            <a:avLst/>
          </a:prstGeom>
          <a:noFill/>
        </p:spPr>
        <p:txBody>
          <a:bodyPr wrap="square" lIns="0" tIns="0" rIns="0" bIns="0">
            <a:spAutoFit/>
          </a:bodyPr>
          <a:lstStyle/>
          <a:p>
            <a:pPr>
              <a:defRPr sz="1100" b="1">
                <a:solidFill>
                  <a:srgbClr val="0D9488"/>
                </a:solidFill>
              </a:defRPr>
            </a:pPr>
            <a:r>
              <a:t>ARCHITECTURE</a:t>
            </a:r>
          </a:p>
        </p:txBody>
      </p:sp>
      <p:sp>
        <p:nvSpPr>
          <p:cNvPr id="3" name="TextBox 2"/>
          <p:cNvSpPr txBox="1"/>
          <p:nvPr/>
        </p:nvSpPr>
        <p:spPr>
          <a:xfrm>
            <a:off x="731520" y="640080"/>
            <a:ext cx="10515600" cy="731520"/>
          </a:xfrm>
          <a:prstGeom prst="rect">
            <a:avLst/>
          </a:prstGeom>
          <a:noFill/>
        </p:spPr>
        <p:txBody>
          <a:bodyPr wrap="square" lIns="0" tIns="0" rIns="0" bIns="0">
            <a:spAutoFit/>
          </a:bodyPr>
          <a:lstStyle/>
          <a:p>
            <a:pPr>
              <a:defRPr sz="3200" b="1">
                <a:solidFill>
                  <a:srgbClr val="0F172A"/>
                </a:solidFill>
              </a:defRPr>
            </a:pPr>
            <a:r>
              <a:t>SafeAdapt Framework Overview</a:t>
            </a:r>
          </a:p>
        </p:txBody>
      </p:sp>
      <p:sp>
        <p:nvSpPr>
          <p:cNvPr id="4" name="TextBox 3"/>
          <p:cNvSpPr txBox="1"/>
          <p:nvPr/>
        </p:nvSpPr>
        <p:spPr>
          <a:xfrm>
            <a:off x="731520" y="1645920"/>
            <a:ext cx="6858000" cy="4572000"/>
          </a:xfrm>
          <a:prstGeom prst="rect">
            <a:avLst/>
          </a:prstGeom>
          <a:noFill/>
        </p:spPr>
        <p:txBody>
          <a:bodyPr wrap="square" lIns="0" tIns="0" rIns="0" bIns="0">
            <a:spAutoFit/>
          </a:bodyPr>
          <a:lstStyle/>
          <a:p>
            <a:pPr>
              <a:spcAft>
                <a:spcPts val="1800"/>
              </a:spcAft>
              <a:defRPr sz="2200">
                <a:solidFill>
                  <a:srgbClr val="1E293B"/>
                </a:solidFill>
              </a:defRPr>
            </a:pPr>
            <a:r>
              <a:t>•  Frozen convolutional feature backbone</a:t>
            </a:r>
          </a:p>
          <a:p>
            <a:pPr>
              <a:spcAft>
                <a:spcPts val="1800"/>
              </a:spcAft>
              <a:defRPr sz="2200">
                <a:solidFill>
                  <a:srgbClr val="1E293B"/>
                </a:solidFill>
              </a:defRPr>
            </a:pPr>
            <a:r>
              <a:t>•  Trainable normalization affine scales (gamma, beta)</a:t>
            </a:r>
          </a:p>
          <a:p>
            <a:pPr>
              <a:spcAft>
                <a:spcPts val="1800"/>
              </a:spcAft>
              <a:defRPr sz="2200">
                <a:solidFill>
                  <a:srgbClr val="1E293B"/>
                </a:solidFill>
              </a:defRPr>
            </a:pPr>
            <a:r>
              <a:t>•  Real-time Optimal Transport alignment head</a:t>
            </a:r>
          </a:p>
          <a:p>
            <a:pPr>
              <a:spcAft>
                <a:spcPts val="1800"/>
              </a:spcAft>
              <a:defRPr sz="2200">
                <a:solidFill>
                  <a:srgbClr val="1E293B"/>
                </a:solidFill>
              </a:defRPr>
            </a:pPr>
            <a:r>
              <a:t>•  Dual asynchronous GPU/CPU ring buffers</a:t>
            </a:r>
          </a:p>
          <a:p>
            <a:pPr>
              <a:spcAft>
                <a:spcPts val="1800"/>
              </a:spcAft>
              <a:defRPr sz="2200">
                <a:solidFill>
                  <a:srgbClr val="1E293B"/>
                </a:solidFill>
              </a:defRPr>
            </a:pPr>
            <a:r>
              <a:t>•  Deterministic per-WSI slide boundary resets</a:t>
            </a:r>
          </a:p>
        </p:txBody>
      </p:sp>
      <p:sp>
        <p:nvSpPr>
          <p:cNvPr id="5" name="Rounded Rectangle 4"/>
          <p:cNvSpPr/>
          <p:nvPr/>
        </p:nvSpPr>
        <p:spPr>
          <a:xfrm>
            <a:off x="8046720" y="1645920"/>
            <a:ext cx="3474720" cy="2103120"/>
          </a:xfrm>
          <a:prstGeom prst="roundRect">
            <a:avLst/>
          </a:prstGeom>
          <a:solidFill>
            <a:srgbClr val="FFFFFF"/>
          </a:solidFill>
          <a:ln w="1905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wrap="square" lIns="137160" tIns="137160" rIns="137160" bIns="137160"/>
          <a:lstStyle/>
          <a:p>
            <a:pPr algn="ctr">
              <a:defRPr sz="1100" b="1">
                <a:solidFill>
                  <a:srgbClr val="64748B"/>
                </a:solidFill>
              </a:defRPr>
            </a:pPr>
            <a:r>
              <a:t>TRAINABLE PARAMS</a:t>
            </a:r>
          </a:p>
          <a:p>
            <a:pPr algn="ctr">
              <a:spcBef>
                <a:spcPts val="600"/>
              </a:spcBef>
              <a:defRPr sz="2800" b="1">
                <a:solidFill>
                  <a:srgbClr val="0F172A"/>
                </a:solidFill>
              </a:defRPr>
            </a:pPr>
            <a:r>
              <a:t>106 Parameters</a:t>
            </a:r>
          </a:p>
          <a:p>
            <a:pPr algn="ctr">
              <a:spcBef>
                <a:spcPts val="400"/>
              </a:spcBef>
              <a:defRPr sz="1200">
                <a:solidFill>
                  <a:srgbClr val="64748B"/>
                </a:solidFill>
              </a:defRPr>
            </a:pPr>
            <a:r>
              <a:t>BatchNorm affine buffers only</a:t>
            </a:r>
          </a:p>
        </p:txBody>
      </p:sp>
      <p:sp>
        <p:nvSpPr>
          <p:cNvPr id="6" name="Rounded Rectangle 5"/>
          <p:cNvSpPr/>
          <p:nvPr/>
        </p:nvSpPr>
        <p:spPr>
          <a:xfrm>
            <a:off x="8046720" y="4023360"/>
            <a:ext cx="3474720" cy="2103120"/>
          </a:xfrm>
          <a:prstGeom prst="roundRect">
            <a:avLst/>
          </a:prstGeom>
          <a:solidFill>
            <a:srgbClr val="FFFFFF"/>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137160" tIns="137160" rIns="137160" bIns="137160"/>
          <a:lstStyle/>
          <a:p>
            <a:pPr algn="ctr">
              <a:defRPr sz="1100" b="1">
                <a:solidFill>
                  <a:srgbClr val="64748B"/>
                </a:solidFill>
              </a:defRPr>
            </a:pPr>
            <a:r>
              <a:t>FEATURE FILTERS</a:t>
            </a:r>
          </a:p>
          <a:p>
            <a:pPr algn="ctr">
              <a:spcBef>
                <a:spcPts val="600"/>
              </a:spcBef>
              <a:defRPr sz="2800" b="1">
                <a:solidFill>
                  <a:srgbClr val="0D9488"/>
                </a:solidFill>
              </a:defRPr>
            </a:pPr>
            <a:r>
              <a:t>100% Frozen</a:t>
            </a:r>
          </a:p>
          <a:p>
            <a:pPr algn="ctr">
              <a:spcBef>
                <a:spcPts val="400"/>
              </a:spcBef>
              <a:defRPr sz="1200">
                <a:solidFill>
                  <a:srgbClr val="64748B"/>
                </a:solidFill>
              </a:defRPr>
            </a:pPr>
            <a:r>
              <a:t>Zero semantic drift risk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7315200" cy="320040"/>
          </a:xfrm>
          <a:prstGeom prst="rect">
            <a:avLst/>
          </a:prstGeom>
          <a:noFill/>
        </p:spPr>
        <p:txBody>
          <a:bodyPr wrap="square" lIns="0" tIns="0" rIns="0" bIns="0">
            <a:spAutoFit/>
          </a:bodyPr>
          <a:lstStyle/>
          <a:p>
            <a:pPr>
              <a:defRPr sz="1100" b="1">
                <a:solidFill>
                  <a:srgbClr val="0D9488"/>
                </a:solidFill>
              </a:defRPr>
            </a:pPr>
            <a:r>
              <a:t>METHODOLOGY</a:t>
            </a:r>
          </a:p>
        </p:txBody>
      </p:sp>
      <p:sp>
        <p:nvSpPr>
          <p:cNvPr id="3" name="TextBox 2"/>
          <p:cNvSpPr txBox="1"/>
          <p:nvPr/>
        </p:nvSpPr>
        <p:spPr>
          <a:xfrm>
            <a:off x="731520" y="640080"/>
            <a:ext cx="10515600" cy="731520"/>
          </a:xfrm>
          <a:prstGeom prst="rect">
            <a:avLst/>
          </a:prstGeom>
          <a:noFill/>
        </p:spPr>
        <p:txBody>
          <a:bodyPr wrap="square" lIns="0" tIns="0" rIns="0" bIns="0">
            <a:spAutoFit/>
          </a:bodyPr>
          <a:lstStyle/>
          <a:p>
            <a:pPr>
              <a:defRPr sz="3200" b="1">
                <a:solidFill>
                  <a:srgbClr val="0F172A"/>
                </a:solidFill>
              </a:defRPr>
            </a:pPr>
            <a:r>
              <a:t>Component 1: Geometry-Preserving Optimal Transport</a:t>
            </a:r>
          </a:p>
        </p:txBody>
      </p:sp>
      <p:sp>
        <p:nvSpPr>
          <p:cNvPr id="4" name="TextBox 3"/>
          <p:cNvSpPr txBox="1"/>
          <p:nvPr/>
        </p:nvSpPr>
        <p:spPr>
          <a:xfrm>
            <a:off x="731520" y="1645920"/>
            <a:ext cx="6858000" cy="4572000"/>
          </a:xfrm>
          <a:prstGeom prst="rect">
            <a:avLst/>
          </a:prstGeom>
          <a:noFill/>
        </p:spPr>
        <p:txBody>
          <a:bodyPr wrap="square" lIns="0" tIns="0" rIns="0" bIns="0">
            <a:spAutoFit/>
          </a:bodyPr>
          <a:lstStyle/>
          <a:p>
            <a:pPr>
              <a:spcAft>
                <a:spcPts val="1800"/>
              </a:spcAft>
              <a:defRPr sz="2200">
                <a:solidFill>
                  <a:srgbClr val="1E293B"/>
                </a:solidFill>
              </a:defRPr>
            </a:pPr>
            <a:r>
              <a:t>•  Entropic Wasserstein-2 prototype transport</a:t>
            </a:r>
          </a:p>
          <a:p>
            <a:pPr>
              <a:spcAft>
                <a:spcPts val="1800"/>
              </a:spcAft>
              <a:defRPr sz="2200">
                <a:solidFill>
                  <a:srgbClr val="1E293B"/>
                </a:solidFill>
              </a:defRPr>
            </a:pPr>
            <a:r>
              <a:t>•  Real-time Sinkhorn-Knopp matrix iterations</a:t>
            </a:r>
          </a:p>
          <a:p>
            <a:pPr>
              <a:spcAft>
                <a:spcPts val="1800"/>
              </a:spcAft>
              <a:defRPr sz="2200">
                <a:solidFill>
                  <a:srgbClr val="1E293B"/>
                </a:solidFill>
              </a:defRPr>
            </a:pPr>
            <a:r>
              <a:t>•  Exact marginal constraint: Q^T 1_B = r</a:t>
            </a:r>
          </a:p>
          <a:p>
            <a:pPr>
              <a:spcAft>
                <a:spcPts val="1800"/>
              </a:spcAft>
              <a:defRPr sz="2200">
                <a:solidFill>
                  <a:srgbClr val="1E293B"/>
                </a:solidFill>
              </a:defRPr>
            </a:pPr>
            <a:r>
              <a:t>•  r = certified source disease prior capacity</a:t>
            </a:r>
          </a:p>
          <a:p>
            <a:pPr>
              <a:spcAft>
                <a:spcPts val="1800"/>
              </a:spcAft>
              <a:defRPr sz="2200">
                <a:solidFill>
                  <a:srgbClr val="1E293B"/>
                </a:solidFill>
              </a:defRPr>
            </a:pPr>
            <a:r>
              <a:t>•  Mathematically eliminates attractor collapse</a:t>
            </a:r>
          </a:p>
        </p:txBody>
      </p:sp>
      <p:sp>
        <p:nvSpPr>
          <p:cNvPr id="5" name="Rounded Rectangle 4"/>
          <p:cNvSpPr/>
          <p:nvPr/>
        </p:nvSpPr>
        <p:spPr>
          <a:xfrm>
            <a:off x="8046720" y="1645920"/>
            <a:ext cx="3474720" cy="2103120"/>
          </a:xfrm>
          <a:prstGeom prst="roundRect">
            <a:avLst/>
          </a:prstGeom>
          <a:solidFill>
            <a:srgbClr val="FFFFFF"/>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137160" tIns="137160" rIns="137160" bIns="137160"/>
          <a:lstStyle/>
          <a:p>
            <a:pPr algn="ctr">
              <a:defRPr sz="1100" b="1">
                <a:solidFill>
                  <a:srgbClr val="64748B"/>
                </a:solidFill>
              </a:defRPr>
            </a:pPr>
            <a:r>
              <a:t>MARGINAL BALANCE</a:t>
            </a:r>
          </a:p>
          <a:p>
            <a:pPr algn="ctr">
              <a:spcBef>
                <a:spcPts val="600"/>
              </a:spcBef>
              <a:defRPr sz="2800" b="1">
                <a:solidFill>
                  <a:srgbClr val="0D9488"/>
                </a:solidFill>
              </a:defRPr>
            </a:pPr>
            <a:r>
              <a:t>Q^T 1_B = r</a:t>
            </a:r>
          </a:p>
          <a:p>
            <a:pPr algn="ctr">
              <a:spcBef>
                <a:spcPts val="400"/>
              </a:spcBef>
              <a:defRPr sz="1200">
                <a:solidFill>
                  <a:srgbClr val="64748B"/>
                </a:solidFill>
              </a:defRPr>
            </a:pPr>
            <a:r>
              <a:t>Strict prior preservation</a:t>
            </a:r>
          </a:p>
        </p:txBody>
      </p:sp>
      <p:sp>
        <p:nvSpPr>
          <p:cNvPr id="6" name="Rounded Rectangle 5"/>
          <p:cNvSpPr/>
          <p:nvPr/>
        </p:nvSpPr>
        <p:spPr>
          <a:xfrm>
            <a:off x="8046720" y="4023360"/>
            <a:ext cx="3474720" cy="2103120"/>
          </a:xfrm>
          <a:prstGeom prst="roundRect">
            <a:avLst/>
          </a:prstGeom>
          <a:solidFill>
            <a:srgbClr val="FFFFFF"/>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lIns="137160" tIns="137160" rIns="137160" bIns="137160"/>
          <a:lstStyle/>
          <a:p>
            <a:pPr algn="ctr">
              <a:defRPr sz="1100" b="1">
                <a:solidFill>
                  <a:srgbClr val="64748B"/>
                </a:solidFill>
              </a:defRPr>
            </a:pPr>
            <a:r>
              <a:t>SINKHORN ITERATIONS</a:t>
            </a:r>
          </a:p>
          <a:p>
            <a:pPr algn="ctr">
              <a:spcBef>
                <a:spcPts val="600"/>
              </a:spcBef>
              <a:defRPr sz="2800" b="1">
                <a:solidFill>
                  <a:srgbClr val="10B981"/>
                </a:solidFill>
              </a:defRPr>
            </a:pPr>
            <a:r>
              <a:t>&lt; 20 Steps</a:t>
            </a:r>
          </a:p>
          <a:p>
            <a:pPr algn="ctr">
              <a:spcBef>
                <a:spcPts val="400"/>
              </a:spcBef>
              <a:defRPr sz="1200">
                <a:solidFill>
                  <a:srgbClr val="64748B"/>
                </a:solidFill>
              </a:defRPr>
            </a:pPr>
            <a:r>
              <a:t>1.8 ms GPU latency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7315200" cy="320040"/>
          </a:xfrm>
          <a:prstGeom prst="rect">
            <a:avLst/>
          </a:prstGeom>
          <a:noFill/>
        </p:spPr>
        <p:txBody>
          <a:bodyPr wrap="square" lIns="0" tIns="0" rIns="0" bIns="0">
            <a:spAutoFit/>
          </a:bodyPr>
          <a:lstStyle/>
          <a:p>
            <a:pPr>
              <a:defRPr sz="1100" b="1">
                <a:solidFill>
                  <a:srgbClr val="0D9488"/>
                </a:solidFill>
              </a:defRPr>
            </a:pPr>
            <a:r>
              <a:t>SAFETY INTERLOCKS</a:t>
            </a:r>
          </a:p>
        </p:txBody>
      </p:sp>
      <p:sp>
        <p:nvSpPr>
          <p:cNvPr id="3" name="TextBox 2"/>
          <p:cNvSpPr txBox="1"/>
          <p:nvPr/>
        </p:nvSpPr>
        <p:spPr>
          <a:xfrm>
            <a:off x="731520" y="640080"/>
            <a:ext cx="10515600" cy="731520"/>
          </a:xfrm>
          <a:prstGeom prst="rect">
            <a:avLst/>
          </a:prstGeom>
          <a:noFill/>
        </p:spPr>
        <p:txBody>
          <a:bodyPr wrap="square" lIns="0" tIns="0" rIns="0" bIns="0">
            <a:spAutoFit/>
          </a:bodyPr>
          <a:lstStyle/>
          <a:p>
            <a:pPr>
              <a:defRPr sz="3200" b="1">
                <a:solidFill>
                  <a:srgbClr val="0F172A"/>
                </a:solidFill>
              </a:defRPr>
            </a:pPr>
            <a:r>
              <a:t>Component 2: Trust Regions &amp; Atomic Rollbacks</a:t>
            </a:r>
          </a:p>
        </p:txBody>
      </p:sp>
      <p:sp>
        <p:nvSpPr>
          <p:cNvPr id="4" name="TextBox 3"/>
          <p:cNvSpPr txBox="1"/>
          <p:nvPr/>
        </p:nvSpPr>
        <p:spPr>
          <a:xfrm>
            <a:off x="731520" y="1645920"/>
            <a:ext cx="6858000" cy="4572000"/>
          </a:xfrm>
          <a:prstGeom prst="rect">
            <a:avLst/>
          </a:prstGeom>
          <a:noFill/>
        </p:spPr>
        <p:txBody>
          <a:bodyPr wrap="square" lIns="0" tIns="0" rIns="0" bIns="0">
            <a:spAutoFit/>
          </a:bodyPr>
          <a:lstStyle/>
          <a:p>
            <a:pPr>
              <a:spcAft>
                <a:spcPts val="1800"/>
              </a:spcAft>
              <a:defRPr sz="2200">
                <a:solidFill>
                  <a:srgbClr val="1E293B"/>
                </a:solidFill>
              </a:defRPr>
            </a:pPr>
            <a:r>
              <a:t>•  Theorem 1: Parameter clipping ||theta_t - theta_0||_inf &lt;= 0.05</a:t>
            </a:r>
          </a:p>
          <a:p>
            <a:pPr>
              <a:spcAft>
                <a:spcPts val="1800"/>
              </a:spcAft>
              <a:defRPr sz="2200">
                <a:solidFill>
                  <a:srgbClr val="1E293B"/>
                </a:solidFill>
              </a:defRPr>
            </a:pPr>
            <a:r>
              <a:t>•  Max output logit perturbation: Delta p &lt;= 0.0460</a:t>
            </a:r>
          </a:p>
          <a:p>
            <a:pPr>
              <a:spcAft>
                <a:spcPts val="1800"/>
              </a:spcAft>
              <a:defRPr sz="2200">
                <a:solidFill>
                  <a:srgbClr val="1E293B"/>
                </a:solidFill>
              </a:defRPr>
            </a:pPr>
            <a:r>
              <a:t>•  Dual ring buffer: High-speed GPU / Immutable CPU</a:t>
            </a:r>
          </a:p>
          <a:p>
            <a:pPr>
              <a:spcAft>
                <a:spcPts val="1800"/>
              </a:spcAft>
              <a:defRPr sz="2200">
                <a:solidFill>
                  <a:srgbClr val="1E293B"/>
                </a:solidFill>
              </a:defRPr>
            </a:pPr>
            <a:r>
              <a:t>•  Anomaly detected -&gt; Atomic rollback in 1.8 ms</a:t>
            </a:r>
          </a:p>
          <a:p>
            <a:pPr>
              <a:spcAft>
                <a:spcPts val="1800"/>
              </a:spcAft>
              <a:defRPr sz="2200">
                <a:solidFill>
                  <a:srgbClr val="1E293B"/>
                </a:solidFill>
              </a:defRPr>
            </a:pPr>
            <a:r>
              <a:t>•  5 consecutive alarms -&gt; Latch certified source fallback</a:t>
            </a:r>
          </a:p>
        </p:txBody>
      </p:sp>
      <p:sp>
        <p:nvSpPr>
          <p:cNvPr id="5" name="Rounded Rectangle 4"/>
          <p:cNvSpPr/>
          <p:nvPr/>
        </p:nvSpPr>
        <p:spPr>
          <a:xfrm>
            <a:off x="8046720" y="1645920"/>
            <a:ext cx="3474720" cy="2103120"/>
          </a:xfrm>
          <a:prstGeom prst="roundRect">
            <a:avLst/>
          </a:prstGeom>
          <a:solidFill>
            <a:srgbClr val="FFFFFF"/>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137160" tIns="137160" rIns="137160" bIns="137160"/>
          <a:lstStyle/>
          <a:p>
            <a:pPr algn="ctr">
              <a:defRPr sz="1100" b="1">
                <a:solidFill>
                  <a:srgbClr val="64748B"/>
                </a:solidFill>
              </a:defRPr>
            </a:pPr>
            <a:r>
              <a:t>TRUST REGION</a:t>
            </a:r>
          </a:p>
          <a:p>
            <a:pPr algn="ctr">
              <a:spcBef>
                <a:spcPts val="600"/>
              </a:spcBef>
              <a:defRPr sz="2800" b="1">
                <a:solidFill>
                  <a:srgbClr val="0D9488"/>
                </a:solidFill>
              </a:defRPr>
            </a:pPr>
            <a:r>
              <a:t>L_inf &lt;= 0.05</a:t>
            </a:r>
          </a:p>
          <a:p>
            <a:pPr algn="ctr">
              <a:spcBef>
                <a:spcPts val="400"/>
              </a:spcBef>
              <a:defRPr sz="1200">
                <a:solidFill>
                  <a:srgbClr val="64748B"/>
                </a:solidFill>
              </a:defRPr>
            </a:pPr>
            <a:r>
              <a:t>Theorem 1 certification</a:t>
            </a:r>
          </a:p>
        </p:txBody>
      </p:sp>
      <p:sp>
        <p:nvSpPr>
          <p:cNvPr id="6" name="Rounded Rectangle 5"/>
          <p:cNvSpPr/>
          <p:nvPr/>
        </p:nvSpPr>
        <p:spPr>
          <a:xfrm>
            <a:off x="8046720" y="4023360"/>
            <a:ext cx="3474720" cy="2103120"/>
          </a:xfrm>
          <a:prstGeom prst="roundRect">
            <a:avLst/>
          </a:prstGeom>
          <a:solidFill>
            <a:srgbClr val="FFFFFF"/>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lIns="137160" tIns="137160" rIns="137160" bIns="137160"/>
          <a:lstStyle/>
          <a:p>
            <a:pPr algn="ctr">
              <a:defRPr sz="1100" b="1">
                <a:solidFill>
                  <a:srgbClr val="64748B"/>
                </a:solidFill>
              </a:defRPr>
            </a:pPr>
            <a:r>
              <a:t>GPU ROLLBACK</a:t>
            </a:r>
          </a:p>
          <a:p>
            <a:pPr algn="ctr">
              <a:spcBef>
                <a:spcPts val="600"/>
              </a:spcBef>
              <a:defRPr sz="2800" b="1">
                <a:solidFill>
                  <a:srgbClr val="10B981"/>
                </a:solidFill>
              </a:defRPr>
            </a:pPr>
            <a:r>
              <a:t>1.8 ms</a:t>
            </a:r>
          </a:p>
          <a:p>
            <a:pPr algn="ctr">
              <a:spcBef>
                <a:spcPts val="400"/>
              </a:spcBef>
              <a:defRPr sz="1200">
                <a:solidFill>
                  <a:srgbClr val="64748B"/>
                </a:solidFill>
              </a:defRPr>
            </a:pPr>
            <a:r>
              <a:t>Delta W = 0 in sub-frame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7315200" cy="320040"/>
          </a:xfrm>
          <a:prstGeom prst="rect">
            <a:avLst/>
          </a:prstGeom>
          <a:noFill/>
        </p:spPr>
        <p:txBody>
          <a:bodyPr wrap="square" lIns="0" tIns="0" rIns="0" bIns="0">
            <a:spAutoFit/>
          </a:bodyPr>
          <a:lstStyle/>
          <a:p>
            <a:pPr>
              <a:defRPr sz="1100" b="1">
                <a:solidFill>
                  <a:srgbClr val="0D9488"/>
                </a:solidFill>
              </a:defRPr>
            </a:pPr>
            <a:r>
              <a:t>EXPERIMENTAL SETUP</a:t>
            </a:r>
          </a:p>
        </p:txBody>
      </p:sp>
      <p:sp>
        <p:nvSpPr>
          <p:cNvPr id="3" name="TextBox 2"/>
          <p:cNvSpPr txBox="1"/>
          <p:nvPr/>
        </p:nvSpPr>
        <p:spPr>
          <a:xfrm>
            <a:off x="731520" y="640080"/>
            <a:ext cx="10515600" cy="731520"/>
          </a:xfrm>
          <a:prstGeom prst="rect">
            <a:avLst/>
          </a:prstGeom>
          <a:noFill/>
        </p:spPr>
        <p:txBody>
          <a:bodyPr wrap="square" lIns="0" tIns="0" rIns="0" bIns="0">
            <a:spAutoFit/>
          </a:bodyPr>
          <a:lstStyle/>
          <a:p>
            <a:pPr>
              <a:defRPr sz="3200" b="1">
                <a:solidFill>
                  <a:srgbClr val="0F172A"/>
                </a:solidFill>
              </a:defRPr>
            </a:pPr>
            <a:r>
              <a:t>Multi-Center Consortium Benchmarks</a:t>
            </a:r>
          </a:p>
        </p:txBody>
      </p:sp>
      <p:sp>
        <p:nvSpPr>
          <p:cNvPr id="4" name="TextBox 3"/>
          <p:cNvSpPr txBox="1"/>
          <p:nvPr/>
        </p:nvSpPr>
        <p:spPr>
          <a:xfrm>
            <a:off x="731520" y="1645920"/>
            <a:ext cx="6858000" cy="4572000"/>
          </a:xfrm>
          <a:prstGeom prst="rect">
            <a:avLst/>
          </a:prstGeom>
          <a:noFill/>
        </p:spPr>
        <p:txBody>
          <a:bodyPr wrap="square" lIns="0" tIns="0" rIns="0" bIns="0">
            <a:spAutoFit/>
          </a:bodyPr>
          <a:lstStyle/>
          <a:p>
            <a:pPr>
              <a:spcAft>
                <a:spcPts val="1800"/>
              </a:spcAft>
              <a:defRPr sz="2200">
                <a:solidFill>
                  <a:srgbClr val="1E293B"/>
                </a:solidFill>
              </a:defRPr>
            </a:pPr>
            <a:r>
              <a:t>•  CAMELYON17-WILDS: 5 hospitals, 30 WSIs</a:t>
            </a:r>
          </a:p>
          <a:p>
            <a:pPr>
              <a:spcAft>
                <a:spcPts val="1800"/>
              </a:spcAft>
              <a:defRPr sz="2200">
                <a:solidFill>
                  <a:srgbClr val="1E293B"/>
                </a:solidFill>
              </a:defRPr>
            </a:pPr>
            <a:r>
              <a:t>•  MIDOG 2021: 4 optical digital scanners</a:t>
            </a:r>
          </a:p>
          <a:p>
            <a:pPr>
              <a:spcAft>
                <a:spcPts val="1800"/>
              </a:spcAft>
              <a:defRPr sz="2200">
                <a:solidFill>
                  <a:srgbClr val="1E293B"/>
                </a:solidFill>
              </a:defRPr>
            </a:pPr>
            <a:r>
              <a:t>•  8 baselines: Tent, EATA, SAR, CoTTA, RoTTA, etc.</a:t>
            </a:r>
          </a:p>
          <a:p>
            <a:pPr>
              <a:spcAft>
                <a:spcPts val="1800"/>
              </a:spcAft>
              <a:defRPr sz="2200">
                <a:solidFill>
                  <a:srgbClr val="1E293B"/>
                </a:solidFill>
              </a:defRPr>
            </a:pPr>
            <a:r>
              <a:t>•  5 random seeds (42, 123, 456, 789, 2024)</a:t>
            </a:r>
          </a:p>
          <a:p>
            <a:pPr>
              <a:spcAft>
                <a:spcPts val="1800"/>
              </a:spcAft>
              <a:defRPr sz="2200">
                <a:solidFill>
                  <a:srgbClr val="1E293B"/>
                </a:solidFill>
              </a:defRPr>
            </a:pPr>
            <a:r>
              <a:t>•  Frozen BatchNorm statistics evaluation protocol</a:t>
            </a:r>
          </a:p>
        </p:txBody>
      </p:sp>
      <p:sp>
        <p:nvSpPr>
          <p:cNvPr id="5" name="Rounded Rectangle 4"/>
          <p:cNvSpPr/>
          <p:nvPr/>
        </p:nvSpPr>
        <p:spPr>
          <a:xfrm>
            <a:off x="8046720" y="1645920"/>
            <a:ext cx="3474720" cy="2103120"/>
          </a:xfrm>
          <a:prstGeom prst="roundRect">
            <a:avLst/>
          </a:prstGeom>
          <a:solidFill>
            <a:srgbClr val="FFFFFF"/>
          </a:solidFill>
          <a:ln w="1905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wrap="square" lIns="137160" tIns="137160" rIns="137160" bIns="137160"/>
          <a:lstStyle/>
          <a:p>
            <a:pPr algn="ctr">
              <a:defRPr sz="1100" b="1">
                <a:solidFill>
                  <a:srgbClr val="64748B"/>
                </a:solidFill>
              </a:defRPr>
            </a:pPr>
            <a:r>
              <a:t>CAMELYON17</a:t>
            </a:r>
          </a:p>
          <a:p>
            <a:pPr algn="ctr">
              <a:spcBef>
                <a:spcPts val="600"/>
              </a:spcBef>
              <a:defRPr sz="2800" b="1">
                <a:solidFill>
                  <a:srgbClr val="0F172A"/>
                </a:solidFill>
              </a:defRPr>
            </a:pPr>
            <a:r>
              <a:t>30 WSIs</a:t>
            </a:r>
          </a:p>
          <a:p>
            <a:pPr algn="ctr">
              <a:spcBef>
                <a:spcPts val="400"/>
              </a:spcBef>
              <a:defRPr sz="1200">
                <a:solidFill>
                  <a:srgbClr val="64748B"/>
                </a:solidFill>
              </a:defRPr>
            </a:pPr>
            <a:r>
              <a:t>5 medical centers</a:t>
            </a:r>
          </a:p>
        </p:txBody>
      </p:sp>
      <p:sp>
        <p:nvSpPr>
          <p:cNvPr id="6" name="Rounded Rectangle 5"/>
          <p:cNvSpPr/>
          <p:nvPr/>
        </p:nvSpPr>
        <p:spPr>
          <a:xfrm>
            <a:off x="8046720" y="4023360"/>
            <a:ext cx="3474720" cy="2103120"/>
          </a:xfrm>
          <a:prstGeom prst="roundRect">
            <a:avLst/>
          </a:prstGeom>
          <a:solidFill>
            <a:srgbClr val="FFFFFF"/>
          </a:solidFill>
          <a:ln w="1905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wrap="square" lIns="137160" tIns="137160" rIns="137160" bIns="137160"/>
          <a:lstStyle/>
          <a:p>
            <a:pPr algn="ctr">
              <a:defRPr sz="1100" b="1">
                <a:solidFill>
                  <a:srgbClr val="64748B"/>
                </a:solidFill>
              </a:defRPr>
            </a:pPr>
            <a:r>
              <a:t>MIDOG 2021</a:t>
            </a:r>
          </a:p>
          <a:p>
            <a:pPr algn="ctr">
              <a:spcBef>
                <a:spcPts val="600"/>
              </a:spcBef>
              <a:defRPr sz="2800" b="1">
                <a:solidFill>
                  <a:srgbClr val="0F172A"/>
                </a:solidFill>
              </a:defRPr>
            </a:pPr>
            <a:r>
              <a:t>1,100 Patches</a:t>
            </a:r>
          </a:p>
          <a:p>
            <a:pPr algn="ctr">
              <a:spcBef>
                <a:spcPts val="400"/>
              </a:spcBef>
              <a:defRPr sz="1200">
                <a:solidFill>
                  <a:srgbClr val="64748B"/>
                </a:solidFill>
              </a:defRPr>
            </a:pPr>
            <a:r>
              <a:t>4 scanner optics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7315200" cy="320040"/>
          </a:xfrm>
          <a:prstGeom prst="rect">
            <a:avLst/>
          </a:prstGeom>
          <a:noFill/>
        </p:spPr>
        <p:txBody>
          <a:bodyPr wrap="square" lIns="0" tIns="0" rIns="0" bIns="0">
            <a:spAutoFit/>
          </a:bodyPr>
          <a:lstStyle/>
          <a:p>
            <a:pPr>
              <a:defRPr sz="1100" b="1">
                <a:solidFill>
                  <a:srgbClr val="0D9488"/>
                </a:solidFill>
              </a:defRPr>
            </a:pPr>
            <a:r>
              <a:t>EMPIRICAL FINDINGS</a:t>
            </a:r>
          </a:p>
        </p:txBody>
      </p:sp>
      <p:sp>
        <p:nvSpPr>
          <p:cNvPr id="3" name="TextBox 2"/>
          <p:cNvSpPr txBox="1"/>
          <p:nvPr/>
        </p:nvSpPr>
        <p:spPr>
          <a:xfrm>
            <a:off x="731520" y="640080"/>
            <a:ext cx="10515600" cy="731520"/>
          </a:xfrm>
          <a:prstGeom prst="rect">
            <a:avLst/>
          </a:prstGeom>
          <a:noFill/>
        </p:spPr>
        <p:txBody>
          <a:bodyPr wrap="square" lIns="0" tIns="0" rIns="0" bIns="0">
            <a:spAutoFit/>
          </a:bodyPr>
          <a:lstStyle/>
          <a:p>
            <a:pPr>
              <a:defRPr sz="3200" b="1">
                <a:solidFill>
                  <a:srgbClr val="0F172A"/>
                </a:solidFill>
              </a:defRPr>
            </a:pPr>
            <a:r>
              <a:t>CAMELYON17-WILDS Classification Results</a:t>
            </a:r>
          </a:p>
        </p:txBody>
      </p:sp>
      <p:sp>
        <p:nvSpPr>
          <p:cNvPr id="4" name="TextBox 3"/>
          <p:cNvSpPr txBox="1"/>
          <p:nvPr/>
        </p:nvSpPr>
        <p:spPr>
          <a:xfrm>
            <a:off x="731520" y="1645920"/>
            <a:ext cx="6858000" cy="4572000"/>
          </a:xfrm>
          <a:prstGeom prst="rect">
            <a:avLst/>
          </a:prstGeom>
          <a:noFill/>
        </p:spPr>
        <p:txBody>
          <a:bodyPr wrap="square" lIns="0" tIns="0" rIns="0" bIns="0">
            <a:spAutoFit/>
          </a:bodyPr>
          <a:lstStyle/>
          <a:p>
            <a:pPr>
              <a:spcAft>
                <a:spcPts val="1800"/>
              </a:spcAft>
              <a:defRPr sz="2200">
                <a:solidFill>
                  <a:srgbClr val="1E293B"/>
                </a:solidFill>
              </a:defRPr>
            </a:pPr>
            <a:r>
              <a:t>•  Slide 29 (Worst Histochemical Outlier):</a:t>
            </a:r>
          </a:p>
          <a:p>
            <a:pPr>
              <a:spcAft>
                <a:spcPts val="1800"/>
              </a:spcAft>
              <a:defRPr sz="2200">
                <a:solidFill>
                  <a:srgbClr val="1E293B"/>
                </a:solidFill>
              </a:defRPr>
            </a:pPr>
            <a:r>
              <a:t>•    • Source Baseline: 0.8592 AUROC</a:t>
            </a:r>
          </a:p>
          <a:p>
            <a:pPr>
              <a:spcAft>
                <a:spcPts val="1800"/>
              </a:spcAft>
              <a:defRPr sz="2200">
                <a:solidFill>
                  <a:srgbClr val="1E293B"/>
                </a:solidFill>
              </a:defRPr>
            </a:pPr>
            <a:r>
              <a:t>•    • Tent (Collapse): 0.0521 AUROC</a:t>
            </a:r>
          </a:p>
          <a:p>
            <a:pPr>
              <a:spcAft>
                <a:spcPts val="1800"/>
              </a:spcAft>
              <a:defRPr sz="2200">
                <a:solidFill>
                  <a:srgbClr val="1E293B"/>
                </a:solidFill>
              </a:defRPr>
            </a:pPr>
            <a:r>
              <a:t>•    • SAR (ICLR '23): 0.6482 AUROC</a:t>
            </a:r>
          </a:p>
          <a:p>
            <a:pPr>
              <a:spcAft>
                <a:spcPts val="1800"/>
              </a:spcAft>
              <a:defRPr sz="2200">
                <a:solidFill>
                  <a:srgbClr val="1E293B"/>
                </a:solidFill>
              </a:defRPr>
            </a:pPr>
            <a:r>
              <a:t>•    • SafeAdapt-OT: 0.9324 AUROC (Reversed!)</a:t>
            </a:r>
          </a:p>
          <a:p>
            <a:pPr>
              <a:spcAft>
                <a:spcPts val="1800"/>
              </a:spcAft>
              <a:defRPr sz="2200">
                <a:solidFill>
                  <a:srgbClr val="1E293B"/>
                </a:solidFill>
              </a:defRPr>
            </a:pPr>
            <a:r>
              <a:t>•  Cohort Macro-AUROC: 0.9495 +/- 0.0134 (p = 0.0312)</a:t>
            </a:r>
          </a:p>
        </p:txBody>
      </p:sp>
      <p:sp>
        <p:nvSpPr>
          <p:cNvPr id="5" name="Rounded Rectangle 4"/>
          <p:cNvSpPr/>
          <p:nvPr/>
        </p:nvSpPr>
        <p:spPr>
          <a:xfrm>
            <a:off x="8046720" y="1645920"/>
            <a:ext cx="3474720" cy="2103120"/>
          </a:xfrm>
          <a:prstGeom prst="roundRect">
            <a:avLst/>
          </a:prstGeom>
          <a:solidFill>
            <a:srgbClr val="FFFFFF"/>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lIns="137160" tIns="137160" rIns="137160" bIns="137160"/>
          <a:lstStyle/>
          <a:p>
            <a:pPr algn="ctr">
              <a:defRPr sz="1100" b="1">
                <a:solidFill>
                  <a:srgbClr val="64748B"/>
                </a:solidFill>
              </a:defRPr>
            </a:pPr>
            <a:r>
              <a:t>SLIDE 29 REVERSAL</a:t>
            </a:r>
          </a:p>
          <a:p>
            <a:pPr algn="ctr">
              <a:spcBef>
                <a:spcPts val="600"/>
              </a:spcBef>
              <a:defRPr sz="2800" b="1">
                <a:solidFill>
                  <a:srgbClr val="10B981"/>
                </a:solidFill>
              </a:defRPr>
            </a:pPr>
            <a:r>
              <a:t>0.9324</a:t>
            </a:r>
          </a:p>
          <a:p>
            <a:pPr algn="ctr">
              <a:spcBef>
                <a:spcPts val="400"/>
              </a:spcBef>
              <a:defRPr sz="1200">
                <a:solidFill>
                  <a:srgbClr val="64748B"/>
                </a:solidFill>
              </a:defRPr>
            </a:pPr>
            <a:r>
              <a:t>Reverses Negative Transfer</a:t>
            </a:r>
          </a:p>
        </p:txBody>
      </p:sp>
      <p:sp>
        <p:nvSpPr>
          <p:cNvPr id="6" name="Rounded Rectangle 5"/>
          <p:cNvSpPr/>
          <p:nvPr/>
        </p:nvSpPr>
        <p:spPr>
          <a:xfrm>
            <a:off x="8046720" y="4023360"/>
            <a:ext cx="3474720" cy="2103120"/>
          </a:xfrm>
          <a:prstGeom prst="roundRect">
            <a:avLst/>
          </a:prstGeom>
          <a:solidFill>
            <a:srgbClr val="FFFFFF"/>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137160" tIns="137160" rIns="137160" bIns="137160"/>
          <a:lstStyle/>
          <a:p>
            <a:pPr algn="ctr">
              <a:defRPr sz="1100" b="1">
                <a:solidFill>
                  <a:srgbClr val="64748B"/>
                </a:solidFill>
              </a:defRPr>
            </a:pPr>
            <a:r>
              <a:t>COHORT AUROC</a:t>
            </a:r>
          </a:p>
          <a:p>
            <a:pPr algn="ctr">
              <a:spcBef>
                <a:spcPts val="600"/>
              </a:spcBef>
              <a:defRPr sz="2800" b="1">
                <a:solidFill>
                  <a:srgbClr val="0D9488"/>
                </a:solidFill>
              </a:defRPr>
            </a:pPr>
            <a:r>
              <a:t>0.9495</a:t>
            </a:r>
          </a:p>
          <a:p>
            <a:pPr algn="ctr">
              <a:spcBef>
                <a:spcPts val="400"/>
              </a:spcBef>
              <a:defRPr sz="1200">
                <a:solidFill>
                  <a:srgbClr val="64748B"/>
                </a:solidFill>
              </a:defRPr>
            </a:pPr>
            <a:r>
              <a:t>Certified 0.0% Collapse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7315200" cy="320040"/>
          </a:xfrm>
          <a:prstGeom prst="rect">
            <a:avLst/>
          </a:prstGeom>
          <a:noFill/>
        </p:spPr>
        <p:txBody>
          <a:bodyPr wrap="square" lIns="0" tIns="0" rIns="0" bIns="0">
            <a:spAutoFit/>
          </a:bodyPr>
          <a:lstStyle/>
          <a:p>
            <a:pPr>
              <a:defRPr sz="1100" b="1">
                <a:solidFill>
                  <a:srgbClr val="0D9488"/>
                </a:solidFill>
              </a:defRPr>
            </a:pPr>
            <a:r>
              <a:t>EMPIRICAL FINDINGS</a:t>
            </a:r>
          </a:p>
        </p:txBody>
      </p:sp>
      <p:sp>
        <p:nvSpPr>
          <p:cNvPr id="3" name="TextBox 2"/>
          <p:cNvSpPr txBox="1"/>
          <p:nvPr/>
        </p:nvSpPr>
        <p:spPr>
          <a:xfrm>
            <a:off x="731520" y="640080"/>
            <a:ext cx="10515600" cy="731520"/>
          </a:xfrm>
          <a:prstGeom prst="rect">
            <a:avLst/>
          </a:prstGeom>
          <a:noFill/>
        </p:spPr>
        <p:txBody>
          <a:bodyPr wrap="square" lIns="0" tIns="0" rIns="0" bIns="0">
            <a:spAutoFit/>
          </a:bodyPr>
          <a:lstStyle/>
          <a:p>
            <a:pPr>
              <a:defRPr sz="3200" b="1">
                <a:solidFill>
                  <a:srgbClr val="0F172A"/>
                </a:solidFill>
              </a:defRPr>
            </a:pPr>
            <a:r>
              <a:t>Dense Mitosis Detection: MIDOG 2021</a:t>
            </a:r>
          </a:p>
        </p:txBody>
      </p:sp>
      <p:sp>
        <p:nvSpPr>
          <p:cNvPr id="4" name="TextBox 3"/>
          <p:cNvSpPr txBox="1"/>
          <p:nvPr/>
        </p:nvSpPr>
        <p:spPr>
          <a:xfrm>
            <a:off x="731520" y="1645920"/>
            <a:ext cx="6858000" cy="4572000"/>
          </a:xfrm>
          <a:prstGeom prst="rect">
            <a:avLst/>
          </a:prstGeom>
          <a:noFill/>
        </p:spPr>
        <p:txBody>
          <a:bodyPr wrap="square" lIns="0" tIns="0" rIns="0" bIns="0">
            <a:spAutoFit/>
          </a:bodyPr>
          <a:lstStyle/>
          <a:p>
            <a:pPr>
              <a:spcAft>
                <a:spcPts val="1800"/>
              </a:spcAft>
              <a:defRPr sz="2200">
                <a:solidFill>
                  <a:srgbClr val="1E293B"/>
                </a:solidFill>
              </a:defRPr>
            </a:pPr>
            <a:r>
              <a:t>•  Challenge: Optical sensor color &amp; focus drift</a:t>
            </a:r>
          </a:p>
          <a:p>
            <a:pPr>
              <a:spcAft>
                <a:spcPts val="1800"/>
              </a:spcAft>
              <a:defRPr sz="2200">
                <a:solidFill>
                  <a:srgbClr val="1E293B"/>
                </a:solidFill>
              </a:defRPr>
            </a:pPr>
            <a:r>
              <a:t>•  Acellular stroma triggers false silence alarms</a:t>
            </a:r>
          </a:p>
          <a:p>
            <a:pPr>
              <a:spcAft>
                <a:spcPts val="1800"/>
              </a:spcAft>
              <a:defRPr sz="2200">
                <a:solidFill>
                  <a:srgbClr val="1E293B"/>
                </a:solidFill>
              </a:defRPr>
            </a:pPr>
            <a:r>
              <a:t>•  CMR separates mitotic vs. background centroids</a:t>
            </a:r>
          </a:p>
          <a:p>
            <a:pPr>
              <a:spcAft>
                <a:spcPts val="1800"/>
              </a:spcAft>
              <a:defRPr sz="2200">
                <a:solidFill>
                  <a:srgbClr val="1E293B"/>
                </a:solidFill>
              </a:defRPr>
            </a:pPr>
            <a:r>
              <a:t>•  Scanner 3 F1: 0.5172 +/- 0.0012 (+6.87%)</a:t>
            </a:r>
          </a:p>
          <a:p>
            <a:pPr>
              <a:spcAft>
                <a:spcPts val="1800"/>
              </a:spcAft>
              <a:defRPr sz="2200">
                <a:solidFill>
                  <a:srgbClr val="1E293B"/>
                </a:solidFill>
              </a:defRPr>
            </a:pPr>
            <a:r>
              <a:t>•  Statistically significant improvement: p &lt; 0.001</a:t>
            </a:r>
          </a:p>
        </p:txBody>
      </p:sp>
      <p:sp>
        <p:nvSpPr>
          <p:cNvPr id="5" name="Rounded Rectangle 4"/>
          <p:cNvSpPr/>
          <p:nvPr/>
        </p:nvSpPr>
        <p:spPr>
          <a:xfrm>
            <a:off x="8046720" y="1645920"/>
            <a:ext cx="3474720" cy="2103120"/>
          </a:xfrm>
          <a:prstGeom prst="roundRect">
            <a:avLst/>
          </a:prstGeom>
          <a:solidFill>
            <a:srgbClr val="FFFFFF"/>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lIns="137160" tIns="137160" rIns="137160" bIns="137160"/>
          <a:lstStyle/>
          <a:p>
            <a:pPr algn="ctr">
              <a:defRPr sz="1100" b="1">
                <a:solidFill>
                  <a:srgbClr val="64748B"/>
                </a:solidFill>
              </a:defRPr>
            </a:pPr>
            <a:r>
              <a:t>DETECTION F1</a:t>
            </a:r>
          </a:p>
          <a:p>
            <a:pPr algn="ctr">
              <a:spcBef>
                <a:spcPts val="600"/>
              </a:spcBef>
              <a:defRPr sz="2800" b="1">
                <a:solidFill>
                  <a:srgbClr val="10B981"/>
                </a:solidFill>
              </a:defRPr>
            </a:pPr>
            <a:r>
              <a:t>0.5172</a:t>
            </a:r>
          </a:p>
          <a:p>
            <a:pPr algn="ctr">
              <a:spcBef>
                <a:spcPts val="400"/>
              </a:spcBef>
              <a:defRPr sz="1200">
                <a:solidFill>
                  <a:srgbClr val="64748B"/>
                </a:solidFill>
              </a:defRPr>
            </a:pPr>
            <a:r>
              <a:t>+6.87% over Baseline</a:t>
            </a:r>
          </a:p>
        </p:txBody>
      </p:sp>
      <p:sp>
        <p:nvSpPr>
          <p:cNvPr id="6" name="Rounded Rectangle 5"/>
          <p:cNvSpPr/>
          <p:nvPr/>
        </p:nvSpPr>
        <p:spPr>
          <a:xfrm>
            <a:off x="8046720" y="4023360"/>
            <a:ext cx="3474720" cy="2103120"/>
          </a:xfrm>
          <a:prstGeom prst="roundRect">
            <a:avLst/>
          </a:prstGeom>
          <a:solidFill>
            <a:srgbClr val="FFFFFF"/>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137160" tIns="137160" rIns="137160" bIns="137160"/>
          <a:lstStyle/>
          <a:p>
            <a:pPr algn="ctr">
              <a:defRPr sz="1100" b="1">
                <a:solidFill>
                  <a:srgbClr val="64748B"/>
                </a:solidFill>
              </a:defRPr>
            </a:pPr>
            <a:r>
              <a:t>SIGNIFICANCE</a:t>
            </a:r>
          </a:p>
          <a:p>
            <a:pPr algn="ctr">
              <a:spcBef>
                <a:spcPts val="600"/>
              </a:spcBef>
              <a:defRPr sz="2800" b="1">
                <a:solidFill>
                  <a:srgbClr val="0D9488"/>
                </a:solidFill>
              </a:defRPr>
            </a:pPr>
            <a:r>
              <a:t>p &lt; 0.001</a:t>
            </a:r>
          </a:p>
          <a:p>
            <a:pPr algn="ctr">
              <a:spcBef>
                <a:spcPts val="400"/>
              </a:spcBef>
              <a:defRPr sz="1200">
                <a:solidFill>
                  <a:srgbClr val="64748B"/>
                </a:solidFill>
              </a:defRPr>
            </a:pPr>
            <a:r>
              <a:t>Paired t-test verified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7315200" cy="320040"/>
          </a:xfrm>
          <a:prstGeom prst="rect">
            <a:avLst/>
          </a:prstGeom>
          <a:noFill/>
        </p:spPr>
        <p:txBody>
          <a:bodyPr wrap="square" lIns="0" tIns="0" rIns="0" bIns="0">
            <a:spAutoFit/>
          </a:bodyPr>
          <a:lstStyle/>
          <a:p>
            <a:pPr>
              <a:defRPr sz="1100" b="1">
                <a:solidFill>
                  <a:srgbClr val="0D9488"/>
                </a:solidFill>
              </a:defRPr>
            </a:pPr>
            <a:r>
              <a:t>ABLATION ANALYSIS</a:t>
            </a:r>
          </a:p>
        </p:txBody>
      </p:sp>
      <p:sp>
        <p:nvSpPr>
          <p:cNvPr id="3" name="TextBox 2"/>
          <p:cNvSpPr txBox="1"/>
          <p:nvPr/>
        </p:nvSpPr>
        <p:spPr>
          <a:xfrm>
            <a:off x="731520" y="640080"/>
            <a:ext cx="10515600" cy="731520"/>
          </a:xfrm>
          <a:prstGeom prst="rect">
            <a:avLst/>
          </a:prstGeom>
          <a:noFill/>
        </p:spPr>
        <p:txBody>
          <a:bodyPr wrap="square" lIns="0" tIns="0" rIns="0" bIns="0">
            <a:spAutoFit/>
          </a:bodyPr>
          <a:lstStyle/>
          <a:p>
            <a:pPr>
              <a:defRPr sz="3200" b="1">
                <a:solidFill>
                  <a:srgbClr val="0F172A"/>
                </a:solidFill>
              </a:defRPr>
            </a:pPr>
            <a:r>
              <a:t>Ablation Studies &amp; Safety Verification</a:t>
            </a:r>
          </a:p>
        </p:txBody>
      </p:sp>
      <p:sp>
        <p:nvSpPr>
          <p:cNvPr id="4" name="TextBox 3"/>
          <p:cNvSpPr txBox="1"/>
          <p:nvPr/>
        </p:nvSpPr>
        <p:spPr>
          <a:xfrm>
            <a:off x="731520" y="1645920"/>
            <a:ext cx="6858000" cy="4572000"/>
          </a:xfrm>
          <a:prstGeom prst="rect">
            <a:avLst/>
          </a:prstGeom>
          <a:noFill/>
        </p:spPr>
        <p:txBody>
          <a:bodyPr wrap="square" lIns="0" tIns="0" rIns="0" bIns="0">
            <a:spAutoFit/>
          </a:bodyPr>
          <a:lstStyle/>
          <a:p>
            <a:pPr>
              <a:spcAft>
                <a:spcPts val="1800"/>
              </a:spcAft>
              <a:defRPr sz="2200">
                <a:solidFill>
                  <a:srgbClr val="1E293B"/>
                </a:solidFill>
              </a:defRPr>
            </a:pPr>
            <a:r>
              <a:t>•  Inner Steps: k=1 is optimal (0.9495 AUROC)</a:t>
            </a:r>
          </a:p>
          <a:p>
            <a:pPr>
              <a:spcAft>
                <a:spcPts val="1800"/>
              </a:spcAft>
              <a:defRPr sz="2200">
                <a:solidFill>
                  <a:srgbClr val="1E293B"/>
                </a:solidFill>
              </a:defRPr>
            </a:pPr>
            <a:r>
              <a:t>•  k &gt;= 2 causes rapid feature drift (0.7420 at k=5)</a:t>
            </a:r>
          </a:p>
          <a:p>
            <a:pPr>
              <a:spcAft>
                <a:spcPts val="1800"/>
              </a:spcAft>
              <a:defRPr sz="2200">
                <a:solidFill>
                  <a:srgbClr val="1E293B"/>
                </a:solidFill>
              </a:defRPr>
            </a:pPr>
            <a:r>
              <a:t>•  Trust region removal drops worst slide to 0.7812</a:t>
            </a:r>
          </a:p>
          <a:p>
            <a:pPr>
              <a:spcAft>
                <a:spcPts val="1800"/>
              </a:spcAft>
              <a:defRPr sz="2200">
                <a:solidFill>
                  <a:srgbClr val="1E293B"/>
                </a:solidFill>
              </a:defRPr>
            </a:pPr>
            <a:r>
              <a:t>•  Episodic resets eliminate cross-patient drift</a:t>
            </a:r>
          </a:p>
          <a:p>
            <a:pPr>
              <a:spcAft>
                <a:spcPts val="1800"/>
              </a:spcAft>
              <a:defRPr sz="2200">
                <a:solidFill>
                  <a:srgbClr val="1E293B"/>
                </a:solidFill>
              </a:defRPr>
            </a:pPr>
            <a:r>
              <a:t>•  Permutation variance: sigma^2_perm = 0.000000</a:t>
            </a:r>
          </a:p>
        </p:txBody>
      </p:sp>
      <p:sp>
        <p:nvSpPr>
          <p:cNvPr id="5" name="Rounded Rectangle 4"/>
          <p:cNvSpPr/>
          <p:nvPr/>
        </p:nvSpPr>
        <p:spPr>
          <a:xfrm>
            <a:off x="8046720" y="1645920"/>
            <a:ext cx="3474720" cy="2103120"/>
          </a:xfrm>
          <a:prstGeom prst="roundRect">
            <a:avLst/>
          </a:prstGeom>
          <a:solidFill>
            <a:srgbClr val="FFFFFF"/>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137160" tIns="137160" rIns="137160" bIns="137160"/>
          <a:lstStyle/>
          <a:p>
            <a:pPr algn="ctr">
              <a:defRPr sz="1100" b="1">
                <a:solidFill>
                  <a:srgbClr val="64748B"/>
                </a:solidFill>
              </a:defRPr>
            </a:pPr>
            <a:r>
              <a:t>GRADIENT STEPS</a:t>
            </a:r>
          </a:p>
          <a:p>
            <a:pPr algn="ctr">
              <a:spcBef>
                <a:spcPts val="600"/>
              </a:spcBef>
              <a:defRPr sz="2800" b="1">
                <a:solidFill>
                  <a:srgbClr val="0D9488"/>
                </a:solidFill>
              </a:defRPr>
            </a:pPr>
            <a:r>
              <a:t>k = 1</a:t>
            </a:r>
          </a:p>
          <a:p>
            <a:pPr algn="ctr">
              <a:spcBef>
                <a:spcPts val="400"/>
              </a:spcBef>
              <a:defRPr sz="1200">
                <a:solidFill>
                  <a:srgbClr val="64748B"/>
                </a:solidFill>
              </a:defRPr>
            </a:pPr>
            <a:r>
              <a:t>Multi-step induces drift</a:t>
            </a:r>
          </a:p>
        </p:txBody>
      </p:sp>
      <p:sp>
        <p:nvSpPr>
          <p:cNvPr id="6" name="Rounded Rectangle 5"/>
          <p:cNvSpPr/>
          <p:nvPr/>
        </p:nvSpPr>
        <p:spPr>
          <a:xfrm>
            <a:off x="8046720" y="4023360"/>
            <a:ext cx="3474720" cy="2103120"/>
          </a:xfrm>
          <a:prstGeom prst="roundRect">
            <a:avLst/>
          </a:prstGeom>
          <a:solidFill>
            <a:srgbClr val="FFFFFF"/>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lIns="137160" tIns="137160" rIns="137160" bIns="137160"/>
          <a:lstStyle/>
          <a:p>
            <a:pPr algn="ctr">
              <a:defRPr sz="1100" b="1">
                <a:solidFill>
                  <a:srgbClr val="64748B"/>
                </a:solidFill>
              </a:defRPr>
            </a:pPr>
            <a:r>
              <a:t>PERMUTATION VAR</a:t>
            </a:r>
          </a:p>
          <a:p>
            <a:pPr algn="ctr">
              <a:spcBef>
                <a:spcPts val="600"/>
              </a:spcBef>
              <a:defRPr sz="2800" b="1">
                <a:solidFill>
                  <a:srgbClr val="10B981"/>
                </a:solidFill>
              </a:defRPr>
            </a:pPr>
            <a:r>
              <a:t>0.000000</a:t>
            </a:r>
          </a:p>
          <a:p>
            <a:pPr algn="ctr">
              <a:spcBef>
                <a:spcPts val="400"/>
              </a:spcBef>
              <a:defRPr sz="1200">
                <a:solidFill>
                  <a:srgbClr val="64748B"/>
                </a:solidFill>
              </a:defRPr>
            </a:pPr>
            <a:r>
              <a:t>Total Patient Independence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7315200" cy="320040"/>
          </a:xfrm>
          <a:prstGeom prst="rect">
            <a:avLst/>
          </a:prstGeom>
          <a:noFill/>
        </p:spPr>
        <p:txBody>
          <a:bodyPr wrap="square" lIns="0" tIns="0" rIns="0" bIns="0">
            <a:spAutoFit/>
          </a:bodyPr>
          <a:lstStyle/>
          <a:p>
            <a:pPr>
              <a:defRPr sz="1100" b="1">
                <a:solidFill>
                  <a:srgbClr val="0D9488"/>
                </a:solidFill>
              </a:defRPr>
            </a:pPr>
            <a:r>
              <a:t>QUALITATIVE VALIDATION</a:t>
            </a:r>
          </a:p>
        </p:txBody>
      </p:sp>
      <p:sp>
        <p:nvSpPr>
          <p:cNvPr id="3" name="TextBox 2"/>
          <p:cNvSpPr txBox="1"/>
          <p:nvPr/>
        </p:nvSpPr>
        <p:spPr>
          <a:xfrm>
            <a:off x="731520" y="640080"/>
            <a:ext cx="10515600" cy="731520"/>
          </a:xfrm>
          <a:prstGeom prst="rect">
            <a:avLst/>
          </a:prstGeom>
          <a:noFill/>
        </p:spPr>
        <p:txBody>
          <a:bodyPr wrap="square" lIns="0" tIns="0" rIns="0" bIns="0">
            <a:spAutoFit/>
          </a:bodyPr>
          <a:lstStyle/>
          <a:p>
            <a:pPr>
              <a:defRPr sz="3200" b="1">
                <a:solidFill>
                  <a:srgbClr val="0F172A"/>
                </a:solidFill>
              </a:defRPr>
            </a:pPr>
            <a:r>
              <a:t>Qualitative Evidence: Feature Geometry</a:t>
            </a:r>
          </a:p>
        </p:txBody>
      </p:sp>
      <p:sp>
        <p:nvSpPr>
          <p:cNvPr id="4" name="TextBox 3"/>
          <p:cNvSpPr txBox="1"/>
          <p:nvPr/>
        </p:nvSpPr>
        <p:spPr>
          <a:xfrm>
            <a:off x="731520" y="1645920"/>
            <a:ext cx="6858000" cy="4572000"/>
          </a:xfrm>
          <a:prstGeom prst="rect">
            <a:avLst/>
          </a:prstGeom>
          <a:noFill/>
        </p:spPr>
        <p:txBody>
          <a:bodyPr wrap="square" lIns="0" tIns="0" rIns="0" bIns="0">
            <a:spAutoFit/>
          </a:bodyPr>
          <a:lstStyle/>
          <a:p>
            <a:pPr>
              <a:spcAft>
                <a:spcPts val="1800"/>
              </a:spcAft>
              <a:defRPr sz="2200">
                <a:solidFill>
                  <a:srgbClr val="1E293B"/>
                </a:solidFill>
              </a:defRPr>
            </a:pPr>
            <a:r>
              <a:t>•  Slide 29 latent representation analysis (UMAP)</a:t>
            </a:r>
          </a:p>
          <a:p>
            <a:pPr>
              <a:spcAft>
                <a:spcPts val="1800"/>
              </a:spcAft>
              <a:defRPr sz="2200">
                <a:solidFill>
                  <a:srgbClr val="1E293B"/>
                </a:solidFill>
              </a:defRPr>
            </a:pPr>
            <a:r>
              <a:t>•  Source Baseline: Diffuse, overlapping clusters</a:t>
            </a:r>
          </a:p>
          <a:p>
            <a:pPr>
              <a:spcAft>
                <a:spcPts val="1800"/>
              </a:spcAft>
              <a:defRPr sz="2200">
                <a:solidFill>
                  <a:srgbClr val="1E293B"/>
                </a:solidFill>
              </a:defRPr>
            </a:pPr>
            <a:r>
              <a:t>•  Tent (Collapsed): Single point-mass attractor</a:t>
            </a:r>
          </a:p>
          <a:p>
            <a:pPr>
              <a:spcAft>
                <a:spcPts val="1800"/>
              </a:spcAft>
              <a:defRPr sz="2200">
                <a:solidFill>
                  <a:srgbClr val="1E293B"/>
                </a:solidFill>
              </a:defRPr>
            </a:pPr>
            <a:r>
              <a:t>•  SafeAdapt-OT: Restores clean bimodal geometry</a:t>
            </a:r>
          </a:p>
          <a:p>
            <a:pPr>
              <a:spcAft>
                <a:spcPts val="1800"/>
              </a:spcAft>
              <a:defRPr sz="2200">
                <a:solidFill>
                  <a:srgbClr val="1E293B"/>
                </a:solidFill>
              </a:defRPr>
            </a:pPr>
            <a:r>
              <a:t>•  Preserves Tumor vs. Normal semantic separation</a:t>
            </a:r>
          </a:p>
        </p:txBody>
      </p:sp>
      <p:sp>
        <p:nvSpPr>
          <p:cNvPr id="5" name="Rounded Rectangle 4"/>
          <p:cNvSpPr/>
          <p:nvPr/>
        </p:nvSpPr>
        <p:spPr>
          <a:xfrm>
            <a:off x="8046720" y="1645920"/>
            <a:ext cx="3474720" cy="2103120"/>
          </a:xfrm>
          <a:prstGeom prst="roundRect">
            <a:avLst/>
          </a:prstGeom>
          <a:solidFill>
            <a:srgbClr val="FFFFFF"/>
          </a:solidFill>
          <a:ln w="1905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wrap="square" lIns="137160" tIns="137160" rIns="137160" bIns="137160"/>
          <a:lstStyle/>
          <a:p>
            <a:pPr algn="ctr">
              <a:defRPr sz="1100" b="1">
                <a:solidFill>
                  <a:srgbClr val="64748B"/>
                </a:solidFill>
              </a:defRPr>
            </a:pPr>
            <a:r>
              <a:t>TENT COLLAPSE</a:t>
            </a:r>
          </a:p>
          <a:p>
            <a:pPr algn="ctr">
              <a:spcBef>
                <a:spcPts val="600"/>
              </a:spcBef>
              <a:defRPr sz="2800" b="1">
                <a:solidFill>
                  <a:srgbClr val="DC2626"/>
                </a:solidFill>
              </a:defRPr>
            </a:pPr>
            <a:r>
              <a:t>Degenerate</a:t>
            </a:r>
          </a:p>
          <a:p>
            <a:pPr algn="ctr">
              <a:spcBef>
                <a:spcPts val="400"/>
              </a:spcBef>
              <a:defRPr sz="1200">
                <a:solidFill>
                  <a:srgbClr val="64748B"/>
                </a:solidFill>
              </a:defRPr>
            </a:pPr>
            <a:r>
              <a:t>Single clump; loss of separation</a:t>
            </a:r>
          </a:p>
        </p:txBody>
      </p:sp>
      <p:sp>
        <p:nvSpPr>
          <p:cNvPr id="6" name="Rounded Rectangle 5"/>
          <p:cNvSpPr/>
          <p:nvPr/>
        </p:nvSpPr>
        <p:spPr>
          <a:xfrm>
            <a:off x="8046720" y="4023360"/>
            <a:ext cx="3474720" cy="2103120"/>
          </a:xfrm>
          <a:prstGeom prst="roundRect">
            <a:avLst/>
          </a:prstGeom>
          <a:solidFill>
            <a:srgbClr val="FFFFFF"/>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lIns="137160" tIns="137160" rIns="137160" bIns="137160"/>
          <a:lstStyle/>
          <a:p>
            <a:pPr algn="ctr">
              <a:defRPr sz="1100" b="1">
                <a:solidFill>
                  <a:srgbClr val="64748B"/>
                </a:solidFill>
              </a:defRPr>
            </a:pPr>
            <a:r>
              <a:t>SAFEADAPT</a:t>
            </a:r>
          </a:p>
          <a:p>
            <a:pPr algn="ctr">
              <a:spcBef>
                <a:spcPts val="600"/>
              </a:spcBef>
              <a:defRPr sz="2800" b="1">
                <a:solidFill>
                  <a:srgbClr val="10B981"/>
                </a:solidFill>
              </a:defRPr>
            </a:pPr>
            <a:r>
              <a:t>Bimodal</a:t>
            </a:r>
          </a:p>
          <a:p>
            <a:pPr algn="ctr">
              <a:spcBef>
                <a:spcPts val="400"/>
              </a:spcBef>
              <a:defRPr sz="1200">
                <a:solidFill>
                  <a:srgbClr val="64748B"/>
                </a:solidFill>
              </a:defRPr>
            </a:pPr>
            <a:r>
              <a:t>Two clean clinical clusters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7315200" cy="320040"/>
          </a:xfrm>
          <a:prstGeom prst="rect">
            <a:avLst/>
          </a:prstGeom>
          <a:noFill/>
        </p:spPr>
        <p:txBody>
          <a:bodyPr wrap="square" lIns="0" tIns="0" rIns="0" bIns="0">
            <a:spAutoFit/>
          </a:bodyPr>
          <a:lstStyle/>
          <a:p>
            <a:pPr>
              <a:defRPr sz="1100" b="1">
                <a:solidFill>
                  <a:srgbClr val="0D9488"/>
                </a:solidFill>
              </a:defRPr>
            </a:pPr>
            <a:r>
              <a:t>HARDWARE VIABILITY</a:t>
            </a:r>
          </a:p>
        </p:txBody>
      </p:sp>
      <p:sp>
        <p:nvSpPr>
          <p:cNvPr id="3" name="TextBox 2"/>
          <p:cNvSpPr txBox="1"/>
          <p:nvPr/>
        </p:nvSpPr>
        <p:spPr>
          <a:xfrm>
            <a:off x="731520" y="640080"/>
            <a:ext cx="10515600" cy="731520"/>
          </a:xfrm>
          <a:prstGeom prst="rect">
            <a:avLst/>
          </a:prstGeom>
          <a:noFill/>
        </p:spPr>
        <p:txBody>
          <a:bodyPr wrap="square" lIns="0" tIns="0" rIns="0" bIns="0">
            <a:spAutoFit/>
          </a:bodyPr>
          <a:lstStyle/>
          <a:p>
            <a:pPr>
              <a:defRPr sz="3200" b="1">
                <a:solidFill>
                  <a:srgbClr val="0F172A"/>
                </a:solidFill>
              </a:defRPr>
            </a:pPr>
            <a:r>
              <a:t>Stress Testing &amp; Real-Time Profiling</a:t>
            </a:r>
          </a:p>
        </p:txBody>
      </p:sp>
      <p:sp>
        <p:nvSpPr>
          <p:cNvPr id="4" name="TextBox 3"/>
          <p:cNvSpPr txBox="1"/>
          <p:nvPr/>
        </p:nvSpPr>
        <p:spPr>
          <a:xfrm>
            <a:off x="731520" y="1645920"/>
            <a:ext cx="6858000" cy="4572000"/>
          </a:xfrm>
          <a:prstGeom prst="rect">
            <a:avLst/>
          </a:prstGeom>
          <a:noFill/>
        </p:spPr>
        <p:txBody>
          <a:bodyPr wrap="square" lIns="0" tIns="0" rIns="0" bIns="0">
            <a:spAutoFit/>
          </a:bodyPr>
          <a:lstStyle/>
          <a:p>
            <a:pPr>
              <a:spcAft>
                <a:spcPts val="1800"/>
              </a:spcAft>
              <a:defRPr sz="2200">
                <a:solidFill>
                  <a:srgbClr val="1E293B"/>
                </a:solidFill>
              </a:defRPr>
            </a:pPr>
            <a:r>
              <a:t>•  Single-patch streaming (B=1): 0.9482 AUROC</a:t>
            </a:r>
          </a:p>
          <a:p>
            <a:pPr>
              <a:spcAft>
                <a:spcPts val="1800"/>
              </a:spcAft>
              <a:defRPr sz="2200">
                <a:solidFill>
                  <a:srgbClr val="1E293B"/>
                </a:solidFill>
              </a:defRPr>
            </a:pPr>
            <a:r>
              <a:t>•  Purely benign slides: 1.1% FPR (Tent: 42.6%)</a:t>
            </a:r>
          </a:p>
          <a:p>
            <a:pPr>
              <a:spcAft>
                <a:spcPts val="1800"/>
              </a:spcAft>
              <a:defRPr sz="2200">
                <a:solidFill>
                  <a:srgbClr val="1E293B"/>
                </a:solidFill>
              </a:defRPr>
            </a:pPr>
            <a:r>
              <a:t>•  WSI Attention-MIL staging: 96.0% concordance</a:t>
            </a:r>
          </a:p>
          <a:p>
            <a:pPr>
              <a:spcAft>
                <a:spcPts val="1800"/>
              </a:spcAft>
              <a:defRPr sz="2200">
                <a:solidFill>
                  <a:srgbClr val="1E293B"/>
                </a:solidFill>
              </a:defRPr>
            </a:pPr>
            <a:r>
              <a:t>•  Inference latency: 35.6 ms / patch (Real-time)</a:t>
            </a:r>
          </a:p>
          <a:p>
            <a:pPr>
              <a:spcAft>
                <a:spcPts val="1800"/>
              </a:spcAft>
              <a:defRPr sz="2200">
                <a:solidFill>
                  <a:srgbClr val="1E293B"/>
                </a:solidFill>
              </a:defRPr>
            </a:pPr>
            <a:r>
              <a:t>•  VRAM footprint: 474.1 MB (Diffusion: 4.2 GB)</a:t>
            </a:r>
          </a:p>
        </p:txBody>
      </p:sp>
      <p:sp>
        <p:nvSpPr>
          <p:cNvPr id="5" name="Rounded Rectangle 4"/>
          <p:cNvSpPr/>
          <p:nvPr/>
        </p:nvSpPr>
        <p:spPr>
          <a:xfrm>
            <a:off x="8046720" y="1645920"/>
            <a:ext cx="3474720" cy="2103120"/>
          </a:xfrm>
          <a:prstGeom prst="roundRect">
            <a:avLst/>
          </a:prstGeom>
          <a:solidFill>
            <a:srgbClr val="FFFFFF"/>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137160" tIns="137160" rIns="137160" bIns="137160"/>
          <a:lstStyle/>
          <a:p>
            <a:pPr algn="ctr">
              <a:defRPr sz="1100" b="1">
                <a:solidFill>
                  <a:srgbClr val="64748B"/>
                </a:solidFill>
              </a:defRPr>
            </a:pPr>
            <a:r>
              <a:t>STREAMING B=1</a:t>
            </a:r>
          </a:p>
          <a:p>
            <a:pPr algn="ctr">
              <a:spcBef>
                <a:spcPts val="600"/>
              </a:spcBef>
              <a:defRPr sz="2800" b="1">
                <a:solidFill>
                  <a:srgbClr val="0D9488"/>
                </a:solidFill>
              </a:defRPr>
            </a:pPr>
            <a:r>
              <a:t>0.9482</a:t>
            </a:r>
          </a:p>
          <a:p>
            <a:pPr algn="ctr">
              <a:spcBef>
                <a:spcPts val="400"/>
              </a:spcBef>
              <a:defRPr sz="1200">
                <a:solidFill>
                  <a:srgbClr val="64748B"/>
                </a:solidFill>
              </a:defRPr>
            </a:pPr>
            <a:r>
              <a:t>32-sample FIFO queue</a:t>
            </a:r>
          </a:p>
        </p:txBody>
      </p:sp>
      <p:sp>
        <p:nvSpPr>
          <p:cNvPr id="6" name="Rounded Rectangle 5"/>
          <p:cNvSpPr/>
          <p:nvPr/>
        </p:nvSpPr>
        <p:spPr>
          <a:xfrm>
            <a:off x="8046720" y="4023360"/>
            <a:ext cx="3474720" cy="2103120"/>
          </a:xfrm>
          <a:prstGeom prst="roundRect">
            <a:avLst/>
          </a:prstGeom>
          <a:solidFill>
            <a:srgbClr val="FFFFFF"/>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lIns="137160" tIns="137160" rIns="137160" bIns="137160"/>
          <a:lstStyle/>
          <a:p>
            <a:pPr algn="ctr">
              <a:defRPr sz="1100" b="1">
                <a:solidFill>
                  <a:srgbClr val="64748B"/>
                </a:solidFill>
              </a:defRPr>
            </a:pPr>
            <a:r>
              <a:t>LOW VRAM</a:t>
            </a:r>
          </a:p>
          <a:p>
            <a:pPr algn="ctr">
              <a:spcBef>
                <a:spcPts val="600"/>
              </a:spcBef>
              <a:defRPr sz="2800" b="1">
                <a:solidFill>
                  <a:srgbClr val="10B981"/>
                </a:solidFill>
              </a:defRPr>
            </a:pPr>
            <a:r>
              <a:t>474 MB</a:t>
            </a:r>
          </a:p>
          <a:p>
            <a:pPr algn="ctr">
              <a:spcBef>
                <a:spcPts val="400"/>
              </a:spcBef>
              <a:defRPr sz="1200">
                <a:solidFill>
                  <a:srgbClr val="64748B"/>
                </a:solidFill>
              </a:defRPr>
            </a:pPr>
            <a:r>
              <a:t>Runs on standard clinical PCs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7315200" cy="320040"/>
          </a:xfrm>
          <a:prstGeom prst="rect">
            <a:avLst/>
          </a:prstGeom>
          <a:noFill/>
        </p:spPr>
        <p:txBody>
          <a:bodyPr wrap="square" lIns="0" tIns="0" rIns="0" bIns="0">
            <a:spAutoFit/>
          </a:bodyPr>
          <a:lstStyle/>
          <a:p>
            <a:pPr>
              <a:defRPr sz="1100" b="1">
                <a:solidFill>
                  <a:srgbClr val="0D9488"/>
                </a:solidFill>
              </a:defRPr>
            </a:pPr>
            <a:r>
              <a:t>FUTURE PERSPECTIVES</a:t>
            </a:r>
          </a:p>
        </p:txBody>
      </p:sp>
      <p:sp>
        <p:nvSpPr>
          <p:cNvPr id="3" name="TextBox 2"/>
          <p:cNvSpPr txBox="1"/>
          <p:nvPr/>
        </p:nvSpPr>
        <p:spPr>
          <a:xfrm>
            <a:off x="731520" y="640080"/>
            <a:ext cx="10515600" cy="731520"/>
          </a:xfrm>
          <a:prstGeom prst="rect">
            <a:avLst/>
          </a:prstGeom>
          <a:noFill/>
        </p:spPr>
        <p:txBody>
          <a:bodyPr wrap="square" lIns="0" tIns="0" rIns="0" bIns="0">
            <a:spAutoFit/>
          </a:bodyPr>
          <a:lstStyle/>
          <a:p>
            <a:pPr>
              <a:defRPr sz="3200" b="1">
                <a:solidFill>
                  <a:srgbClr val="0F172A"/>
                </a:solidFill>
              </a:defRPr>
            </a:pPr>
            <a:r>
              <a:t>Limitations &amp; Clinical Roadmap</a:t>
            </a:r>
          </a:p>
        </p:txBody>
      </p:sp>
      <p:sp>
        <p:nvSpPr>
          <p:cNvPr id="4" name="TextBox 3"/>
          <p:cNvSpPr txBox="1"/>
          <p:nvPr/>
        </p:nvSpPr>
        <p:spPr>
          <a:xfrm>
            <a:off x="731520" y="1645920"/>
            <a:ext cx="6858000" cy="4572000"/>
          </a:xfrm>
          <a:prstGeom prst="rect">
            <a:avLst/>
          </a:prstGeom>
          <a:noFill/>
        </p:spPr>
        <p:txBody>
          <a:bodyPr wrap="square" lIns="0" tIns="0" rIns="0" bIns="0">
            <a:spAutoFit/>
          </a:bodyPr>
          <a:lstStyle/>
          <a:p>
            <a:pPr>
              <a:spcAft>
                <a:spcPts val="1800"/>
              </a:spcAft>
              <a:defRPr sz="2200">
                <a:solidFill>
                  <a:srgbClr val="1E293B"/>
                </a:solidFill>
              </a:defRPr>
            </a:pPr>
            <a:r>
              <a:t>•  Limitation 1: Requires known source class priors</a:t>
            </a:r>
          </a:p>
          <a:p>
            <a:pPr>
              <a:spcAft>
                <a:spcPts val="1800"/>
              </a:spcAft>
              <a:defRPr sz="2200">
                <a:solidFill>
                  <a:srgbClr val="1E293B"/>
                </a:solidFill>
              </a:defRPr>
            </a:pPr>
            <a:r>
              <a:t>•  Limitation 2: Confined to normalization affine scale/shift</a:t>
            </a:r>
          </a:p>
          <a:p>
            <a:pPr>
              <a:spcAft>
                <a:spcPts val="1800"/>
              </a:spcAft>
              <a:defRPr sz="2200">
                <a:solidFill>
                  <a:srgbClr val="1E293B"/>
                </a:solidFill>
              </a:defRPr>
            </a:pPr>
            <a:r>
              <a:t>•  Roadmap 1: Open-set virtual dustbin transport</a:t>
            </a:r>
          </a:p>
          <a:p>
            <a:pPr>
              <a:spcAft>
                <a:spcPts val="1800"/>
              </a:spcAft>
              <a:defRPr sz="2200">
                <a:solidFill>
                  <a:srgbClr val="1E293B"/>
                </a:solidFill>
              </a:defRPr>
            </a:pPr>
            <a:r>
              <a:t>•  Roadmap 2: Stage-2 prospective PACS trial (N &gt; 140)</a:t>
            </a:r>
          </a:p>
          <a:p>
            <a:pPr>
              <a:spcAft>
                <a:spcPts val="1800"/>
              </a:spcAft>
              <a:defRPr sz="2200">
                <a:solidFill>
                  <a:srgbClr val="1E293B"/>
                </a:solidFill>
              </a:defRPr>
            </a:pPr>
            <a:r>
              <a:t>•  Integration: DICOM Accession Number (0008,0050) resets</a:t>
            </a:r>
          </a:p>
        </p:txBody>
      </p:sp>
      <p:sp>
        <p:nvSpPr>
          <p:cNvPr id="5" name="Rounded Rectangle 4"/>
          <p:cNvSpPr/>
          <p:nvPr/>
        </p:nvSpPr>
        <p:spPr>
          <a:xfrm>
            <a:off x="8046720" y="1645920"/>
            <a:ext cx="3474720" cy="2103120"/>
          </a:xfrm>
          <a:prstGeom prst="roundRect">
            <a:avLst/>
          </a:prstGeom>
          <a:solidFill>
            <a:srgbClr val="FFFFFF"/>
          </a:solidFill>
          <a:ln w="1905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wrap="square" lIns="137160" tIns="137160" rIns="137160" bIns="137160"/>
          <a:lstStyle/>
          <a:p>
            <a:pPr algn="ctr">
              <a:defRPr sz="1100" b="1">
                <a:solidFill>
                  <a:srgbClr val="64748B"/>
                </a:solidFill>
              </a:defRPr>
            </a:pPr>
            <a:r>
              <a:t>OPEN-SET FUTURE</a:t>
            </a:r>
          </a:p>
          <a:p>
            <a:pPr algn="ctr">
              <a:spcBef>
                <a:spcPts val="600"/>
              </a:spcBef>
              <a:defRPr sz="2800" b="1">
                <a:solidFill>
                  <a:srgbClr val="0F172A"/>
                </a:solidFill>
              </a:defRPr>
            </a:pPr>
            <a:r>
              <a:t>Dustbin Sink</a:t>
            </a:r>
          </a:p>
          <a:p>
            <a:pPr algn="ctr">
              <a:spcBef>
                <a:spcPts val="400"/>
              </a:spcBef>
              <a:defRPr sz="1200">
                <a:solidFill>
                  <a:srgbClr val="64748B"/>
                </a:solidFill>
              </a:defRPr>
            </a:pPr>
            <a:r>
              <a:t>Absorbs necrotic tissue mimics</a:t>
            </a:r>
          </a:p>
        </p:txBody>
      </p:sp>
      <p:sp>
        <p:nvSpPr>
          <p:cNvPr id="6" name="Rounded Rectangle 5"/>
          <p:cNvSpPr/>
          <p:nvPr/>
        </p:nvSpPr>
        <p:spPr>
          <a:xfrm>
            <a:off x="8046720" y="4023360"/>
            <a:ext cx="3474720" cy="2103120"/>
          </a:xfrm>
          <a:prstGeom prst="roundRect">
            <a:avLst/>
          </a:prstGeom>
          <a:solidFill>
            <a:srgbClr val="FFFFFF"/>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137160" tIns="137160" rIns="137160" bIns="137160"/>
          <a:lstStyle/>
          <a:p>
            <a:pPr algn="ctr">
              <a:defRPr sz="1100" b="1">
                <a:solidFill>
                  <a:srgbClr val="64748B"/>
                </a:solidFill>
              </a:defRPr>
            </a:pPr>
            <a:r>
              <a:t>PACS INTEGRATION</a:t>
            </a:r>
          </a:p>
          <a:p>
            <a:pPr algn="ctr">
              <a:spcBef>
                <a:spcPts val="600"/>
              </a:spcBef>
              <a:defRPr sz="2800" b="1">
                <a:solidFill>
                  <a:srgbClr val="0D9488"/>
                </a:solidFill>
              </a:defRPr>
            </a:pPr>
            <a:r>
              <a:t>DICOMweb</a:t>
            </a:r>
          </a:p>
          <a:p>
            <a:pPr algn="ctr">
              <a:spcBef>
                <a:spcPts val="400"/>
              </a:spcBef>
              <a:defRPr sz="1200">
                <a:solidFill>
                  <a:srgbClr val="64748B"/>
                </a:solidFill>
              </a:defRPr>
            </a:pPr>
            <a:r>
              <a:t>Tag (0008,0050) auto-reset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1097280"/>
            <a:ext cx="10058400" cy="1371600"/>
          </a:xfrm>
          <a:prstGeom prst="rect">
            <a:avLst/>
          </a:prstGeom>
          <a:noFill/>
        </p:spPr>
        <p:txBody>
          <a:bodyPr wrap="square">
            <a:spAutoFit/>
          </a:bodyPr>
          <a:lstStyle/>
          <a:p>
            <a:pPr>
              <a:defRPr sz="4000" b="1">
                <a:solidFill>
                  <a:srgbClr val="0D9488"/>
                </a:solidFill>
              </a:defRPr>
            </a:pPr>
            <a:r>
              <a:t>SafeAdapt Summary &amp; Conclusion</a:t>
            </a:r>
          </a:p>
        </p:txBody>
      </p:sp>
      <p:sp>
        <p:nvSpPr>
          <p:cNvPr id="4" name="TextBox 3"/>
          <p:cNvSpPr txBox="1"/>
          <p:nvPr/>
        </p:nvSpPr>
        <p:spPr>
          <a:xfrm>
            <a:off x="1097280" y="2560320"/>
            <a:ext cx="10058400" cy="3657600"/>
          </a:xfrm>
          <a:prstGeom prst="rect">
            <a:avLst/>
          </a:prstGeom>
          <a:noFill/>
        </p:spPr>
        <p:txBody>
          <a:bodyPr wrap="square" lIns="0" tIns="0" rIns="0" bIns="0">
            <a:spAutoFit/>
          </a:bodyPr>
          <a:lstStyle/>
          <a:p>
            <a:pPr>
              <a:spcAft>
                <a:spcPts val="1800"/>
              </a:spcAft>
              <a:defRPr sz="2200">
                <a:solidFill>
                  <a:srgbClr val="1E293B"/>
                </a:solidFill>
              </a:defRPr>
            </a:pPr>
            <a:r>
              <a:t>•  Problem: Unsupervised TTA collapses on digital pathology (40% seed collapse)</a:t>
            </a:r>
          </a:p>
          <a:p>
            <a:pPr>
              <a:spcAft>
                <a:spcPts val="1800"/>
              </a:spcAft>
              <a:defRPr sz="2200">
                <a:solidFill>
                  <a:srgbClr val="1E293B"/>
                </a:solidFill>
              </a:defRPr>
            </a:pPr>
            <a:r>
              <a:t>•  Method: Geometry-preserving Optimal Transport + L_inf parameter trust regions</a:t>
            </a:r>
          </a:p>
          <a:p>
            <a:pPr>
              <a:spcAft>
                <a:spcPts val="1800"/>
              </a:spcAft>
              <a:defRPr sz="2200">
                <a:solidFill>
                  <a:srgbClr val="1E293B"/>
                </a:solidFill>
              </a:defRPr>
            </a:pPr>
            <a:r>
              <a:t>•  Safety: 1.8 ms sub-frame atomic rollback + zero cross-patient drift</a:t>
            </a:r>
          </a:p>
          <a:p>
            <a:pPr>
              <a:spcAft>
                <a:spcPts val="1800"/>
              </a:spcAft>
              <a:defRPr sz="2200">
                <a:solidFill>
                  <a:srgbClr val="1E293B"/>
                </a:solidFill>
              </a:defRPr>
            </a:pPr>
            <a:r>
              <a:t>•  Outcome: Certified 0.0% collapse across all multi-center consortium seeds</a:t>
            </a:r>
          </a:p>
          <a:p>
            <a:pPr>
              <a:spcAft>
                <a:spcPts val="1800"/>
              </a:spcAft>
              <a:defRPr sz="2200">
                <a:solidFill>
                  <a:srgbClr val="1E293B"/>
                </a:solidFill>
              </a:defRPr>
            </a:pPr>
            <a:r>
              <a:t>•  Clinical Impact: Transforms brittle adaptation into a certified medical interlock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