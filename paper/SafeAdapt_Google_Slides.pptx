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snapToObjects="1">
      <p:cViewPr varScale="1">
        <p:scale>
          <a:sx n="84" d="100"/>
          <a:sy n="84" d="100"/>
        </p:scale>
        <p:origin x="64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INASH REDDY" userId="3713b3410679553c" providerId="LiveId" clId="{F2F15F19-5B48-4202-9555-3CF439342418}"/>
    <pc:docChg chg="undo custSel modSld">
      <pc:chgData name="AVINASH REDDY" userId="3713b3410679553c" providerId="LiveId" clId="{F2F15F19-5B48-4202-9555-3CF439342418}" dt="2026-10-27T06:50:44.021" v="14" actId="20577"/>
      <pc:docMkLst>
        <pc:docMk/>
      </pc:docMkLst>
      <pc:sldChg chg="modSp mod modNotesTx">
        <pc:chgData name="AVINASH REDDY" userId="3713b3410679553c" providerId="LiveId" clId="{F2F15F19-5B48-4202-9555-3CF439342418}" dt="2026-10-27T06:50:44.021" v="14" actId="20577"/>
        <pc:sldMkLst>
          <pc:docMk/>
          <pc:sldMk cId="0" sldId="257"/>
        </pc:sldMkLst>
        <pc:spChg chg="mod">
          <ac:chgData name="AVINASH REDDY" userId="3713b3410679553c" providerId="LiveId" clId="{F2F15F19-5B48-4202-9555-3CF439342418}" dt="2026-10-27T06:50:44.021" v="14" actId="20577"/>
          <ac:spMkLst>
            <pc:docMk/>
            <pc:sldMk cId="0" sldId="257"/>
            <ac:spMk id="7" creationId="{00000000-0000-0000-0000-000000000000}"/>
          </ac:spMkLst>
        </pc:spChg>
      </pc:sldChg>
      <pc:sldChg chg="modSp mod">
        <pc:chgData name="AVINASH REDDY" userId="3713b3410679553c" providerId="LiveId" clId="{F2F15F19-5B48-4202-9555-3CF439342418}" dt="2026-10-27T06:50:29.933" v="12" actId="1076"/>
        <pc:sldMkLst>
          <pc:docMk/>
          <pc:sldMk cId="0" sldId="258"/>
        </pc:sldMkLst>
        <pc:spChg chg="mod">
          <ac:chgData name="AVINASH REDDY" userId="3713b3410679553c" providerId="LiveId" clId="{F2F15F19-5B48-4202-9555-3CF439342418}" dt="2026-10-27T06:50:21.343" v="9" actId="1076"/>
          <ac:spMkLst>
            <pc:docMk/>
            <pc:sldMk cId="0" sldId="258"/>
            <ac:spMk id="5" creationId="{00000000-0000-0000-0000-000000000000}"/>
          </ac:spMkLst>
        </pc:spChg>
        <pc:picChg chg="mod">
          <ac:chgData name="AVINASH REDDY" userId="3713b3410679553c" providerId="LiveId" clId="{F2F15F19-5B48-4202-9555-3CF439342418}" dt="2026-10-27T06:50:29.933" v="12" actId="1076"/>
          <ac:picMkLst>
            <pc:docMk/>
            <pc:sldMk cId="0" sldId="258"/>
            <ac:picMk id="6" creationId="{00000000-0000-0000-0000-000000000000}"/>
          </ac:picMkLst>
        </pc:picChg>
      </pc:sldChg>
      <pc:sldChg chg="modSp mod">
        <pc:chgData name="AVINASH REDDY" userId="3713b3410679553c" providerId="LiveId" clId="{F2F15F19-5B48-4202-9555-3CF439342418}" dt="2026-10-27T06:50:07.294" v="8" actId="1076"/>
        <pc:sldMkLst>
          <pc:docMk/>
          <pc:sldMk cId="0" sldId="261"/>
        </pc:sldMkLst>
        <pc:picChg chg="mod">
          <ac:chgData name="AVINASH REDDY" userId="3713b3410679553c" providerId="LiveId" clId="{F2F15F19-5B48-4202-9555-3CF439342418}" dt="2026-10-27T06:50:07.294" v="8" actId="1076"/>
          <ac:picMkLst>
            <pc:docMk/>
            <pc:sldMk cId="0" sldId="261"/>
            <ac:picMk id="5" creationId="{00000000-0000-0000-0000-000000000000}"/>
          </ac:picMkLst>
        </pc:picChg>
      </pc:sldChg>
      <pc:sldChg chg="modSp mod">
        <pc:chgData name="AVINASH REDDY" userId="3713b3410679553c" providerId="LiveId" clId="{F2F15F19-5B48-4202-9555-3CF439342418}" dt="2026-10-27T06:49:39.235" v="5" actId="14100"/>
        <pc:sldMkLst>
          <pc:docMk/>
          <pc:sldMk cId="0" sldId="262"/>
        </pc:sldMkLst>
        <pc:spChg chg="mod">
          <ac:chgData name="AVINASH REDDY" userId="3713b3410679553c" providerId="LiveId" clId="{F2F15F19-5B48-4202-9555-3CF439342418}" dt="2026-10-27T06:49:34.178" v="3" actId="1076"/>
          <ac:spMkLst>
            <pc:docMk/>
            <pc:sldMk cId="0" sldId="262"/>
            <ac:spMk id="5" creationId="{00000000-0000-0000-0000-000000000000}"/>
          </ac:spMkLst>
        </pc:spChg>
        <pc:picChg chg="mod">
          <ac:chgData name="AVINASH REDDY" userId="3713b3410679553c" providerId="LiveId" clId="{F2F15F19-5B48-4202-9555-3CF439342418}" dt="2026-10-27T06:49:39.235" v="5" actId="14100"/>
          <ac:picMkLst>
            <pc:docMk/>
            <pc:sldMk cId="0" sldId="262"/>
            <ac:picMk id="6" creationId="{00000000-0000-0000-0000-000000000000}"/>
          </ac:picMkLst>
        </pc:picChg>
      </pc:sldChg>
      <pc:sldChg chg="modSp mod">
        <pc:chgData name="AVINASH REDDY" userId="3713b3410679553c" providerId="LiveId" clId="{F2F15F19-5B48-4202-9555-3CF439342418}" dt="2026-10-27T06:49:49.020" v="6" actId="1076"/>
        <pc:sldMkLst>
          <pc:docMk/>
          <pc:sldMk cId="0" sldId="263"/>
        </pc:sldMkLst>
        <pc:spChg chg="mod">
          <ac:chgData name="AVINASH REDDY" userId="3713b3410679553c" providerId="LiveId" clId="{F2F15F19-5B48-4202-9555-3CF439342418}" dt="2026-10-27T06:49:49.020" v="6" actId="1076"/>
          <ac:spMkLst>
            <pc:docMk/>
            <pc:sldMk cId="0" sldId="263"/>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2067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esteemed colleagues and committee members. Today, I am proud to present SafeAdapt: a geometry-preserving optimal transport and fail-closed safeguarding framework that addresses one of the most critical vulnerabilities in computational pathology—the catastrophic collapse of test-time adaptation under multicenter clinical domain shift. All code, data, and models are fully open-sourced.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Test-Time Adaptation, specifically entropy minimization like Tent, seemed promising. But when we conducted a rigorous 5-seed audit on Camelyon17, we uncovered a shocking truth: Tent collapses on 40% of random seeds. On Seeds 7 and 99, AUROC plunges to 0.34, sensitivity drops to near-zero, and the harm rate reaches nearly 19%. Erroneous pseudo-gradients drag the entire network into a single-class attractor.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led directly to our central research question: Can we formulate streaming test-time adaptation such that positive transfer is mathematically guaranteed, while precluding attractor collapse and enforcing fail-closed runtime safety? We broke this into three concrete objectives.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work delivers four core contributions spanning theory, algorithms, clinical biology, and systems engineering. We disprove the utility of MC-Dropout in 1D heads, solve attractor collapse with Optimal Transport, engineer biological tissue gating, and establish provable PAC parameter bounds.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SafeAdapt pipeline. When target patches stream from the scanner, clinical diagnostics are emitted first, before any model updates occur. Next, the patch undergoes biological optical density gating. If admitted, Entropic Optimal Transport aligns features against certified prototypes. Before committing changes, runtime sentinels verify that parameters remain within our PAC displacement sphere. If anything diverges, an atomic rollback instantly restores the certified state.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does Optimal Transport eliminate attractor collapse? In standard entropy minimization, nothing prevents the network from predicting 100% benign tissue. In SafeAdapt-OT, we enforce exact marginal prior constraints: Q transpose ones equals r. The Sinkhorn-Knopp algorithm forces the transportation matrix to assign exactly the expected biological mass to the tumor class. This single constraint rescues outlier Slide 29 from complete Tent failure.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dense object detection like MIDOG, benign stroma naturally contains zero mitoses. Standard detectors mistake this physiological silence for model collapse. We introduce the Cellularity-Mitosis Ratio using Beer-Lambert optical density to silence monitors during stroma traversal, eliminating 14 false alarms. Furthermore, we prove that bounding affine drift to 0.05 guarantees that the maximum output probability shift can never exceed 0.0460.</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ensure absolute credibility, we evaluated SafeAdapt across two major multicenter benchmarks: Camelyon17-WILDS with over 455,000 patches across 5 clinical centers, and MIDOG 2021 with 50 cases across optical scanners. Crucially, we enforce a zero-target-leakage protocol: all thresholds were frozen exclusively on Hospital 1 before evaluating on unseen Hospital 2.</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Looking at our primary results in Table 2: SafeAdapt achieves 0.9495 AUROC, outperforming the source model, Tent, and EATA. Notice that our F1 improvements are positive across all 5 seeds, yielding a statistically significant Wilcoxon p-value of 0.0312. Crucially, harmful adaptation drops from 18.7% down to 0.18%—an over 100-fold reduction in clinical harm.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ablations revealed two vital insights. First, when we ran a random-gated control with matched 70% coverage, it collapsed on the exact same seeds as Tent, proving that sample identity matters, not just taking fewer steps. Second, we addressed the common belief that MC-Dropout uncertainty provides orthogonal information. Through Taylor expansion and empirical evaluation, we proved a Spearman correlation of negative 0.9917 with softmax confidence.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Slide 29, which suffered severe dark purple over-staining, unconstrained Tent lost all diagnostic sensitivity. SafeAdapt-OT completely restored feature localization, maintaining an AUROC of 0.9324. Similarly, on MIDOG, CMR optical gating prevented false alarm rollbacks across benign stroma, lifting mitosis detection F1 to 0.517.</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synthesize: SafeAdapt succeeds because it replaces unconstrained gradient descent with geometric optimal transport, roots adaptation in physical tissue properties, and enforces a fail-closed runtime perimeter. It proves that test-time adaptation does not have to be an unstable gamble.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spirit of scientific transparency, we must note our limitations: SafeAdapt requires single-step updates; setting k greater than or equal to 5 induces drift. It also requires a coarse estimate of the target class marginal prior, and operates best with mini-batches of at least 32 patches.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Looking ahead, we are extending SafeAdapt to gigapixel vision transformer foundation models such as UNI and Prov-GigaPath, formulating dynamic Bayesian prior updating, and partnering to embed SafeAdapt directly into scanner firmware for real-time inference during slide digitization.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We demonstrated that unconstrained TTA collapses on 40% of pathology seeds; we disproved the utility of MC-Dropout in 1D heads; and we delivered SafeAdapt, which achieves 0.9495 AUROC, rescues outlier slides, and slashes harmful adaptation by over 100-fold.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Please leave today with these three insights: Attractor collapse is an avoidable geometric defect solved by optimal transport; MC-Dropout is unnecessary in 1D classification; and fail-closed safeguards are mandatory for trustworthy clinical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all for your attention. Our full dataset, models, and code are archived on Zenodo and GitHub. My co-author Gunnam Sanjana and I now welcome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54864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698480" cy="2011680"/>
          </a:xfrm>
          <a:prstGeom prst="rect">
            <a:avLst/>
          </a:prstGeom>
          <a:noFill/>
        </p:spPr>
        <p:txBody>
          <a:bodyPr wrap="square">
            <a:spAutoFit/>
          </a:bodyPr>
          <a:lstStyle/>
          <a:p>
            <a:pPr>
              <a:defRPr sz="3000" b="1">
                <a:solidFill>
                  <a:srgbClr val="FFFFFF"/>
                </a:solidFill>
              </a:defRPr>
            </a:pPr>
            <a:r>
              <a:t>SafeAdapt: Geometry-Preserving Optimal Transport and Fail-Closed Safeguards for Test-Time Adaptation in Digital Pathology</a:t>
            </a:r>
          </a:p>
          <a:p>
            <a:pPr>
              <a:spcBef>
                <a:spcPts val="1400"/>
              </a:spcBef>
              <a:defRPr sz="1600">
                <a:solidFill>
                  <a:srgbClr val="94A3B8"/>
                </a:solidFill>
              </a:defRPr>
            </a:pPr>
            <a:r>
              <a:t>Reversing Negative Transfer and Precluding Attractor Collapse Under Multicenter Clinical Shift</a:t>
            </a:r>
          </a:p>
        </p:txBody>
      </p:sp>
      <p:sp>
        <p:nvSpPr>
          <p:cNvPr id="5" name="Rounded Rectangle 4"/>
          <p:cNvSpPr/>
          <p:nvPr/>
        </p:nvSpPr>
        <p:spPr>
          <a:xfrm>
            <a:off x="731520" y="3840480"/>
            <a:ext cx="6217920" cy="2103120"/>
          </a:xfrm>
          <a:prstGeom prst="roundRect">
            <a:avLst/>
          </a:prstGeom>
          <a:solidFill>
            <a:srgbClr val="173A72"/>
          </a:solidFill>
          <a:ln w="19050">
            <a:solidFill>
              <a:srgbClr val="264E8E"/>
            </a:solidFill>
          </a:ln>
        </p:spPr>
        <p:style>
          <a:lnRef idx="1">
            <a:schemeClr val="accent1"/>
          </a:lnRef>
          <a:fillRef idx="3">
            <a:schemeClr val="accent1"/>
          </a:fillRef>
          <a:effectRef idx="2">
            <a:schemeClr val="accent1"/>
          </a:effectRef>
          <a:fontRef idx="minor">
            <a:schemeClr val="lt1"/>
          </a:fontRef>
        </p:style>
        <p:txBody>
          <a:bodyPr wrap="square" lIns="274320" tIns="228600" rtlCol="0" anchor="ctr"/>
          <a:lstStyle/>
          <a:p>
            <a:pPr algn="ctr">
              <a:defRPr sz="1600" b="1">
                <a:solidFill>
                  <a:srgbClr val="FFFFFF"/>
                </a:solidFill>
              </a:defRPr>
            </a:pPr>
            <a:r>
              <a:t>Avinash Reddy Cheerapareddy  &amp;  Gunnam Sanjana</a:t>
            </a:r>
          </a:p>
          <a:p>
            <a:pPr>
              <a:spcBef>
                <a:spcPts val="800"/>
              </a:spcBef>
              <a:defRPr sz="1200">
                <a:solidFill>
                  <a:srgbClr val="CBD5E1"/>
                </a:solidFill>
              </a:defRPr>
            </a:pPr>
            <a:r>
              <a:t>Department of Computer Science and Engineering</a:t>
            </a:r>
            <a:br/>
            <a:r>
              <a:t>SRM University-AP, Amaravati, Andhra Pradesh, India</a:t>
            </a:r>
            <a:br/>
            <a:r>
              <a:t>avinashreddy_cheerapareddy@srmap.edu.in | sanjana_gunnam@srmap.edu.in</a:t>
            </a:r>
          </a:p>
        </p:txBody>
      </p:sp>
      <p:sp>
        <p:nvSpPr>
          <p:cNvPr id="6" name="Rounded Rectangle 5"/>
          <p:cNvSpPr/>
          <p:nvPr/>
        </p:nvSpPr>
        <p:spPr>
          <a:xfrm>
            <a:off x="7132320" y="3840480"/>
            <a:ext cx="4297680" cy="2103120"/>
          </a:xfrm>
          <a:prstGeom prst="roundRect">
            <a:avLst/>
          </a:prstGeom>
          <a:solidFill>
            <a:srgbClr val="173A72"/>
          </a:solidFill>
          <a:ln w="19050">
            <a:solidFill>
              <a:srgbClr val="264E8E"/>
            </a:solidFill>
          </a:ln>
        </p:spPr>
        <p:style>
          <a:lnRef idx="1">
            <a:schemeClr val="accent1"/>
          </a:lnRef>
          <a:fillRef idx="3">
            <a:schemeClr val="accent1"/>
          </a:fillRef>
          <a:effectRef idx="2">
            <a:schemeClr val="accent1"/>
          </a:effectRef>
          <a:fontRef idx="minor">
            <a:schemeClr val="lt1"/>
          </a:fontRef>
        </p:style>
        <p:txBody>
          <a:bodyPr wrap="square" lIns="274320" tIns="228600" rtlCol="0" anchor="ctr"/>
          <a:lstStyle/>
          <a:p>
            <a:pPr algn="ctr">
              <a:defRPr sz="1500" b="1">
                <a:solidFill>
                  <a:srgbClr val="38BDF8"/>
                </a:solidFill>
              </a:defRPr>
            </a:pPr>
            <a:r>
              <a:t>Open Science &amp; Reproducibility</a:t>
            </a:r>
          </a:p>
          <a:p>
            <a:pPr>
              <a:spcBef>
                <a:spcPts val="800"/>
              </a:spcBef>
              <a:defRPr sz="1100">
                <a:solidFill>
                  <a:srgbClr val="E2E8F0"/>
                </a:solidFill>
              </a:defRPr>
            </a:pPr>
            <a:r>
              <a:t>• Official Zenodo Archive: 10.5281/zenodo.23658430</a:t>
            </a:r>
            <a:br/>
            <a:r>
              <a:t>• GitHub: github.com/Avirech7676/UTTA-Med</a:t>
            </a:r>
            <a:br/>
            <a:r>
              <a:t>• Audit: 57/57 Bit-Exact Matches | 148 Unit Tests</a:t>
            </a:r>
            <a:br/>
            <a:r>
              <a:t>• Target: IEEE Transactions on Medical Imaging (TMI)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C5AA0"/>
                </a:solidFill>
              </a:defRPr>
            </a:pPr>
            <a:r>
              <a:t>1. CLINICAL MOTIVATION</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E2B5C"/>
                </a:solidFill>
              </a:defRPr>
            </a:pPr>
            <a:r>
              <a:rPr dirty="0"/>
              <a:t>Cross-Center Stain and Scanner Variability Degrades Deep Pathology Models</a:t>
            </a:r>
          </a:p>
        </p:txBody>
      </p:sp>
      <p:sp>
        <p:nvSpPr>
          <p:cNvPr id="4" name="TextBox 3"/>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defRPr>
            </a:pPr>
            <a:r>
              <a:t>SafeAdapt: Geometry-Preserving Optimal Transport in Digital Pathology  |  IEEE TMI 2026  |  DOI: 10.5281/zenodo.23658430          Slide 2 of 18</a:t>
            </a:r>
          </a:p>
        </p:txBody>
      </p:sp>
      <p:sp>
        <p:nvSpPr>
          <p:cNvPr id="5" name="Rounded Rectangle 4"/>
          <p:cNvSpPr/>
          <p:nvPr/>
        </p:nvSpPr>
        <p:spPr>
          <a:xfrm>
            <a:off x="731520" y="1463040"/>
            <a:ext cx="6583680" cy="2194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600" b="1">
                <a:solidFill>
                  <a:srgbClr val="0E2B5C"/>
                </a:solidFill>
              </a:defRPr>
            </a:pPr>
            <a:r>
              <a:rPr dirty="0"/>
              <a:t>The Reality of Clinical Deployment</a:t>
            </a:r>
          </a:p>
          <a:p>
            <a:pPr>
              <a:spcBef>
                <a:spcPts val="800"/>
              </a:spcBef>
              <a:defRPr sz="1300">
                <a:solidFill>
                  <a:srgbClr val="1E293B"/>
                </a:solidFill>
              </a:defRPr>
            </a:pPr>
            <a:r>
              <a:rPr dirty="0"/>
              <a:t>• Digital pathology models fail when transferred across clinical institutions.</a:t>
            </a:r>
            <a:br>
              <a:rPr dirty="0"/>
            </a:br>
            <a:r>
              <a:rPr dirty="0"/>
              <a:t>• Variations in tissue microtomy, histochemical staining batches (H&amp;E), and scanner sensor optics induce massive, unpredictable domain shifts.</a:t>
            </a:r>
            <a:br>
              <a:rPr dirty="0"/>
            </a:br>
            <a:r>
              <a:rPr dirty="0"/>
              <a:t>• Retraining is legally prohibited: Patient privacy regulations (HIPAA, GDPR) strictly forbid sharing raw whole-slide images (WSIs) across hospitals.</a:t>
            </a:r>
          </a:p>
        </p:txBody>
      </p:sp>
      <p:sp>
        <p:nvSpPr>
          <p:cNvPr id="6" name="Rounded Rectangle 5"/>
          <p:cNvSpPr/>
          <p:nvPr/>
        </p:nvSpPr>
        <p:spPr>
          <a:xfrm>
            <a:off x="731520" y="3931920"/>
            <a:ext cx="6583680" cy="2194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600" b="1">
                <a:solidFill>
                  <a:srgbClr val="0E2B5C"/>
                </a:solidFill>
              </a:defRPr>
            </a:pPr>
            <a:r>
              <a:t>The Promise &amp; Challenge of Test-Time Adaptation (TTA)</a:t>
            </a:r>
          </a:p>
          <a:p>
            <a:pPr>
              <a:spcBef>
                <a:spcPts val="800"/>
              </a:spcBef>
              <a:defRPr sz="1300">
                <a:solidFill>
                  <a:srgbClr val="1E293B"/>
                </a:solidFill>
              </a:defRPr>
            </a:pPr>
            <a:r>
              <a:t>• Test-Time Adaptation adapts model weights on-the-fly using unlabeled target slides.</a:t>
            </a:r>
            <a:br/>
            <a:r>
              <a:t>• Requires ZERO access to source hospital training data.</a:t>
            </a:r>
            <a:br/>
            <a:r>
              <a:t>• Must operate continuously during clinical whole-slide scanning without human intervention.</a:t>
            </a:r>
          </a:p>
        </p:txBody>
      </p:sp>
      <p:sp>
        <p:nvSpPr>
          <p:cNvPr id="7" name="Rounded Rectangle 6"/>
          <p:cNvSpPr/>
          <p:nvPr/>
        </p:nvSpPr>
        <p:spPr>
          <a:xfrm>
            <a:off x="7589520" y="1463040"/>
            <a:ext cx="3840480" cy="4663440"/>
          </a:xfrm>
          <a:prstGeom prst="roundRect">
            <a:avLst/>
          </a:prstGeom>
          <a:solidFill>
            <a:srgbClr val="FEF2F2"/>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lIns="320040" tIns="320040" rtlCol="0" anchor="ctr"/>
          <a:lstStyle/>
          <a:p>
            <a:pPr algn="ctr">
              <a:defRPr sz="1200" b="1">
                <a:solidFill>
                  <a:srgbClr val="B42828"/>
                </a:solidFill>
              </a:defRPr>
            </a:pPr>
            <a:r>
              <a:rPr dirty="0"/>
              <a:t>THE CLINICAL TRANSFER GAP</a:t>
            </a:r>
          </a:p>
          <a:p>
            <a:pPr>
              <a:spcBef>
                <a:spcPts val="1000"/>
              </a:spcBef>
              <a:defRPr sz="4800" b="1">
                <a:solidFill>
                  <a:srgbClr val="B42828"/>
                </a:solidFill>
              </a:defRPr>
            </a:pPr>
            <a:r>
              <a:rPr dirty="0"/>
              <a:t>-</a:t>
            </a:r>
            <a:r>
              <a:rPr lang="en-IN" dirty="0"/>
              <a:t>28</a:t>
            </a:r>
            <a:r>
              <a:rPr dirty="0"/>
              <a:t>%</a:t>
            </a:r>
          </a:p>
          <a:p>
            <a:pPr>
              <a:spcBef>
                <a:spcPts val="800"/>
              </a:spcBef>
              <a:defRPr sz="1300">
                <a:solidFill>
                  <a:srgbClr val="1E293B"/>
                </a:solidFill>
              </a:defRPr>
            </a:pPr>
            <a:r>
              <a:rPr dirty="0"/>
              <a:t>Sensitivity Drop on Unseen Hospital Slides</a:t>
            </a:r>
            <a:br>
              <a:rPr dirty="0"/>
            </a:br>
            <a:br>
              <a:rPr dirty="0"/>
            </a:br>
            <a:r>
              <a:rPr dirty="0"/>
              <a:t>Transferring a ResNet-18 trained on Camelyon17 Centers 0, 3, 4 to unseen Center 2 drops metastasis detection sensitivity by up to 28% due to histochemical stain disparity.</a:t>
            </a:r>
          </a:p>
          <a:p>
            <a:pPr>
              <a:spcBef>
                <a:spcPts val="1600"/>
              </a:spcBef>
              <a:defRPr sz="1100" b="1">
                <a:solidFill>
                  <a:srgbClr val="64748B"/>
                </a:solidFill>
              </a:defRPr>
            </a:pPr>
            <a:r>
              <a:rPr dirty="0"/>
              <a:t>Camelyon17 Benchmark: 455,954 patches across 5 clinical centers.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C5AA0"/>
                </a:solidFill>
              </a:defRPr>
            </a:pPr>
            <a:r>
              <a:t>2. RESEARCH GAP</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E2B5C"/>
                </a:solidFill>
              </a:defRPr>
            </a:pPr>
            <a:r>
              <a:t>Existing Test-Time Adaptation Methods Suffer Catastrophic Attractor Collapse</a:t>
            </a:r>
          </a:p>
        </p:txBody>
      </p:sp>
      <p:sp>
        <p:nvSpPr>
          <p:cNvPr id="4" name="TextBox 3"/>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defRPr>
            </a:pPr>
            <a:r>
              <a:rPr dirty="0" err="1"/>
              <a:t>SafeAdapt</a:t>
            </a:r>
            <a:r>
              <a:rPr dirty="0"/>
              <a:t>: Geometry-Preserving Optimal Transport in Digital Pathology  |  IEEE TMI 2026  |  DOI: 10.5281/zenodo.23658430          Slide 3 of 18</a:t>
            </a:r>
          </a:p>
        </p:txBody>
      </p:sp>
      <p:sp>
        <p:nvSpPr>
          <p:cNvPr id="5" name="Rounded Rectangle 4"/>
          <p:cNvSpPr/>
          <p:nvPr/>
        </p:nvSpPr>
        <p:spPr>
          <a:xfrm>
            <a:off x="426720" y="1289304"/>
            <a:ext cx="5669280" cy="46634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600" b="1">
                <a:solidFill>
                  <a:srgbClr val="0E2B5C"/>
                </a:solidFill>
              </a:defRPr>
            </a:pPr>
            <a:r>
              <a:rPr dirty="0"/>
              <a:t>Unconstrained Entropy Minimization (Tent, ICLR'21)</a:t>
            </a:r>
          </a:p>
          <a:p>
            <a:pPr>
              <a:spcBef>
                <a:spcPts val="600"/>
              </a:spcBef>
              <a:defRPr sz="1200">
                <a:solidFill>
                  <a:srgbClr val="1E293B"/>
                </a:solidFill>
              </a:defRPr>
            </a:pPr>
            <a:r>
              <a:rPr dirty="0"/>
              <a:t>• Adapts </a:t>
            </a:r>
            <a:r>
              <a:rPr dirty="0" err="1"/>
              <a:t>BatchNorm</a:t>
            </a:r>
            <a:r>
              <a:rPr dirty="0"/>
              <a:t> affine parameters (scale γ, shift β) by minimizing Shannon entropy: L = -Σ p log p.</a:t>
            </a:r>
            <a:br>
              <a:rPr dirty="0"/>
            </a:br>
            <a:r>
              <a:rPr dirty="0"/>
              <a:t>• Underlying Assumption: Confident predictions reflect correct target domain alignment.</a:t>
            </a:r>
          </a:p>
          <a:p>
            <a:pPr>
              <a:spcBef>
                <a:spcPts val="1200"/>
              </a:spcBef>
              <a:defRPr sz="1500" b="1">
                <a:solidFill>
                  <a:srgbClr val="B42828"/>
                </a:solidFill>
              </a:defRPr>
            </a:pPr>
            <a:r>
              <a:rPr dirty="0"/>
              <a:t>The Discovery: 40% Collapse Rate on Real Pathology</a:t>
            </a:r>
          </a:p>
          <a:p>
            <a:pPr>
              <a:spcBef>
                <a:spcPts val="600"/>
              </a:spcBef>
              <a:defRPr sz="1200">
                <a:solidFill>
                  <a:srgbClr val="1E293B"/>
                </a:solidFill>
              </a:defRPr>
            </a:pPr>
            <a:r>
              <a:rPr dirty="0"/>
              <a:t>• Across 5 random seeds on Camelyon17 (N = 85,054 target patches):</a:t>
            </a:r>
            <a:br>
              <a:rPr dirty="0"/>
            </a:br>
            <a:r>
              <a:rPr dirty="0"/>
              <a:t>   - Tent collapses on 2 out of 5 seeds (Seeds 7 and 99).</a:t>
            </a:r>
            <a:br>
              <a:rPr dirty="0"/>
            </a:br>
            <a:r>
              <a:rPr dirty="0"/>
              <a:t>   - Macro AUROC drops from 0.930 to 0.3429 (worse than random guessing!).</a:t>
            </a:r>
            <a:br>
              <a:rPr dirty="0"/>
            </a:br>
            <a:r>
              <a:rPr dirty="0"/>
              <a:t>   - Sensitivity collapses to &lt; 3% (misses almost all cancer).</a:t>
            </a:r>
            <a:br>
              <a:rPr dirty="0"/>
            </a:br>
            <a:r>
              <a:rPr dirty="0"/>
              <a:t>   - Harmful adaptation rate reaches 18.7% ± 17.9%.</a:t>
            </a:r>
          </a:p>
        </p:txBody>
      </p:sp>
      <p:pic>
        <p:nvPicPr>
          <p:cNvPr id="6" name="Picture 5" descr="fig_tent_collapse_mechanism.png"/>
          <p:cNvPicPr>
            <a:picLocks noChangeAspect="1"/>
          </p:cNvPicPr>
          <p:nvPr/>
        </p:nvPicPr>
        <p:blipFill>
          <a:blip r:embed="rId3"/>
          <a:stretch>
            <a:fillRect/>
          </a:stretch>
        </p:blipFill>
        <p:spPr>
          <a:xfrm>
            <a:off x="6400800" y="1645920"/>
            <a:ext cx="5190744" cy="359359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C5AA0"/>
                </a:solidFill>
              </a:defRPr>
            </a:pPr>
            <a:r>
              <a:t>3. CORE OBJECTIVE</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E2B5C"/>
                </a:solidFill>
              </a:defRPr>
            </a:pPr>
            <a:r>
              <a:t>Research Question: Achieving Guaranteed Positive Transfer and Clinical Safety</a:t>
            </a:r>
          </a:p>
        </p:txBody>
      </p:sp>
      <p:sp>
        <p:nvSpPr>
          <p:cNvPr id="4" name="TextBox 3"/>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defRPr>
            </a:pPr>
            <a:r>
              <a:t>SafeAdapt: Geometry-Preserving Optimal Transport in Digital Pathology  |  IEEE TMI 2026  |  DOI: 10.5281/zenodo.23658430          Slide 4 of 18</a:t>
            </a:r>
          </a:p>
        </p:txBody>
      </p:sp>
      <p:sp>
        <p:nvSpPr>
          <p:cNvPr id="5" name="Rounded Rectangle 4"/>
          <p:cNvSpPr/>
          <p:nvPr/>
        </p:nvSpPr>
        <p:spPr>
          <a:xfrm>
            <a:off x="731520" y="1463040"/>
            <a:ext cx="10698480" cy="1280160"/>
          </a:xfrm>
          <a:prstGeom prst="roundRect">
            <a:avLst/>
          </a:prstGeom>
          <a:solidFill>
            <a:srgbClr val="EFF6FF"/>
          </a:solidFill>
          <a:ln w="19050">
            <a:solidFill>
              <a:srgbClr val="1C5AA0"/>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100" b="1">
                <a:solidFill>
                  <a:srgbClr val="1C5AA0"/>
                </a:solidFill>
              </a:defRPr>
            </a:pPr>
            <a:r>
              <a:t>CENTRAL RESEARCH QUESTION</a:t>
            </a:r>
          </a:p>
          <a:p>
            <a:pPr>
              <a:spcBef>
                <a:spcPts val="400"/>
              </a:spcBef>
              <a:defRPr sz="1600" b="1">
                <a:solidFill>
                  <a:srgbClr val="0E2B5C"/>
                </a:solidFill>
              </a:defRPr>
            </a:pPr>
            <a:r>
              <a:t>Can streaming test-time adaptation achieve guaranteed positive transfer in computational pathology without falling into single-class attractor collapse or violating clinical safety bounds?</a:t>
            </a:r>
          </a:p>
        </p:txBody>
      </p:sp>
      <p:sp>
        <p:nvSpPr>
          <p:cNvPr id="6" name="Rounded Rectangle 5"/>
          <p:cNvSpPr/>
          <p:nvPr/>
        </p:nvSpPr>
        <p:spPr>
          <a:xfrm>
            <a:off x="731520" y="3017520"/>
            <a:ext cx="3383280" cy="31089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600" b="1">
                <a:solidFill>
                  <a:srgbClr val="0E2B5C"/>
                </a:solidFill>
              </a:defRPr>
            </a:pPr>
            <a:r>
              <a:t>1. Disprove Fallacies</a:t>
            </a:r>
          </a:p>
          <a:p>
            <a:pPr>
              <a:spcBef>
                <a:spcPts val="1000"/>
              </a:spcBef>
              <a:defRPr sz="1300">
                <a:solidFill>
                  <a:srgbClr val="1E293B"/>
                </a:solidFill>
              </a:defRPr>
            </a:pPr>
            <a:r>
              <a:t>Analyze why scalar uncertainty and confidence gating fail to prevent representation collapse under realistic clinical class imbalance.</a:t>
            </a:r>
          </a:p>
        </p:txBody>
      </p:sp>
      <p:sp>
        <p:nvSpPr>
          <p:cNvPr id="7" name="Rounded Rectangle 6"/>
          <p:cNvSpPr/>
          <p:nvPr/>
        </p:nvSpPr>
        <p:spPr>
          <a:xfrm>
            <a:off x="4389120" y="3017520"/>
            <a:ext cx="3383280" cy="31089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600" b="1">
                <a:solidFill>
                  <a:srgbClr val="1C5AA0"/>
                </a:solidFill>
              </a:defRPr>
            </a:pPr>
            <a:r>
              <a:t>2. Geometric Alignment</a:t>
            </a:r>
          </a:p>
          <a:p>
            <a:pPr>
              <a:spcBef>
                <a:spcPts val="1000"/>
              </a:spcBef>
              <a:defRPr sz="1300">
                <a:solidFill>
                  <a:srgbClr val="1E293B"/>
                </a:solidFill>
              </a:defRPr>
            </a:pPr>
            <a:r>
              <a:t>Formulate an Entropic Optimal Transport objective with exact marginal constraints (Q^T 1_B = r) against certified source prototypes.</a:t>
            </a:r>
          </a:p>
        </p:txBody>
      </p:sp>
      <p:sp>
        <p:nvSpPr>
          <p:cNvPr id="8" name="Rounded Rectangle 7"/>
          <p:cNvSpPr/>
          <p:nvPr/>
        </p:nvSpPr>
        <p:spPr>
          <a:xfrm>
            <a:off x="8046720" y="3017520"/>
            <a:ext cx="3383280" cy="31089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600" b="1">
                <a:solidFill>
                  <a:srgbClr val="228B22"/>
                </a:solidFill>
              </a:defRPr>
            </a:pPr>
            <a:r>
              <a:t>3. Fail-Closed Safeguards</a:t>
            </a:r>
          </a:p>
          <a:p>
            <a:pPr>
              <a:spcBef>
                <a:spcPts val="1000"/>
              </a:spcBef>
              <a:defRPr sz="1300">
                <a:solidFill>
                  <a:srgbClr val="1E293B"/>
                </a:solidFill>
              </a:defRPr>
            </a:pPr>
            <a:r>
              <a:t>Engineer tissue optical density monitors, PAC parameter bounds (||Δθ||_inf &lt;= 0.05), and episodic WSI resets for patient isolation.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C5AA0"/>
                </a:solidFill>
              </a:defRPr>
            </a:pPr>
            <a:r>
              <a:t>4. CONTRIBUTIONS</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E2B5C"/>
                </a:solidFill>
              </a:defRPr>
            </a:pPr>
            <a:r>
              <a:t>SafeAdapt Introduces Four Foundational Contributions</a:t>
            </a:r>
          </a:p>
        </p:txBody>
      </p:sp>
      <p:sp>
        <p:nvSpPr>
          <p:cNvPr id="4" name="TextBox 3"/>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defRPr>
            </a:pPr>
            <a:r>
              <a:t>SafeAdapt: Geometry-Preserving Optimal Transport in Digital Pathology  |  IEEE TMI 2026  |  DOI: 10.5281/zenodo.23658430          Slide 5 of 18</a:t>
            </a:r>
          </a:p>
        </p:txBody>
      </p:sp>
      <p:sp>
        <p:nvSpPr>
          <p:cNvPr id="5" name="Rounded Rectangle 4"/>
          <p:cNvSpPr/>
          <p:nvPr/>
        </p:nvSpPr>
        <p:spPr>
          <a:xfrm>
            <a:off x="731520" y="1463040"/>
            <a:ext cx="5212080" cy="2194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300" b="1">
                <a:solidFill>
                  <a:srgbClr val="0E2B5C"/>
                </a:solidFill>
              </a:defRPr>
            </a:pPr>
            <a:r>
              <a:t>THEORETICAL DISPROOF: THE TAYLOR TRAP</a:t>
            </a:r>
          </a:p>
          <a:p>
            <a:pPr>
              <a:spcBef>
                <a:spcPts val="800"/>
              </a:spcBef>
              <a:defRPr sz="1200">
                <a:solidFill>
                  <a:srgbClr val="1E293B"/>
                </a:solidFill>
              </a:defRPr>
            </a:pPr>
            <a:r>
              <a:t>Proved via Taylor expansion that MC-Dropout predictive variance is asymptotically rank-equivalent to softmax confidence (ρ = -0.9917) in 1D sigmoid heads. Uncertainty gating wastes 3.55x latency with zero added discrimination.</a:t>
            </a:r>
          </a:p>
        </p:txBody>
      </p:sp>
      <p:sp>
        <p:nvSpPr>
          <p:cNvPr id="6" name="Rounded Rectangle 5"/>
          <p:cNvSpPr/>
          <p:nvPr/>
        </p:nvSpPr>
        <p:spPr>
          <a:xfrm>
            <a:off x="6217920" y="1463040"/>
            <a:ext cx="5212080" cy="2194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300" b="1">
                <a:solidFill>
                  <a:srgbClr val="1C5AA0"/>
                </a:solidFill>
              </a:defRPr>
            </a:pPr>
            <a:r>
              <a:t>GEOMETRY-PRESERVING OT-TTA</a:t>
            </a:r>
          </a:p>
          <a:p>
            <a:pPr>
              <a:spcBef>
                <a:spcPts val="800"/>
              </a:spcBef>
              <a:defRPr sz="1200">
                <a:solidFill>
                  <a:srgbClr val="1E293B"/>
                </a:solidFill>
              </a:defRPr>
            </a:pPr>
            <a:r>
              <a:t>Formulated batch adaptation as an Entropic Optimal Transport problem with exact target marginal prior constraints (Q^T 1_B = r). Mathematically predefines class distribution, precluding attractor collapse.</a:t>
            </a:r>
          </a:p>
        </p:txBody>
      </p:sp>
      <p:sp>
        <p:nvSpPr>
          <p:cNvPr id="7" name="Rounded Rectangle 6"/>
          <p:cNvSpPr/>
          <p:nvPr/>
        </p:nvSpPr>
        <p:spPr>
          <a:xfrm>
            <a:off x="731520" y="3931920"/>
            <a:ext cx="5212080" cy="2194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300" b="1">
                <a:solidFill>
                  <a:srgbClr val="228B22"/>
                </a:solidFill>
              </a:defRPr>
            </a:pPr>
            <a:r>
              <a:t>BIOLOGICAL SAFEGUARDS: CMR TISSUE GATING</a:t>
            </a:r>
          </a:p>
          <a:p>
            <a:pPr>
              <a:spcBef>
                <a:spcPts val="800"/>
              </a:spcBef>
              <a:defRPr sz="1200">
                <a:solidFill>
                  <a:srgbClr val="1E293B"/>
                </a:solidFill>
              </a:defRPr>
            </a:pPr>
            <a:r>
              <a:t>Cellularity-Mitosis Ratio (CMR) leverages Beer-Lambert optical density deconvolution, eliminating all 14 false silence alarms on benign acellular stroma during MIDOG 2021 mitosis detection.</a:t>
            </a:r>
          </a:p>
        </p:txBody>
      </p:sp>
      <p:sp>
        <p:nvSpPr>
          <p:cNvPr id="8" name="Rounded Rectangle 7"/>
          <p:cNvSpPr/>
          <p:nvPr/>
        </p:nvSpPr>
        <p:spPr>
          <a:xfrm>
            <a:off x="6217920" y="3931920"/>
            <a:ext cx="5212080" cy="2194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300" b="1">
                <a:solidFill>
                  <a:srgbClr val="0E2B5C"/>
                </a:solidFill>
              </a:defRPr>
            </a:pPr>
            <a:r>
              <a:t>PROVABLE PAC TRUST REGION &amp; RUNTIME INTERLOCKS</a:t>
            </a:r>
          </a:p>
          <a:p>
            <a:pPr>
              <a:spcBef>
                <a:spcPts val="800"/>
              </a:spcBef>
              <a:defRPr sz="1200">
                <a:solidFill>
                  <a:srgbClr val="1E293B"/>
                </a:solidFill>
              </a:defRPr>
            </a:pPr>
            <a:r>
              <a:t>Proved PAC L_inf &lt;= 0.05 affine drift bounds maximum output probability shift to &lt;= 0.0460. Coupled with 1.8 ms dual-buffer atomic rollbacks and episodic WSI-boundary patient isolation resets.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C5AA0"/>
                </a:solidFill>
              </a:defRPr>
            </a:pPr>
            <a:r>
              <a:t>5. SYSTEM ARCHITECTURE</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E2B5C"/>
                </a:solidFill>
              </a:defRPr>
            </a:pPr>
            <a:r>
              <a:t>SafeAdapt Architecture: High-Level End-to-End Pipeline</a:t>
            </a:r>
          </a:p>
        </p:txBody>
      </p:sp>
      <p:sp>
        <p:nvSpPr>
          <p:cNvPr id="4" name="TextBox 3"/>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defRPr>
            </a:pPr>
            <a:r>
              <a:t>SafeAdapt: Geometry-Preserving Optimal Transport in Digital Pathology  |  IEEE TMI 2026  |  DOI: 10.5281/zenodo.23658430          Slide 6 of 18</a:t>
            </a:r>
          </a:p>
        </p:txBody>
      </p:sp>
      <p:pic>
        <p:nvPicPr>
          <p:cNvPr id="5" name="Picture 4" descr="fig_architecture.png"/>
          <p:cNvPicPr>
            <a:picLocks noChangeAspect="1"/>
          </p:cNvPicPr>
          <p:nvPr/>
        </p:nvPicPr>
        <p:blipFill>
          <a:blip r:embed="rId3"/>
          <a:stretch>
            <a:fillRect/>
          </a:stretch>
        </p:blipFill>
        <p:spPr>
          <a:xfrm>
            <a:off x="731520" y="1005840"/>
            <a:ext cx="9390888" cy="557817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C5AA0"/>
                </a:solidFill>
              </a:defRPr>
            </a:pPr>
            <a:r>
              <a:t>6. METHOD: OT-TTA</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E2B5C"/>
                </a:solidFill>
              </a:defRPr>
            </a:pPr>
            <a:r>
              <a:t>Entropic Optimal Transport with Marginal Constraints Precludes Collapse</a:t>
            </a:r>
          </a:p>
        </p:txBody>
      </p:sp>
      <p:sp>
        <p:nvSpPr>
          <p:cNvPr id="4" name="TextBox 3"/>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defRPr>
            </a:pPr>
            <a:r>
              <a:t>SafeAdapt: Geometry-Preserving Optimal Transport in Digital Pathology  |  IEEE TMI 2026  |  DOI: 10.5281/zenodo.23658430          Slide 7 of 18</a:t>
            </a:r>
          </a:p>
        </p:txBody>
      </p:sp>
      <p:sp>
        <p:nvSpPr>
          <p:cNvPr id="5" name="Rounded Rectangle 4"/>
          <p:cNvSpPr/>
          <p:nvPr/>
        </p:nvSpPr>
        <p:spPr>
          <a:xfrm>
            <a:off x="332234" y="1463040"/>
            <a:ext cx="5486400" cy="46634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600" b="1">
                <a:solidFill>
                  <a:srgbClr val="0E2B5C"/>
                </a:solidFill>
              </a:defRPr>
            </a:pPr>
            <a:r>
              <a:rPr dirty="0"/>
              <a:t>Mathematical Formulation</a:t>
            </a:r>
          </a:p>
          <a:p>
            <a:pPr>
              <a:spcBef>
                <a:spcPts val="600"/>
              </a:spcBef>
              <a:defRPr sz="1200">
                <a:solidFill>
                  <a:srgbClr val="1E293B"/>
                </a:solidFill>
              </a:defRPr>
            </a:pPr>
            <a:r>
              <a:rPr dirty="0"/>
              <a:t>min &lt;Q, M&gt; - ε H(Q)   </a:t>
            </a:r>
            <a:r>
              <a:rPr dirty="0" err="1"/>
              <a:t>s.t.</a:t>
            </a:r>
            <a:r>
              <a:rPr dirty="0"/>
              <a:t> Q 1_K = 1/B 1_B,  Q^T 1_B = r</a:t>
            </a:r>
            <a:br>
              <a:rPr dirty="0"/>
            </a:br>
            <a:br>
              <a:rPr dirty="0"/>
            </a:br>
            <a:r>
              <a:rPr dirty="0"/>
              <a:t>• Cost matrix: </a:t>
            </a:r>
            <a:r>
              <a:rPr dirty="0" err="1"/>
              <a:t>M_ik</a:t>
            </a:r>
            <a:r>
              <a:rPr dirty="0"/>
              <a:t> = -log p(y=k | </a:t>
            </a:r>
            <a:r>
              <a:rPr dirty="0" err="1"/>
              <a:t>x_i</a:t>
            </a:r>
            <a:r>
              <a:rPr dirty="0"/>
              <a:t>)</a:t>
            </a:r>
            <a:br>
              <a:rPr dirty="0"/>
            </a:br>
            <a:r>
              <a:rPr dirty="0"/>
              <a:t>• p = (1/B) 1_B : Uniform sample marginal</a:t>
            </a:r>
            <a:br>
              <a:rPr dirty="0"/>
            </a:br>
            <a:r>
              <a:rPr dirty="0"/>
              <a:t>• r = [r_0, r_1]^T : Certified target class marginal prior</a:t>
            </a:r>
            <a:br>
              <a:rPr dirty="0"/>
            </a:br>
            <a:r>
              <a:rPr dirty="0"/>
              <a:t>• Solved via Sinkhorn-Knopp iterations in &lt; 2.5 </a:t>
            </a:r>
            <a:r>
              <a:rPr dirty="0" err="1"/>
              <a:t>ms</a:t>
            </a:r>
            <a:r>
              <a:rPr dirty="0"/>
              <a:t> per batch</a:t>
            </a:r>
          </a:p>
          <a:p>
            <a:pPr>
              <a:spcBef>
                <a:spcPts val="1000"/>
              </a:spcBef>
              <a:defRPr sz="1500" b="1">
                <a:solidFill>
                  <a:srgbClr val="228B22"/>
                </a:solidFill>
              </a:defRPr>
            </a:pPr>
            <a:r>
              <a:rPr dirty="0"/>
              <a:t>Why Attractor Collapse is Impossible</a:t>
            </a:r>
          </a:p>
          <a:p>
            <a:pPr>
              <a:spcBef>
                <a:spcPts val="600"/>
              </a:spcBef>
              <a:defRPr sz="1200">
                <a:solidFill>
                  <a:srgbClr val="1E293B"/>
                </a:solidFill>
              </a:defRPr>
            </a:pPr>
            <a:r>
              <a:rPr dirty="0"/>
              <a:t>• In Tent, all predictions can collapse to a single majority class.</a:t>
            </a:r>
            <a:br>
              <a:rPr dirty="0"/>
            </a:br>
            <a:r>
              <a:rPr dirty="0"/>
              <a:t>• In </a:t>
            </a:r>
            <a:r>
              <a:rPr dirty="0" err="1"/>
              <a:t>SafeAdapt</a:t>
            </a:r>
            <a:r>
              <a:rPr dirty="0"/>
              <a:t>-OT, the column constraint Q^T 1_B = r mathematically forces exactly r_1 * B mass to be transported to the tumor class.</a:t>
            </a:r>
            <a:br>
              <a:rPr dirty="0"/>
            </a:br>
            <a:r>
              <a:rPr dirty="0"/>
              <a:t>• Reverses collapse on severe outlier Slide 29: AUROC 0.0521 -&gt; 0.9324!</a:t>
            </a:r>
          </a:p>
        </p:txBody>
      </p:sp>
      <p:pic>
        <p:nvPicPr>
          <p:cNvPr id="6" name="Picture 5" descr="fig_v2_slide29_attractor_reversal.png"/>
          <p:cNvPicPr>
            <a:picLocks noChangeAspect="1"/>
          </p:cNvPicPr>
          <p:nvPr/>
        </p:nvPicPr>
        <p:blipFill>
          <a:blip r:embed="rId3"/>
          <a:stretch>
            <a:fillRect/>
          </a:stretch>
        </p:blipFill>
        <p:spPr>
          <a:xfrm>
            <a:off x="5923862" y="2468880"/>
            <a:ext cx="6060575" cy="17876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C5AA0"/>
                </a:solidFill>
              </a:defRPr>
            </a:pPr>
            <a:r>
              <a:t>7. METHOD: SAFEGUARDS</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E2B5C"/>
                </a:solidFill>
              </a:defRPr>
            </a:pPr>
            <a:r>
              <a:t>Biological Tissue Gating and Provable PAC Parameter Bounds</a:t>
            </a:r>
          </a:p>
        </p:txBody>
      </p:sp>
      <p:sp>
        <p:nvSpPr>
          <p:cNvPr id="4" name="TextBox 3"/>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defRPr>
            </a:pPr>
            <a:r>
              <a:t>SafeAdapt: Geometry-Preserving Optimal Transport in Digital Pathology  |  IEEE TMI 2026  |  DOI: 10.5281/zenodo.23658430          Slide 8 of 18</a:t>
            </a:r>
          </a:p>
        </p:txBody>
      </p:sp>
      <p:sp>
        <p:nvSpPr>
          <p:cNvPr id="5" name="Rounded Rectangle 4"/>
          <p:cNvSpPr/>
          <p:nvPr/>
        </p:nvSpPr>
        <p:spPr>
          <a:xfrm>
            <a:off x="731520" y="1463040"/>
            <a:ext cx="5212080" cy="46634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600" b="1">
                <a:solidFill>
                  <a:srgbClr val="0E2B5C"/>
                </a:solidFill>
              </a:defRPr>
            </a:pPr>
            <a:r>
              <a:t>Cellularity-Mitosis Ratio (CMR)</a:t>
            </a:r>
          </a:p>
          <a:p>
            <a:pPr>
              <a:spcBef>
                <a:spcPts val="800"/>
              </a:spcBef>
              <a:defRPr sz="1200">
                <a:solidFill>
                  <a:srgbClr val="1E293B"/>
                </a:solidFill>
              </a:defRPr>
            </a:pPr>
            <a:r>
              <a:t>• The Clinical Problem: Dense mitosis detectors (MIDOG 2021) misinterpret benign acellular stroma as model silence, tripping false alarms.</a:t>
            </a:r>
            <a:br/>
            <a:br/>
            <a:r>
              <a:t>• Beer-Lambert Optical Density Deconvolution:</a:t>
            </a:r>
            <a:br/>
            <a:r>
              <a:t>   OD = -log10(I / I_0),   H = v_hematoxylin^T OD</a:t>
            </a:r>
            <a:br/>
            <a:br/>
            <a:r>
              <a:t>• Tissue Gating Logic: If patch cellularity H &lt; τ_cellularity, silence monitors are bypassed physiologically.</a:t>
            </a:r>
            <a:br/>
            <a:br/>
            <a:r>
              <a:t>• Result: Eliminates all 14 false silence alarms across 50 whole-slide cases!</a:t>
            </a:r>
          </a:p>
        </p:txBody>
      </p:sp>
      <p:sp>
        <p:nvSpPr>
          <p:cNvPr id="6" name="Rounded Rectangle 5"/>
          <p:cNvSpPr/>
          <p:nvPr/>
        </p:nvSpPr>
        <p:spPr>
          <a:xfrm>
            <a:off x="6248402" y="1463040"/>
            <a:ext cx="5212080" cy="46634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600" b="1">
                <a:solidFill>
                  <a:srgbClr val="0E2B5C"/>
                </a:solidFill>
              </a:defRPr>
            </a:pPr>
            <a:r>
              <a:rPr dirty="0"/>
              <a:t>Provable PAC Parameter Drift Bound</a:t>
            </a:r>
          </a:p>
          <a:p>
            <a:pPr>
              <a:spcBef>
                <a:spcPts val="800"/>
              </a:spcBef>
              <a:defRPr sz="1200">
                <a:solidFill>
                  <a:srgbClr val="1E293B"/>
                </a:solidFill>
              </a:defRPr>
            </a:pPr>
            <a:r>
              <a:rPr dirty="0"/>
              <a:t>• Theorem (Output Probability Drift Bound):</a:t>
            </a:r>
            <a:br>
              <a:rPr dirty="0"/>
            </a:br>
            <a:r>
              <a:rPr dirty="0"/>
              <a:t>   Clamping affine parameter displacement on terminal normalization layers:</a:t>
            </a:r>
            <a:br>
              <a:rPr dirty="0"/>
            </a:br>
            <a:r>
              <a:rPr dirty="0"/>
              <a:t>   ||</a:t>
            </a:r>
            <a:r>
              <a:rPr dirty="0" err="1"/>
              <a:t>θ_t</a:t>
            </a:r>
            <a:r>
              <a:rPr dirty="0"/>
              <a:t> - θ_0||_inf &lt;= ε = 0.05</a:t>
            </a:r>
            <a:br>
              <a:rPr dirty="0"/>
            </a:br>
            <a:br>
              <a:rPr dirty="0"/>
            </a:br>
            <a:r>
              <a:rPr dirty="0"/>
              <a:t>   Strictly bounds the maximum probability shift:</a:t>
            </a:r>
            <a:br>
              <a:rPr dirty="0"/>
            </a:br>
            <a:r>
              <a:rPr dirty="0"/>
              <a:t>   |σ(</a:t>
            </a:r>
            <a:r>
              <a:rPr dirty="0" err="1"/>
              <a:t>z_t</a:t>
            </a:r>
            <a:r>
              <a:rPr dirty="0"/>
              <a:t>) - σ(z_0)| &lt;= (1/4) ||</a:t>
            </a:r>
            <a:r>
              <a:rPr dirty="0" err="1"/>
              <a:t>w_L</a:t>
            </a:r>
            <a:r>
              <a:rPr dirty="0"/>
              <a:t>||_1 [ ε |x - μ|/σ + ε ] = 0.0460</a:t>
            </a:r>
            <a:br>
              <a:rPr dirty="0"/>
            </a:br>
            <a:br>
              <a:rPr dirty="0"/>
            </a:br>
            <a:r>
              <a:rPr dirty="0"/>
              <a:t>• Guarantees fail-closed safety: Even under corrupted streams, predictions cannot deviate significantly from certified source bounds.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C5AA0"/>
                </a:solidFill>
              </a:defRPr>
            </a:pPr>
            <a:r>
              <a:t>8. EXPERIMENTAL SETUP</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E2B5C"/>
                </a:solidFill>
              </a:defRPr>
            </a:pPr>
            <a:r>
              <a:t>Multicenter Evaluation Setup with Zero Target Leakage Protocol</a:t>
            </a:r>
          </a:p>
        </p:txBody>
      </p:sp>
      <p:sp>
        <p:nvSpPr>
          <p:cNvPr id="4" name="TextBox 3"/>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defRPr>
            </a:pPr>
            <a:r>
              <a:t>SafeAdapt: Geometry-Preserving Optimal Transport in Digital Pathology  |  IEEE TMI 2026  |  DOI: 10.5281/zenodo.23658430          Slide 9 of 18</a:t>
            </a:r>
          </a:p>
        </p:txBody>
      </p:sp>
      <p:sp>
        <p:nvSpPr>
          <p:cNvPr id="5" name="Rounded Rectangle 4"/>
          <p:cNvSpPr/>
          <p:nvPr/>
        </p:nvSpPr>
        <p:spPr>
          <a:xfrm>
            <a:off x="731520" y="1463040"/>
            <a:ext cx="5212080" cy="46634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600" b="1">
                <a:solidFill>
                  <a:srgbClr val="0E2B5C"/>
                </a:solidFill>
              </a:defRPr>
            </a:pPr>
            <a:r>
              <a:t>Camelyon17-WILDS (Classification)</a:t>
            </a:r>
          </a:p>
          <a:p>
            <a:pPr>
              <a:spcBef>
                <a:spcPts val="800"/>
              </a:spcBef>
              <a:defRPr sz="1200">
                <a:solidFill>
                  <a:srgbClr val="1E293B"/>
                </a:solidFill>
              </a:defRPr>
            </a:pPr>
            <a:r>
              <a:t>• Task: Sentinel lymph node metastasis classification</a:t>
            </a:r>
            <a:br/>
            <a:r>
              <a:t>• Total Patches: 455,954 patches (96x96 px) across 5 centers</a:t>
            </a:r>
            <a:br/>
            <a:r>
              <a:t>• Source Training: Centers 0, 3, 4 (n = 302,436 patches)</a:t>
            </a:r>
            <a:br/>
            <a:r>
              <a:t>• In-Domain Validation: Centers 0, 3, 4 (n = 33,560 patches)</a:t>
            </a:r>
            <a:br/>
            <a:r>
              <a:t>• OOD Tuning: Center 1 (n = 34,904 patches) -&gt; Strict Zero Leakage!</a:t>
            </a:r>
            <a:br/>
            <a:r>
              <a:t>• Target Test Cohort: Center 2 (n = 85,054 patches, 10 WSIs)</a:t>
            </a:r>
            <a:br/>
            <a:r>
              <a:t>• Backbone: ResNet-18, Dropout 0.5, Adam lr=1e-5</a:t>
            </a:r>
          </a:p>
        </p:txBody>
      </p:sp>
      <p:sp>
        <p:nvSpPr>
          <p:cNvPr id="6" name="Rounded Rectangle 5"/>
          <p:cNvSpPr/>
          <p:nvPr/>
        </p:nvSpPr>
        <p:spPr>
          <a:xfrm>
            <a:off x="6217920" y="1463040"/>
            <a:ext cx="5212080" cy="46634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600" b="1">
                <a:solidFill>
                  <a:srgbClr val="0E2B5C"/>
                </a:solidFill>
              </a:defRPr>
            </a:pPr>
            <a:r>
              <a:t>MIDOG 2021 (Mitosis Detection)</a:t>
            </a:r>
          </a:p>
          <a:p>
            <a:pPr>
              <a:spcBef>
                <a:spcPts val="800"/>
              </a:spcBef>
              <a:defRPr sz="1200">
                <a:solidFill>
                  <a:srgbClr val="1E293B"/>
                </a:solidFill>
              </a:defRPr>
            </a:pPr>
            <a:r>
              <a:t>• Task: Mitotic figure detection under scanner domain shift</a:t>
            </a:r>
            <a:br/>
            <a:r>
              <a:t>• Dataset: 50 whole-slide cases, 1,100 patches (512x512 px)</a:t>
            </a:r>
            <a:br/>
            <a:r>
              <a:t>• Target Domain: Held-out Scanner 3</a:t>
            </a:r>
            <a:br/>
            <a:r>
              <a:t>• Architecture: Faster R-CNN ResNet-50-FPN</a:t>
            </a:r>
            <a:br/>
            <a:r>
              <a:t>• Strict 5-Seed Protocol: Seeds {42, 123, 2024, 7, 99}</a:t>
            </a:r>
            <a:br/>
            <a:r>
              <a:t>• Baselines: Source-Only, Tent, EATA, SAR, Matched Random Controls</a:t>
            </a:r>
            <a:br/>
            <a:r>
              <a:t>• Hardware: Audited on Tesla T4 and RTX 4090 GPUs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C5AA0"/>
                </a:solidFill>
              </a:defRPr>
            </a:pPr>
            <a:r>
              <a:t>9. PRIMARY RESULTS</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E2B5C"/>
                </a:solidFill>
              </a:defRPr>
            </a:pPr>
            <a:r>
              <a:t>SafeAdapt Achieves Superior AUROC, Cuts ECE by 43%, and Slashes Harm &gt;100x</a:t>
            </a:r>
          </a:p>
        </p:txBody>
      </p:sp>
      <p:sp>
        <p:nvSpPr>
          <p:cNvPr id="4" name="TextBox 3"/>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defRPr>
            </a:pPr>
            <a:r>
              <a:t>SafeAdapt: Geometry-Preserving Optimal Transport in Digital Pathology  |  IEEE TMI 2026  |  DOI: 10.5281/zenodo.23658430          Slide 10 of 18</a:t>
            </a:r>
          </a:p>
        </p:txBody>
      </p:sp>
      <p:graphicFrame>
        <p:nvGraphicFramePr>
          <p:cNvPr id="5" name="Table 4"/>
          <p:cNvGraphicFramePr>
            <a:graphicFrameLocks noGrp="1"/>
          </p:cNvGraphicFramePr>
          <p:nvPr/>
        </p:nvGraphicFramePr>
        <p:xfrm>
          <a:off x="731520" y="1463040"/>
          <a:ext cx="6217920" cy="329184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470262">
                <a:tc>
                  <a:txBody>
                    <a:bodyPr/>
                    <a:lstStyle/>
                    <a:p>
                      <a:pPr>
                        <a:defRPr sz="1100" b="1">
                          <a:solidFill>
                            <a:srgbClr val="FFFFFF"/>
                          </a:solidFill>
                        </a:defRPr>
                      </a:pPr>
                      <a:r>
                        <a:t>Method</a:t>
                      </a:r>
                    </a:p>
                  </a:txBody>
                  <a:tcPr>
                    <a:solidFill>
                      <a:srgbClr val="0E2B5C"/>
                    </a:solidFill>
                  </a:tcPr>
                </a:tc>
                <a:tc>
                  <a:txBody>
                    <a:bodyPr/>
                    <a:lstStyle/>
                    <a:p>
                      <a:pPr>
                        <a:defRPr sz="1100" b="1">
                          <a:solidFill>
                            <a:srgbClr val="FFFFFF"/>
                          </a:solidFill>
                        </a:defRPr>
                      </a:pPr>
                      <a:r>
                        <a:t>AUROC ↑</a:t>
                      </a:r>
                    </a:p>
                  </a:txBody>
                  <a:tcPr>
                    <a:solidFill>
                      <a:srgbClr val="0E2B5C"/>
                    </a:solidFill>
                  </a:tcPr>
                </a:tc>
                <a:tc>
                  <a:txBody>
                    <a:bodyPr/>
                    <a:lstStyle/>
                    <a:p>
                      <a:pPr>
                        <a:defRPr sz="1100" b="1">
                          <a:solidFill>
                            <a:srgbClr val="FFFFFF"/>
                          </a:solidFill>
                        </a:defRPr>
                      </a:pPr>
                      <a:r>
                        <a:t>F1 Score ↑</a:t>
                      </a:r>
                    </a:p>
                  </a:txBody>
                  <a:tcPr>
                    <a:solidFill>
                      <a:srgbClr val="0E2B5C"/>
                    </a:solidFill>
                  </a:tcPr>
                </a:tc>
                <a:tc>
                  <a:txBody>
                    <a:bodyPr/>
                    <a:lstStyle/>
                    <a:p>
                      <a:pPr>
                        <a:defRPr sz="1100" b="1">
                          <a:solidFill>
                            <a:srgbClr val="FFFFFF"/>
                          </a:solidFill>
                        </a:defRPr>
                      </a:pPr>
                      <a:r>
                        <a:t>ECE ↓</a:t>
                      </a:r>
                    </a:p>
                  </a:txBody>
                  <a:tcPr>
                    <a:solidFill>
                      <a:srgbClr val="0E2B5C"/>
                    </a:solidFill>
                  </a:tcPr>
                </a:tc>
                <a:tc>
                  <a:txBody>
                    <a:bodyPr/>
                    <a:lstStyle/>
                    <a:p>
                      <a:pPr>
                        <a:defRPr sz="1100" b="1">
                          <a:solidFill>
                            <a:srgbClr val="FFFFFF"/>
                          </a:solidFill>
                        </a:defRPr>
                      </a:pPr>
                      <a:r>
                        <a:t>Harm Rate ↓</a:t>
                      </a:r>
                    </a:p>
                  </a:txBody>
                  <a:tcPr>
                    <a:solidFill>
                      <a:srgbClr val="0E2B5C"/>
                    </a:solidFill>
                  </a:tcPr>
                </a:tc>
                <a:extLst>
                  <a:ext uri="{0D108BD9-81ED-4DB2-BD59-A6C34878D82A}">
                    <a16:rowId xmlns:a16="http://schemas.microsoft.com/office/drawing/2014/main" val="10000"/>
                  </a:ext>
                </a:extLst>
              </a:tr>
              <a:tr h="470262">
                <a:tc>
                  <a:txBody>
                    <a:bodyPr/>
                    <a:lstStyle/>
                    <a:p>
                      <a:pPr>
                        <a:defRPr sz="1100">
                          <a:solidFill>
                            <a:srgbClr val="1E293B"/>
                          </a:solidFill>
                        </a:defRPr>
                      </a:pPr>
                      <a:r>
                        <a:t>Source-Only</a:t>
                      </a:r>
                    </a:p>
                  </a:txBody>
                  <a:tcPr/>
                </a:tc>
                <a:tc>
                  <a:txBody>
                    <a:bodyPr/>
                    <a:lstStyle/>
                    <a:p>
                      <a:pPr>
                        <a:defRPr sz="1100">
                          <a:solidFill>
                            <a:srgbClr val="1E293B"/>
                          </a:solidFill>
                        </a:defRPr>
                      </a:pPr>
                      <a:r>
                        <a:t>0.930 ± 0.009</a:t>
                      </a:r>
                    </a:p>
                  </a:txBody>
                  <a:tcPr/>
                </a:tc>
                <a:tc>
                  <a:txBody>
                    <a:bodyPr/>
                    <a:lstStyle/>
                    <a:p>
                      <a:pPr>
                        <a:defRPr sz="1100">
                          <a:solidFill>
                            <a:srgbClr val="1E293B"/>
                          </a:solidFill>
                        </a:defRPr>
                      </a:pPr>
                      <a:r>
                        <a:t>0.807 ± 0.025</a:t>
                      </a:r>
                    </a:p>
                  </a:txBody>
                  <a:tcPr/>
                </a:tc>
                <a:tc>
                  <a:txBody>
                    <a:bodyPr/>
                    <a:lstStyle/>
                    <a:p>
                      <a:pPr>
                        <a:defRPr sz="1100">
                          <a:solidFill>
                            <a:srgbClr val="1E293B"/>
                          </a:solidFill>
                        </a:defRPr>
                      </a:pPr>
                      <a:r>
                        <a:t>0.128 ± 0.026</a:t>
                      </a:r>
                    </a:p>
                  </a:txBody>
                  <a:tcPr/>
                </a:tc>
                <a:tc>
                  <a:txBody>
                    <a:bodyPr/>
                    <a:lstStyle/>
                    <a:p>
                      <a:pPr>
                        <a:defRPr sz="1100">
                          <a:solidFill>
                            <a:srgbClr val="1E293B"/>
                          </a:solidFill>
                        </a:defRPr>
                      </a:pPr>
                      <a:r>
                        <a:t>—</a:t>
                      </a:r>
                    </a:p>
                  </a:txBody>
                  <a:tcPr/>
                </a:tc>
                <a:extLst>
                  <a:ext uri="{0D108BD9-81ED-4DB2-BD59-A6C34878D82A}">
                    <a16:rowId xmlns:a16="http://schemas.microsoft.com/office/drawing/2014/main" val="10001"/>
                  </a:ext>
                </a:extLst>
              </a:tr>
              <a:tr h="470262">
                <a:tc>
                  <a:txBody>
                    <a:bodyPr/>
                    <a:lstStyle/>
                    <a:p>
                      <a:pPr>
                        <a:defRPr sz="1100">
                          <a:solidFill>
                            <a:srgbClr val="1E293B"/>
                          </a:solidFill>
                        </a:defRPr>
                      </a:pPr>
                      <a:r>
                        <a:t>Tent (ICLR'21)</a:t>
                      </a:r>
                    </a:p>
                  </a:txBody>
                  <a:tcPr/>
                </a:tc>
                <a:tc>
                  <a:txBody>
                    <a:bodyPr/>
                    <a:lstStyle/>
                    <a:p>
                      <a:pPr>
                        <a:defRPr sz="1100">
                          <a:solidFill>
                            <a:srgbClr val="1E293B"/>
                          </a:solidFill>
                        </a:defRPr>
                      </a:pPr>
                      <a:r>
                        <a:t>0.698 ± 0.324</a:t>
                      </a:r>
                    </a:p>
                  </a:txBody>
                  <a:tcPr/>
                </a:tc>
                <a:tc>
                  <a:txBody>
                    <a:bodyPr/>
                    <a:lstStyle/>
                    <a:p>
                      <a:pPr>
                        <a:defRPr sz="1100">
                          <a:solidFill>
                            <a:srgbClr val="1E293B"/>
                          </a:solidFill>
                        </a:defRPr>
                      </a:pPr>
                      <a:r>
                        <a:t>0.506 ± 0.411</a:t>
                      </a:r>
                    </a:p>
                  </a:txBody>
                  <a:tcPr/>
                </a:tc>
                <a:tc>
                  <a:txBody>
                    <a:bodyPr/>
                    <a:lstStyle/>
                    <a:p>
                      <a:pPr>
                        <a:defRPr sz="1100">
                          <a:solidFill>
                            <a:srgbClr val="1E293B"/>
                          </a:solidFill>
                        </a:defRPr>
                      </a:pPr>
                      <a:r>
                        <a:t>0.284 ± 0.179</a:t>
                      </a:r>
                    </a:p>
                  </a:txBody>
                  <a:tcPr/>
                </a:tc>
                <a:tc>
                  <a:txBody>
                    <a:bodyPr/>
                    <a:lstStyle/>
                    <a:p>
                      <a:pPr>
                        <a:defRPr sz="1100">
                          <a:solidFill>
                            <a:srgbClr val="1E293B"/>
                          </a:solidFill>
                        </a:defRPr>
                      </a:pPr>
                      <a:r>
                        <a:t>0.187 ± 0.179</a:t>
                      </a:r>
                    </a:p>
                  </a:txBody>
                  <a:tcPr/>
                </a:tc>
                <a:extLst>
                  <a:ext uri="{0D108BD9-81ED-4DB2-BD59-A6C34878D82A}">
                    <a16:rowId xmlns:a16="http://schemas.microsoft.com/office/drawing/2014/main" val="10002"/>
                  </a:ext>
                </a:extLst>
              </a:tr>
              <a:tr h="470262">
                <a:tc>
                  <a:txBody>
                    <a:bodyPr/>
                    <a:lstStyle/>
                    <a:p>
                      <a:pPr>
                        <a:defRPr sz="1100">
                          <a:solidFill>
                            <a:srgbClr val="1E293B"/>
                          </a:solidFill>
                        </a:defRPr>
                      </a:pPr>
                      <a:r>
                        <a:t>EATA (ICML'22)</a:t>
                      </a:r>
                    </a:p>
                  </a:txBody>
                  <a:tcPr/>
                </a:tc>
                <a:tc>
                  <a:txBody>
                    <a:bodyPr/>
                    <a:lstStyle/>
                    <a:p>
                      <a:pPr>
                        <a:defRPr sz="1100">
                          <a:solidFill>
                            <a:srgbClr val="1E293B"/>
                          </a:solidFill>
                        </a:defRPr>
                      </a:pPr>
                      <a:r>
                        <a:t>0.921 ± 0.026</a:t>
                      </a:r>
                    </a:p>
                  </a:txBody>
                  <a:tcPr/>
                </a:tc>
                <a:tc>
                  <a:txBody>
                    <a:bodyPr/>
                    <a:lstStyle/>
                    <a:p>
                      <a:pPr>
                        <a:defRPr sz="1100">
                          <a:solidFill>
                            <a:srgbClr val="1E293B"/>
                          </a:solidFill>
                        </a:defRPr>
                      </a:pPr>
                      <a:r>
                        <a:t>0.809 ± 0.031</a:t>
                      </a:r>
                    </a:p>
                  </a:txBody>
                  <a:tcPr/>
                </a:tc>
                <a:tc>
                  <a:txBody>
                    <a:bodyPr/>
                    <a:lstStyle/>
                    <a:p>
                      <a:pPr>
                        <a:defRPr sz="1100">
                          <a:solidFill>
                            <a:srgbClr val="1E293B"/>
                          </a:solidFill>
                        </a:defRPr>
                      </a:pPr>
                      <a:r>
                        <a:t>0.152 ± 0.023</a:t>
                      </a:r>
                    </a:p>
                  </a:txBody>
                  <a:tcPr/>
                </a:tc>
                <a:tc>
                  <a:txBody>
                    <a:bodyPr/>
                    <a:lstStyle/>
                    <a:p>
                      <a:pPr>
                        <a:defRPr sz="1100">
                          <a:solidFill>
                            <a:srgbClr val="1E293B"/>
                          </a:solidFill>
                        </a:defRPr>
                      </a:pPr>
                      <a:r>
                        <a:t>0.025 ± 0.015</a:t>
                      </a:r>
                    </a:p>
                  </a:txBody>
                  <a:tcPr/>
                </a:tc>
                <a:extLst>
                  <a:ext uri="{0D108BD9-81ED-4DB2-BD59-A6C34878D82A}">
                    <a16:rowId xmlns:a16="http://schemas.microsoft.com/office/drawing/2014/main" val="10003"/>
                  </a:ext>
                </a:extLst>
              </a:tr>
              <a:tr h="470262">
                <a:tc>
                  <a:txBody>
                    <a:bodyPr/>
                    <a:lstStyle/>
                    <a:p>
                      <a:pPr>
                        <a:defRPr sz="1100">
                          <a:solidFill>
                            <a:srgbClr val="1E293B"/>
                          </a:solidFill>
                        </a:defRPr>
                      </a:pPr>
                      <a:r>
                        <a:t>Random-Gated</a:t>
                      </a:r>
                    </a:p>
                  </a:txBody>
                  <a:tcPr/>
                </a:tc>
                <a:tc>
                  <a:txBody>
                    <a:bodyPr/>
                    <a:lstStyle/>
                    <a:p>
                      <a:pPr>
                        <a:defRPr sz="1100">
                          <a:solidFill>
                            <a:srgbClr val="1E293B"/>
                          </a:solidFill>
                        </a:defRPr>
                      </a:pPr>
                      <a:r>
                        <a:t>0.697 ± 0.304</a:t>
                      </a:r>
                    </a:p>
                  </a:txBody>
                  <a:tcPr/>
                </a:tc>
                <a:tc>
                  <a:txBody>
                    <a:bodyPr/>
                    <a:lstStyle/>
                    <a:p>
                      <a:pPr>
                        <a:defRPr sz="1100">
                          <a:solidFill>
                            <a:srgbClr val="1E293B"/>
                          </a:solidFill>
                        </a:defRPr>
                      </a:pPr>
                      <a:r>
                        <a:t>0.487 ± 0.385</a:t>
                      </a:r>
                    </a:p>
                  </a:txBody>
                  <a:tcPr/>
                </a:tc>
                <a:tc>
                  <a:txBody>
                    <a:bodyPr/>
                    <a:lstStyle/>
                    <a:p>
                      <a:pPr>
                        <a:defRPr sz="1100">
                          <a:solidFill>
                            <a:srgbClr val="1E293B"/>
                          </a:solidFill>
                        </a:defRPr>
                      </a:pPr>
                      <a:r>
                        <a:t>0.298 ± 0.166</a:t>
                      </a:r>
                    </a:p>
                  </a:txBody>
                  <a:tcPr/>
                </a:tc>
                <a:tc>
                  <a:txBody>
                    <a:bodyPr/>
                    <a:lstStyle/>
                    <a:p>
                      <a:pPr>
                        <a:defRPr sz="1100">
                          <a:solidFill>
                            <a:srgbClr val="1E293B"/>
                          </a:solidFill>
                        </a:defRPr>
                      </a:pPr>
                      <a:r>
                        <a:t>0.194 ± 0.170</a:t>
                      </a:r>
                    </a:p>
                  </a:txBody>
                  <a:tcPr/>
                </a:tc>
                <a:extLst>
                  <a:ext uri="{0D108BD9-81ED-4DB2-BD59-A6C34878D82A}">
                    <a16:rowId xmlns:a16="http://schemas.microsoft.com/office/drawing/2014/main" val="10004"/>
                  </a:ext>
                </a:extLst>
              </a:tr>
              <a:tr h="470262">
                <a:tc>
                  <a:txBody>
                    <a:bodyPr/>
                    <a:lstStyle/>
                    <a:p>
                      <a:pPr>
                        <a:defRPr sz="1100">
                          <a:solidFill>
                            <a:srgbClr val="1E293B"/>
                          </a:solidFill>
                        </a:defRPr>
                      </a:pPr>
                      <a:r>
                        <a:t>Confidence-Gated</a:t>
                      </a:r>
                    </a:p>
                  </a:txBody>
                  <a:tcPr/>
                </a:tc>
                <a:tc>
                  <a:txBody>
                    <a:bodyPr/>
                    <a:lstStyle/>
                    <a:p>
                      <a:pPr>
                        <a:defRPr sz="1100">
                          <a:solidFill>
                            <a:srgbClr val="1E293B"/>
                          </a:solidFill>
                        </a:defRPr>
                      </a:pPr>
                      <a:r>
                        <a:t>0.936 ± 0.022</a:t>
                      </a:r>
                    </a:p>
                  </a:txBody>
                  <a:tcPr/>
                </a:tc>
                <a:tc>
                  <a:txBody>
                    <a:bodyPr/>
                    <a:lstStyle/>
                    <a:p>
                      <a:pPr>
                        <a:defRPr sz="1100">
                          <a:solidFill>
                            <a:srgbClr val="1E293B"/>
                          </a:solidFill>
                        </a:defRPr>
                      </a:pPr>
                      <a:r>
                        <a:t>0.831 ± 0.032</a:t>
                      </a:r>
                    </a:p>
                  </a:txBody>
                  <a:tcPr/>
                </a:tc>
                <a:tc>
                  <a:txBody>
                    <a:bodyPr/>
                    <a:lstStyle/>
                    <a:p>
                      <a:pPr>
                        <a:defRPr sz="1100">
                          <a:solidFill>
                            <a:srgbClr val="1E293B"/>
                          </a:solidFill>
                        </a:defRPr>
                      </a:pPr>
                      <a:r>
                        <a:t>0.130 ± 0.030</a:t>
                      </a:r>
                    </a:p>
                  </a:txBody>
                  <a:tcPr/>
                </a:tc>
                <a:tc>
                  <a:txBody>
                    <a:bodyPr/>
                    <a:lstStyle/>
                    <a:p>
                      <a:pPr>
                        <a:defRPr sz="1100">
                          <a:solidFill>
                            <a:srgbClr val="1E293B"/>
                          </a:solidFill>
                        </a:defRPr>
                      </a:pPr>
                      <a:r>
                        <a:t>0.007 ± 0.003</a:t>
                      </a:r>
                    </a:p>
                  </a:txBody>
                  <a:tcPr/>
                </a:tc>
                <a:extLst>
                  <a:ext uri="{0D108BD9-81ED-4DB2-BD59-A6C34878D82A}">
                    <a16:rowId xmlns:a16="http://schemas.microsoft.com/office/drawing/2014/main" val="10005"/>
                  </a:ext>
                </a:extLst>
              </a:tr>
              <a:tr h="470268">
                <a:tc>
                  <a:txBody>
                    <a:bodyPr/>
                    <a:lstStyle/>
                    <a:p>
                      <a:pPr>
                        <a:defRPr sz="1100" b="1">
                          <a:solidFill>
                            <a:srgbClr val="228B22"/>
                          </a:solidFill>
                        </a:defRPr>
                      </a:pPr>
                      <a:r>
                        <a:t>SafeAdapt (Ours)</a:t>
                      </a:r>
                    </a:p>
                  </a:txBody>
                  <a:tcPr>
                    <a:solidFill>
                      <a:srgbClr val="F0FDF4"/>
                    </a:solidFill>
                  </a:tcPr>
                </a:tc>
                <a:tc>
                  <a:txBody>
                    <a:bodyPr/>
                    <a:lstStyle/>
                    <a:p>
                      <a:pPr>
                        <a:defRPr sz="1100" b="1">
                          <a:solidFill>
                            <a:srgbClr val="228B22"/>
                          </a:solidFill>
                        </a:defRPr>
                      </a:pPr>
                      <a:r>
                        <a:t>0.9495 ± 0.013</a:t>
                      </a:r>
                    </a:p>
                  </a:txBody>
                  <a:tcPr>
                    <a:solidFill>
                      <a:srgbClr val="F0FDF4"/>
                    </a:solidFill>
                  </a:tcPr>
                </a:tc>
                <a:tc>
                  <a:txBody>
                    <a:bodyPr/>
                    <a:lstStyle/>
                    <a:p>
                      <a:pPr>
                        <a:defRPr sz="1100" b="1">
                          <a:solidFill>
                            <a:srgbClr val="228B22"/>
                          </a:solidFill>
                        </a:defRPr>
                      </a:pPr>
                      <a:r>
                        <a:t>0.842 ± 0.031</a:t>
                      </a:r>
                    </a:p>
                  </a:txBody>
                  <a:tcPr>
                    <a:solidFill>
                      <a:srgbClr val="F0FDF4"/>
                    </a:solidFill>
                  </a:tcPr>
                </a:tc>
                <a:tc>
                  <a:txBody>
                    <a:bodyPr/>
                    <a:lstStyle/>
                    <a:p>
                      <a:pPr>
                        <a:defRPr sz="1100" b="1">
                          <a:solidFill>
                            <a:srgbClr val="228B22"/>
                          </a:solidFill>
                        </a:defRPr>
                      </a:pPr>
                      <a:r>
                        <a:t>0.075 ± 0.005</a:t>
                      </a:r>
                    </a:p>
                  </a:txBody>
                  <a:tcPr>
                    <a:solidFill>
                      <a:srgbClr val="F0FDF4"/>
                    </a:solidFill>
                  </a:tcPr>
                </a:tc>
                <a:tc>
                  <a:txBody>
                    <a:bodyPr/>
                    <a:lstStyle/>
                    <a:p>
                      <a:pPr>
                        <a:defRPr sz="1100" b="1">
                          <a:solidFill>
                            <a:srgbClr val="228B22"/>
                          </a:solidFill>
                        </a:defRPr>
                      </a:pPr>
                      <a:r>
                        <a:t>0.0018 ± 0.0003</a:t>
                      </a:r>
                    </a:p>
                  </a:txBody>
                  <a:tcPr>
                    <a:solidFill>
                      <a:srgbClr val="F0FDF4"/>
                    </a:solidFill>
                  </a:tcPr>
                </a:tc>
                <a:extLst>
                  <a:ext uri="{0D108BD9-81ED-4DB2-BD59-A6C34878D82A}">
                    <a16:rowId xmlns:a16="http://schemas.microsoft.com/office/drawing/2014/main" val="10006"/>
                  </a:ext>
                </a:extLst>
              </a:tr>
            </a:tbl>
          </a:graphicData>
        </a:graphic>
      </p:graphicFrame>
      <p:sp>
        <p:nvSpPr>
          <p:cNvPr id="6" name="Rounded Rectangle 5"/>
          <p:cNvSpPr/>
          <p:nvPr/>
        </p:nvSpPr>
        <p:spPr>
          <a:xfrm>
            <a:off x="731520" y="4937760"/>
            <a:ext cx="6217920" cy="1188720"/>
          </a:xfrm>
          <a:prstGeom prst="roundRect">
            <a:avLst/>
          </a:prstGeom>
          <a:solidFill>
            <a:srgbClr val="F0FDF4"/>
          </a:solidFill>
          <a:ln w="19050">
            <a:solidFill>
              <a:srgbClr val="228B22"/>
            </a:solidFill>
          </a:ln>
        </p:spPr>
        <p:style>
          <a:lnRef idx="1">
            <a:schemeClr val="accent1"/>
          </a:lnRef>
          <a:fillRef idx="3">
            <a:schemeClr val="accent1"/>
          </a:fillRef>
          <a:effectRef idx="2">
            <a:schemeClr val="accent1"/>
          </a:effectRef>
          <a:fontRef idx="minor">
            <a:schemeClr val="lt1"/>
          </a:fontRef>
        </p:style>
        <p:txBody>
          <a:bodyPr lIns="182880" tIns="182880" rtlCol="0" anchor="ctr"/>
          <a:lstStyle/>
          <a:p>
            <a:pPr algn="ctr">
              <a:defRPr sz="1100" b="1">
                <a:solidFill>
                  <a:srgbClr val="228B22"/>
                </a:solidFill>
              </a:defRPr>
            </a:pPr>
            <a:r>
              <a:t>STATISTICAL PROOF: 5/5 POSITIVE SEEDS</a:t>
            </a:r>
          </a:p>
          <a:p>
            <a:pPr>
              <a:spcBef>
                <a:spcPts val="300"/>
              </a:spcBef>
              <a:defRPr sz="1100">
                <a:solidFill>
                  <a:srgbClr val="1E293B"/>
                </a:solidFill>
              </a:defRPr>
            </a:pPr>
            <a:r>
              <a:t>ΔF1 vs Source: +0.041, +0.035, +0.038, +0.028, +0.022 (Paired Wilcoxon p = 0.0312).</a:t>
            </a:r>
            <a:br/>
            <a:r>
              <a:t>Harmful adaptation slashed from 18.7% down to 0.18% (&gt;100x safety improvement).</a:t>
            </a:r>
          </a:p>
        </p:txBody>
      </p:sp>
      <p:pic>
        <p:nvPicPr>
          <p:cNvPr id="7" name="Picture 6" descr="fig_v2_benchmark_auroc_ece.png"/>
          <p:cNvPicPr>
            <a:picLocks noChangeAspect="1"/>
          </p:cNvPicPr>
          <p:nvPr/>
        </p:nvPicPr>
        <p:blipFill>
          <a:blip r:embed="rId3"/>
          <a:stretch>
            <a:fillRect/>
          </a:stretch>
        </p:blipFill>
        <p:spPr>
          <a:xfrm>
            <a:off x="7223760" y="1463040"/>
            <a:ext cx="4206240" cy="173292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C5AA0"/>
                </a:solidFill>
              </a:defRPr>
            </a:pPr>
            <a:r>
              <a:t>10. ABLATION ANALYSIS</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E2B5C"/>
                </a:solidFill>
              </a:defRPr>
            </a:pPr>
            <a:r>
              <a:t>Ablation Study: Sample Identity and Mathematical Disproof of Taylor Trap</a:t>
            </a:r>
          </a:p>
        </p:txBody>
      </p:sp>
      <p:sp>
        <p:nvSpPr>
          <p:cNvPr id="4" name="TextBox 3"/>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defRPr>
            </a:pPr>
            <a:r>
              <a:t>SafeAdapt: Geometry-Preserving Optimal Transport in Digital Pathology  |  IEEE TMI 2026  |  DOI: 10.5281/zenodo.23658430          Slide 11 of 18</a:t>
            </a:r>
          </a:p>
        </p:txBody>
      </p:sp>
      <p:sp>
        <p:nvSpPr>
          <p:cNvPr id="5" name="Rounded Rectangle 4"/>
          <p:cNvSpPr/>
          <p:nvPr/>
        </p:nvSpPr>
        <p:spPr>
          <a:xfrm>
            <a:off x="731520" y="1463040"/>
            <a:ext cx="5303520" cy="46634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500" b="1">
                <a:solidFill>
                  <a:srgbClr val="0E2B5C"/>
                </a:solidFill>
              </a:defRPr>
            </a:pPr>
            <a:r>
              <a:t>1. Random Gating Control</a:t>
            </a:r>
          </a:p>
          <a:p>
            <a:pPr>
              <a:spcBef>
                <a:spcPts val="400"/>
              </a:spcBef>
              <a:defRPr sz="1200">
                <a:solidFill>
                  <a:srgbClr val="1E293B"/>
                </a:solidFill>
              </a:defRPr>
            </a:pPr>
            <a:r>
              <a:t>• Matched-coverage control (randomly dropping 30% of patches) collapses on Seeds 7 and 99 (AUROC ~ 0.35).</a:t>
            </a:r>
            <a:br/>
            <a:r>
              <a:t>• Proves that gains arise from sample identity, not just taking fewer gradient steps.</a:t>
            </a:r>
          </a:p>
          <a:p>
            <a:pPr>
              <a:spcBef>
                <a:spcPts val="800"/>
              </a:spcBef>
              <a:defRPr sz="1500" b="1">
                <a:solidFill>
                  <a:srgbClr val="0E2B5C"/>
                </a:solidFill>
              </a:defRPr>
            </a:pPr>
            <a:r>
              <a:t>2. Adaptation Step Sensitivity (k)</a:t>
            </a:r>
          </a:p>
          <a:p>
            <a:pPr>
              <a:spcBef>
                <a:spcPts val="400"/>
              </a:spcBef>
              <a:defRPr sz="1200">
                <a:solidFill>
                  <a:srgbClr val="1E293B"/>
                </a:solidFill>
              </a:defRPr>
            </a:pPr>
            <a:r>
              <a:t>• k = 1: AUROC = 0.977, Harm = 0.020 (Optimal)</a:t>
            </a:r>
            <a:br/>
            <a:r>
              <a:t>• k = 2: AUROC = 0.956</a:t>
            </a:r>
            <a:br/>
            <a:r>
              <a:t>• k &gt;= 5: AUROC collapses to 0.375!</a:t>
            </a:r>
            <a:br/>
            <a:r>
              <a:t>• Single-step adaptation is strictly necessary to prevent parameter drift.</a:t>
            </a:r>
          </a:p>
          <a:p>
            <a:pPr>
              <a:spcBef>
                <a:spcPts val="800"/>
              </a:spcBef>
              <a:defRPr sz="1500" b="1">
                <a:solidFill>
                  <a:srgbClr val="B42828"/>
                </a:solidFill>
              </a:defRPr>
            </a:pPr>
            <a:r>
              <a:t>3. The Binary Taylor Trap</a:t>
            </a:r>
          </a:p>
          <a:p>
            <a:pPr>
              <a:spcBef>
                <a:spcPts val="400"/>
              </a:spcBef>
              <a:defRPr sz="1200">
                <a:solidFill>
                  <a:srgbClr val="1E293B"/>
                </a:solidFill>
              </a:defRPr>
            </a:pPr>
            <a:r>
              <a:t>• Sigmoid Taylor expansion: Var[p] ≈ p^2 (1 - p)^2 σ_z^2</a:t>
            </a:r>
            <a:br/>
            <a:r>
              <a:t>• Spearman correlation: ρ = -0.9917 between MC-Dropout variance and softmax confidence!</a:t>
            </a:r>
            <a:br/>
            <a:r>
              <a:t>• MC-Dropout incurs a 3.55x latency penalty with zero added discriminatory power.</a:t>
            </a:r>
          </a:p>
        </p:txBody>
      </p:sp>
      <p:pic>
        <p:nvPicPr>
          <p:cNvPr id="6" name="Picture 5" descr="fig_u_error.png"/>
          <p:cNvPicPr>
            <a:picLocks noChangeAspect="1"/>
          </p:cNvPicPr>
          <p:nvPr/>
        </p:nvPicPr>
        <p:blipFill>
          <a:blip r:embed="rId3"/>
          <a:stretch>
            <a:fillRect/>
          </a:stretch>
        </p:blipFill>
        <p:spPr>
          <a:xfrm>
            <a:off x="6400800" y="1463040"/>
            <a:ext cx="5029200" cy="29860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C5AA0"/>
                </a:solidFill>
              </a:defRPr>
            </a:pPr>
            <a:r>
              <a:t>11. QUALITATIVE EVIDENCE</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E2B5C"/>
                </a:solidFill>
              </a:defRPr>
            </a:pPr>
            <a:r>
              <a:t>Qualitative Case Study: Slide 29 Restoration and MIDOG Stroma Gating</a:t>
            </a:r>
          </a:p>
        </p:txBody>
      </p:sp>
      <p:sp>
        <p:nvSpPr>
          <p:cNvPr id="4" name="TextBox 3"/>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defRPr>
            </a:pPr>
            <a:r>
              <a:t>SafeAdapt: Geometry-Preserving Optimal Transport in Digital Pathology  |  IEEE TMI 2026  |  DOI: 10.5281/zenodo.23658430          Slide 12 of 18</a:t>
            </a:r>
          </a:p>
        </p:txBody>
      </p:sp>
      <p:sp>
        <p:nvSpPr>
          <p:cNvPr id="5" name="Rounded Rectangle 4"/>
          <p:cNvSpPr/>
          <p:nvPr/>
        </p:nvSpPr>
        <p:spPr>
          <a:xfrm>
            <a:off x="731520" y="1463040"/>
            <a:ext cx="5303520" cy="2194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28600" tIns="228600" rtlCol="0" anchor="ctr"/>
          <a:lstStyle/>
          <a:p>
            <a:pPr algn="ctr">
              <a:defRPr sz="1500" b="1">
                <a:solidFill>
                  <a:srgbClr val="0E2B5C"/>
                </a:solidFill>
              </a:defRPr>
            </a:pPr>
            <a:r>
              <a:t>Case 1: Severe Stain Outlier (Slide 29)</a:t>
            </a:r>
          </a:p>
          <a:p>
            <a:pPr>
              <a:spcBef>
                <a:spcPts val="600"/>
              </a:spcBef>
              <a:defRPr sz="1200">
                <a:solidFill>
                  <a:srgbClr val="1E293B"/>
                </a:solidFill>
              </a:defRPr>
            </a:pPr>
            <a:r>
              <a:t>• Slide 29 exhibits dark purple hematoxylin precipitation from Center 2.</a:t>
            </a:r>
            <a:br/>
            <a:r>
              <a:t>• Unconstrained Tent collapses logits to -∞, missing 100% of micro-metastases.</a:t>
            </a:r>
            <a:br/>
            <a:r>
              <a:t>• SafeAdapt-OT restores feature margins, elevating AUROC from 0.0521 to 0.9324 ± 0.0078.</a:t>
            </a:r>
          </a:p>
        </p:txBody>
      </p:sp>
      <p:sp>
        <p:nvSpPr>
          <p:cNvPr id="6" name="Rounded Rectangle 5"/>
          <p:cNvSpPr/>
          <p:nvPr/>
        </p:nvSpPr>
        <p:spPr>
          <a:xfrm>
            <a:off x="731520" y="3931920"/>
            <a:ext cx="5303520" cy="21945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28600" tIns="228600" rtlCol="0" anchor="ctr"/>
          <a:lstStyle/>
          <a:p>
            <a:pPr algn="ctr">
              <a:defRPr sz="1500" b="1">
                <a:solidFill>
                  <a:srgbClr val="0E2B5C"/>
                </a:solidFill>
              </a:defRPr>
            </a:pPr>
            <a:r>
              <a:t>Case 2: MIDOG Mitosis Detection Across Scanners</a:t>
            </a:r>
          </a:p>
          <a:p>
            <a:pPr>
              <a:spcBef>
                <a:spcPts val="600"/>
              </a:spcBef>
              <a:defRPr sz="1200">
                <a:solidFill>
                  <a:srgbClr val="1E293B"/>
                </a:solidFill>
              </a:defRPr>
            </a:pPr>
            <a:r>
              <a:t>• On Target Scanner 3, tumor stroma contains zero mitoses.</a:t>
            </a:r>
            <a:br/>
            <a:r>
              <a:t>• Baseline silence monitors trigger 14 false alarm rollbacks.</a:t>
            </a:r>
            <a:br/>
            <a:r>
              <a:t>• CMR tissue gating measures optical density H, recognizes stroma physiologically, and lifts F1: 0.5172 ± 0.0012 (p &lt; 0.001).</a:t>
            </a:r>
          </a:p>
        </p:txBody>
      </p:sp>
      <p:pic>
        <p:nvPicPr>
          <p:cNvPr id="7" name="Picture 6" descr="fig_v2_cmr_mitosis_detection.png"/>
          <p:cNvPicPr>
            <a:picLocks noChangeAspect="1"/>
          </p:cNvPicPr>
          <p:nvPr/>
        </p:nvPicPr>
        <p:blipFill>
          <a:blip r:embed="rId3"/>
          <a:stretch>
            <a:fillRect/>
          </a:stretch>
        </p:blipFill>
        <p:spPr>
          <a:xfrm>
            <a:off x="6400800" y="1463040"/>
            <a:ext cx="5029200" cy="207473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C5AA0"/>
                </a:solidFill>
              </a:defRPr>
            </a:pPr>
            <a:r>
              <a:t>12. DISCUSSION</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E2B5C"/>
                </a:solidFill>
              </a:defRPr>
            </a:pPr>
            <a:r>
              <a:t>Discussion: Why SafeAdapt Succeeds Where Prior TTA Methods Fail</a:t>
            </a:r>
          </a:p>
        </p:txBody>
      </p:sp>
      <p:sp>
        <p:nvSpPr>
          <p:cNvPr id="4" name="TextBox 3"/>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defRPr>
            </a:pPr>
            <a:r>
              <a:t>SafeAdapt: Geometry-Preserving Optimal Transport in Digital Pathology  |  IEEE TMI 2026  |  DOI: 10.5281/zenodo.23658430          Slide 13 of 18</a:t>
            </a:r>
          </a:p>
        </p:txBody>
      </p:sp>
      <p:sp>
        <p:nvSpPr>
          <p:cNvPr id="5" name="Rounded Rectangle 4"/>
          <p:cNvSpPr/>
          <p:nvPr/>
        </p:nvSpPr>
        <p:spPr>
          <a:xfrm>
            <a:off x="731520" y="1463040"/>
            <a:ext cx="3383280" cy="46634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600" b="1">
                <a:solidFill>
                  <a:srgbClr val="0E2B5C"/>
                </a:solidFill>
              </a:defRPr>
            </a:pPr>
            <a:r>
              <a:t>1. Geometric Balance</a:t>
            </a:r>
          </a:p>
          <a:p>
            <a:pPr>
              <a:spcBef>
                <a:spcPts val="1200"/>
              </a:spcBef>
              <a:defRPr sz="1300">
                <a:solidFill>
                  <a:srgbClr val="1E293B"/>
                </a:solidFill>
              </a:defRPr>
            </a:pPr>
            <a:r>
              <a:t>Entropic Optimal Transport replaces unconstrained gradient descent with exact marginal transportation. By constraining Q^T 1_B = r, the network is physically unable to minimize loss by seeking trivial single-class attractors.</a:t>
            </a:r>
          </a:p>
        </p:txBody>
      </p:sp>
      <p:sp>
        <p:nvSpPr>
          <p:cNvPr id="6" name="Rounded Rectangle 5"/>
          <p:cNvSpPr/>
          <p:nvPr/>
        </p:nvSpPr>
        <p:spPr>
          <a:xfrm>
            <a:off x="4389120" y="1463040"/>
            <a:ext cx="3383280" cy="46634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600" b="1">
                <a:solidFill>
                  <a:srgbClr val="1C5AA0"/>
                </a:solidFill>
              </a:defRPr>
            </a:pPr>
            <a:r>
              <a:t>2. Biological Grounding</a:t>
            </a:r>
          </a:p>
          <a:p>
            <a:pPr>
              <a:spcBef>
                <a:spcPts val="1200"/>
              </a:spcBef>
              <a:defRPr sz="1300">
                <a:solidFill>
                  <a:srgbClr val="1E293B"/>
                </a:solidFill>
              </a:defRPr>
            </a:pPr>
            <a:r>
              <a:t>Rather than treating histology images as abstract RGB pixels, Beer-Lambert optical density deconvolution anchors adaptation in true physical staining properties, discriminating physiological acellularity from sensor collapse.</a:t>
            </a:r>
          </a:p>
        </p:txBody>
      </p:sp>
      <p:sp>
        <p:nvSpPr>
          <p:cNvPr id="7" name="Rounded Rectangle 6"/>
          <p:cNvSpPr/>
          <p:nvPr/>
        </p:nvSpPr>
        <p:spPr>
          <a:xfrm>
            <a:off x="8046720" y="1463040"/>
            <a:ext cx="3383280" cy="46634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600" b="1">
                <a:solidFill>
                  <a:srgbClr val="228B22"/>
                </a:solidFill>
              </a:defRPr>
            </a:pPr>
            <a:r>
              <a:t>3. Fail-Closed Runtime Perimeter</a:t>
            </a:r>
          </a:p>
          <a:p>
            <a:pPr>
              <a:spcBef>
                <a:spcPts val="1200"/>
              </a:spcBef>
              <a:defRPr sz="1300">
                <a:solidFill>
                  <a:srgbClr val="1E293B"/>
                </a:solidFill>
              </a:defRPr>
            </a:pPr>
            <a:r>
              <a:t>PAC L_inf parameter trust regions (Δp &lt;= 0.0460) and 1.8 ms dual-buffer atomic rollbacks ensure that even adversarial target streams cannot degrade the model below its certified baseline source performance.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C5AA0"/>
                </a:solidFill>
              </a:defRPr>
            </a:pPr>
            <a:r>
              <a:t>13. LIMITATIONS</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E2B5C"/>
                </a:solidFill>
              </a:defRPr>
            </a:pPr>
            <a:r>
              <a:t>Honest Limitations and Methodological Boundary Conditions</a:t>
            </a:r>
          </a:p>
        </p:txBody>
      </p:sp>
      <p:sp>
        <p:nvSpPr>
          <p:cNvPr id="4" name="TextBox 3"/>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defRPr>
            </a:pPr>
            <a:r>
              <a:t>SafeAdapt: Geometry-Preserving Optimal Transport in Digital Pathology  |  IEEE TMI 2026  |  DOI: 10.5281/zenodo.23658430          Slide 14 of 18</a:t>
            </a:r>
          </a:p>
        </p:txBody>
      </p:sp>
      <p:sp>
        <p:nvSpPr>
          <p:cNvPr id="5" name="Rounded Rectangle 4"/>
          <p:cNvSpPr/>
          <p:nvPr/>
        </p:nvSpPr>
        <p:spPr>
          <a:xfrm>
            <a:off x="731520" y="1463040"/>
            <a:ext cx="5212080" cy="2103120"/>
          </a:xfrm>
          <a:prstGeom prst="roundRect">
            <a:avLst/>
          </a:prstGeom>
          <a:solidFill>
            <a:srgbClr val="FEF2F2"/>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500" b="1">
                <a:solidFill>
                  <a:srgbClr val="B42828"/>
                </a:solidFill>
              </a:defRPr>
            </a:pPr>
            <a:r>
              <a:t>• Multi-Step Drift Sensitivity</a:t>
            </a:r>
          </a:p>
          <a:p>
            <a:pPr>
              <a:spcBef>
                <a:spcPts val="600"/>
              </a:spcBef>
              <a:defRPr sz="1200">
                <a:solidFill>
                  <a:srgbClr val="1E293B"/>
                </a:solidFill>
              </a:defRPr>
            </a:pPr>
            <a:r>
              <a:t>SafeAdapt requires single-step adaptation (k = 1). Setting k &gt;= 5 triggers representation collapse even with selective gating, as accumulated affine drift overpowers the margin.</a:t>
            </a:r>
          </a:p>
        </p:txBody>
      </p:sp>
      <p:sp>
        <p:nvSpPr>
          <p:cNvPr id="6" name="Rounded Rectangle 5"/>
          <p:cNvSpPr/>
          <p:nvPr/>
        </p:nvSpPr>
        <p:spPr>
          <a:xfrm>
            <a:off x="6217920" y="1463040"/>
            <a:ext cx="5212080" cy="2103120"/>
          </a:xfrm>
          <a:prstGeom prst="roundRect">
            <a:avLst/>
          </a:prstGeom>
          <a:solidFill>
            <a:srgbClr val="FEF2F2"/>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500" b="1">
                <a:solidFill>
                  <a:srgbClr val="B42828"/>
                </a:solidFill>
              </a:defRPr>
            </a:pPr>
            <a:r>
              <a:t>• Class Prior Estimation</a:t>
            </a:r>
          </a:p>
          <a:p>
            <a:pPr>
              <a:spcBef>
                <a:spcPts val="600"/>
              </a:spcBef>
              <a:defRPr sz="1200">
                <a:solidFill>
                  <a:srgbClr val="1E293B"/>
                </a:solidFill>
              </a:defRPr>
            </a:pPr>
            <a:r>
              <a:t>Optimal transport requires a coarse estimate of the target class marginal prior (r). While robust to ±15% estimation errors, radical unforeseen prior shifts require adaptive estimation.</a:t>
            </a:r>
          </a:p>
        </p:txBody>
      </p:sp>
      <p:sp>
        <p:nvSpPr>
          <p:cNvPr id="7" name="Rounded Rectangle 6"/>
          <p:cNvSpPr/>
          <p:nvPr/>
        </p:nvSpPr>
        <p:spPr>
          <a:xfrm>
            <a:off x="731520" y="3840480"/>
            <a:ext cx="5212080" cy="2103120"/>
          </a:xfrm>
          <a:prstGeom prst="roundRect">
            <a:avLst/>
          </a:prstGeom>
          <a:solidFill>
            <a:srgbClr val="FEF2F2"/>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500" b="1">
                <a:solidFill>
                  <a:srgbClr val="B42828"/>
                </a:solidFill>
              </a:defRPr>
            </a:pPr>
            <a:r>
              <a:t>• Batch Size Lower Bound</a:t>
            </a:r>
          </a:p>
          <a:p>
            <a:pPr>
              <a:spcBef>
                <a:spcPts val="600"/>
              </a:spcBef>
              <a:defRPr sz="1200">
                <a:solidFill>
                  <a:srgbClr val="1E293B"/>
                </a:solidFill>
              </a:defRPr>
            </a:pPr>
            <a:r>
              <a:t>Optimal Transport Sinkhorn alignment operates over mini-batches (B &gt;= 32) to compute empirical margins; single-sample (B = 1) streaming requires running buffer memory.</a:t>
            </a:r>
          </a:p>
        </p:txBody>
      </p:sp>
      <p:sp>
        <p:nvSpPr>
          <p:cNvPr id="8" name="Rounded Rectangle 7"/>
          <p:cNvSpPr/>
          <p:nvPr/>
        </p:nvSpPr>
        <p:spPr>
          <a:xfrm>
            <a:off x="6217920" y="3840480"/>
            <a:ext cx="5212080" cy="2103120"/>
          </a:xfrm>
          <a:prstGeom prst="roundRect">
            <a:avLst/>
          </a:prstGeom>
          <a:solidFill>
            <a:srgbClr val="FEF2F2"/>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500" b="1">
                <a:solidFill>
                  <a:srgbClr val="B42828"/>
                </a:solidFill>
              </a:defRPr>
            </a:pPr>
            <a:r>
              <a:t>• Architectural Focus</a:t>
            </a:r>
          </a:p>
          <a:p>
            <a:pPr>
              <a:spcBef>
                <a:spcPts val="600"/>
              </a:spcBef>
              <a:defRPr sz="1200">
                <a:solidFill>
                  <a:srgbClr val="1E293B"/>
                </a:solidFill>
              </a:defRPr>
            </a:pPr>
            <a:r>
              <a:t>Evaluated rigorously on ResNet-18 (Camelyon17) and Faster R-CNN R50-FPN (MIDOG 2021). Deeper Vision Transformers (e.g., UNI, Virchow) are verified in code but require further compute.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C5AA0"/>
                </a:solidFill>
              </a:defRPr>
            </a:pPr>
            <a:r>
              <a:t>14. FUTURE ROADMAP</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E2B5C"/>
                </a:solidFill>
              </a:defRPr>
            </a:pPr>
            <a:r>
              <a:t>Future Work: Scaling SafeAdapt to Next-Generation Pathology AI</a:t>
            </a:r>
          </a:p>
        </p:txBody>
      </p:sp>
      <p:sp>
        <p:nvSpPr>
          <p:cNvPr id="4" name="TextBox 3"/>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defRPr>
            </a:pPr>
            <a:r>
              <a:t>SafeAdapt: Geometry-Preserving Optimal Transport in Digital Pathology  |  IEEE TMI 2026  |  DOI: 10.5281/zenodo.23658430          Slide 15 of 18</a:t>
            </a:r>
          </a:p>
        </p:txBody>
      </p:sp>
      <p:sp>
        <p:nvSpPr>
          <p:cNvPr id="5" name="Rounded Rectangle 4"/>
          <p:cNvSpPr/>
          <p:nvPr/>
        </p:nvSpPr>
        <p:spPr>
          <a:xfrm>
            <a:off x="731520" y="1463040"/>
            <a:ext cx="5212080" cy="46634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600" b="1">
                <a:solidFill>
                  <a:srgbClr val="0E2B5C"/>
                </a:solidFill>
              </a:defRPr>
            </a:pPr>
            <a:r>
              <a:t>Technical Roadmap</a:t>
            </a:r>
          </a:p>
          <a:p>
            <a:pPr>
              <a:spcBef>
                <a:spcPts val="1000"/>
              </a:spcBef>
              <a:defRPr sz="1300">
                <a:solidFill>
                  <a:srgbClr val="1E293B"/>
                </a:solidFill>
              </a:defRPr>
            </a:pPr>
            <a:r>
              <a:t>• Pathology Foundation Models:</a:t>
            </a:r>
            <a:br/>
            <a:r>
              <a:t>   Extend SafeAdapt-OT to gigapixel vision transformers (UNI, Prov-GigaPath, Virchow) to adapt self-supervised patch tokens.</a:t>
            </a:r>
            <a:br/>
            <a:br/>
            <a:r>
              <a:t>• Online Prior Estimation:</a:t>
            </a:r>
            <a:br/>
            <a:r>
              <a:t>   Implement Bayesian Dirichlet-multinomial tracking to dynamically infer target marginals r_t during continuous streaming.</a:t>
            </a:r>
            <a:br/>
            <a:br/>
            <a:r>
              <a:t>• Multi-Organ Generalization:</a:t>
            </a:r>
            <a:br/>
            <a:r>
              <a:t>   Validate across colorectal, prostate, and breast biopsies.</a:t>
            </a:r>
          </a:p>
        </p:txBody>
      </p:sp>
      <p:sp>
        <p:nvSpPr>
          <p:cNvPr id="6" name="Rounded Rectangle 5"/>
          <p:cNvSpPr/>
          <p:nvPr/>
        </p:nvSpPr>
        <p:spPr>
          <a:xfrm>
            <a:off x="6217920" y="1463040"/>
            <a:ext cx="5212080" cy="46634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74320" tIns="274320" rtlCol="0" anchor="ctr"/>
          <a:lstStyle/>
          <a:p>
            <a:pPr algn="ctr">
              <a:defRPr sz="1600" b="1">
                <a:solidFill>
                  <a:srgbClr val="0E2B5C"/>
                </a:solidFill>
              </a:defRPr>
            </a:pPr>
            <a:r>
              <a:t>Clinical Translation</a:t>
            </a:r>
          </a:p>
          <a:p>
            <a:pPr>
              <a:spcBef>
                <a:spcPts val="1000"/>
              </a:spcBef>
              <a:defRPr sz="1300">
                <a:solidFill>
                  <a:srgbClr val="1E293B"/>
                </a:solidFill>
              </a:defRPr>
            </a:pPr>
            <a:r>
              <a:t>• Scanner-Side Firmware Integration:</a:t>
            </a:r>
            <a:br/>
            <a:r>
              <a:t>   Partnering to embed SafeAdapt directly into whole-slide scanner processing engines (e.g., Philips, Hamamatsu) for real-time inference during image acquisition.</a:t>
            </a:r>
            <a:br/>
            <a:br/>
            <a:r>
              <a:t>• Multiplex Staining Pipelines:</a:t>
            </a:r>
            <a:br/>
            <a:r>
              <a:t>   Evaluate adaptation on immunohistochemical (IHC) markers and multiplex fluorescence cohorts.</a:t>
            </a:r>
            <a:br/>
            <a:br/>
            <a:r>
              <a:t>• Regulatory Engagement:</a:t>
            </a:r>
            <a:br/>
            <a:r>
              <a:t>   Formulating certified safety dossiers for FDA SaMD clearance.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C5AA0"/>
                </a:solidFill>
              </a:defRPr>
            </a:pPr>
            <a:r>
              <a:t>15. CONCLUSION</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E2B5C"/>
                </a:solidFill>
              </a:defRPr>
            </a:pPr>
            <a:r>
              <a:t>Conclusion: Transforming TTA into a Certified Clinical Reality</a:t>
            </a:r>
          </a:p>
        </p:txBody>
      </p:sp>
      <p:sp>
        <p:nvSpPr>
          <p:cNvPr id="4" name="TextBox 3"/>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defRPr>
            </a:pPr>
            <a:r>
              <a:t>SafeAdapt: Geometry-Preserving Optimal Transport in Digital Pathology  |  IEEE TMI 2026  |  DOI: 10.5281/zenodo.23658430          Slide 16 of 18</a:t>
            </a:r>
          </a:p>
        </p:txBody>
      </p:sp>
      <p:sp>
        <p:nvSpPr>
          <p:cNvPr id="5" name="Rounded Rectangle 4"/>
          <p:cNvSpPr/>
          <p:nvPr/>
        </p:nvSpPr>
        <p:spPr>
          <a:xfrm>
            <a:off x="731520" y="1463040"/>
            <a:ext cx="10698480" cy="4663440"/>
          </a:xfrm>
          <a:prstGeom prst="roundRect">
            <a:avLst/>
          </a:prstGeom>
          <a:solidFill>
            <a:srgbClr val="F0FDF4"/>
          </a:solidFill>
          <a:ln w="19050">
            <a:solidFill>
              <a:srgbClr val="228B22"/>
            </a:solidFill>
          </a:ln>
        </p:spPr>
        <p:style>
          <a:lnRef idx="1">
            <a:schemeClr val="accent1"/>
          </a:lnRef>
          <a:fillRef idx="3">
            <a:schemeClr val="accent1"/>
          </a:fillRef>
          <a:effectRef idx="2">
            <a:schemeClr val="accent1"/>
          </a:effectRef>
          <a:fontRef idx="minor">
            <a:schemeClr val="lt1"/>
          </a:fontRef>
        </p:style>
        <p:txBody>
          <a:bodyPr lIns="365760" tIns="365760" rtlCol="0" anchor="ctr"/>
          <a:lstStyle/>
          <a:p>
            <a:pPr algn="ctr">
              <a:defRPr sz="1400" b="1">
                <a:solidFill>
                  <a:srgbClr val="228B22"/>
                </a:solidFill>
              </a:defRPr>
            </a:pPr>
            <a:r>
              <a:t>SUMMARY OF RESEARCH ACHIEVEMENTS</a:t>
            </a:r>
          </a:p>
          <a:p>
            <a:pPr>
              <a:spcBef>
                <a:spcPts val="1200"/>
              </a:spcBef>
              <a:defRPr sz="1300">
                <a:solidFill>
                  <a:srgbClr val="1E293B"/>
                </a:solidFill>
              </a:defRPr>
            </a:pPr>
            <a:r>
              <a:t>• The Discovery: Unconstrained entropy minimization collapses on 40% of random seeds in digital pathology, and MC-Dropout uncertainty is mathematically redundant with softmax confidence (ρ = -0.9917).</a:t>
            </a:r>
          </a:p>
          <a:p>
            <a:pPr>
              <a:spcBef>
                <a:spcPts val="1200"/>
              </a:spcBef>
              <a:defRPr sz="1300">
                <a:solidFill>
                  <a:srgbClr val="1E293B"/>
                </a:solidFill>
              </a:defRPr>
            </a:pPr>
            <a:r>
              <a:t>• The Solution: SafeAdapt couples Entropic Optimal Transport marginal constraints (Q^T 1_B = r) with Beer-Lambert tissue gating and PAC L_inf parameter trust regions.</a:t>
            </a:r>
          </a:p>
          <a:p>
            <a:pPr>
              <a:spcBef>
                <a:spcPts val="1200"/>
              </a:spcBef>
              <a:defRPr sz="1300">
                <a:solidFill>
                  <a:srgbClr val="1E293B"/>
                </a:solidFill>
              </a:defRPr>
            </a:pPr>
            <a:r>
              <a:t>• The Clinical Impact: Elevates 5-seed cohort performance to 0.9495 AUROC (p = 0.0312), completely reverses collapse on outlier Slide 29 (0.0521 -&gt; 0.9324), eliminates 14 false alarms on MIDOG, and slashes harmful adaptation by &gt;100x (0.18%).</a:t>
            </a:r>
          </a:p>
          <a:p>
            <a:pPr>
              <a:spcBef>
                <a:spcPts val="1200"/>
              </a:spcBef>
              <a:defRPr sz="1300">
                <a:solidFill>
                  <a:srgbClr val="1E293B"/>
                </a:solidFill>
              </a:defRPr>
            </a:pPr>
            <a:r>
              <a:t>• The Paradigm Shift: SafeAdapt proves that test-time adaptation can transition from an unpredictable empirical gamble into a mathematically certified, clinically deployable reality.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1C5AA0"/>
                </a:solidFill>
              </a:defRPr>
            </a:pPr>
            <a:r>
              <a:t>16. KEY TAKEAWAYS</a:t>
            </a:r>
          </a:p>
        </p:txBody>
      </p:sp>
      <p:sp>
        <p:nvSpPr>
          <p:cNvPr id="3" name="TextBox 2"/>
          <p:cNvSpPr txBox="1"/>
          <p:nvPr/>
        </p:nvSpPr>
        <p:spPr>
          <a:xfrm>
            <a:off x="731520" y="640080"/>
            <a:ext cx="10698480" cy="731520"/>
          </a:xfrm>
          <a:prstGeom prst="rect">
            <a:avLst/>
          </a:prstGeom>
          <a:noFill/>
        </p:spPr>
        <p:txBody>
          <a:bodyPr wrap="square" lIns="0" tIns="0" rIns="0" bIns="0">
            <a:spAutoFit/>
          </a:bodyPr>
          <a:lstStyle/>
          <a:p>
            <a:pPr>
              <a:defRPr sz="2200" b="1">
                <a:solidFill>
                  <a:srgbClr val="0E2B5C"/>
                </a:solidFill>
              </a:defRPr>
            </a:pPr>
            <a:r>
              <a:t>Three Key Takeaways for Machine Learning Researchers and Clinicians</a:t>
            </a:r>
          </a:p>
        </p:txBody>
      </p:sp>
      <p:sp>
        <p:nvSpPr>
          <p:cNvPr id="4" name="TextBox 3"/>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defRPr>
            </a:pPr>
            <a:r>
              <a:t>SafeAdapt: Geometry-Preserving Optimal Transport in Digital Pathology  |  IEEE TMI 2026  |  DOI: 10.5281/zenodo.23658430          Slide 17 of 18</a:t>
            </a:r>
          </a:p>
        </p:txBody>
      </p:sp>
      <p:sp>
        <p:nvSpPr>
          <p:cNvPr id="5" name="Rounded Rectangle 4"/>
          <p:cNvSpPr/>
          <p:nvPr/>
        </p:nvSpPr>
        <p:spPr>
          <a:xfrm>
            <a:off x="731520" y="1463040"/>
            <a:ext cx="10698480" cy="12801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28600" tIns="228600" rtlCol="0" anchor="ctr"/>
          <a:lstStyle/>
          <a:p>
            <a:pPr algn="ctr">
              <a:defRPr sz="1500" b="1">
                <a:solidFill>
                  <a:srgbClr val="0E2B5C"/>
                </a:solidFill>
              </a:defRPr>
            </a:pPr>
            <a:r>
              <a:t>1. Attractor Collapse is a Solvable Geometric Defect</a:t>
            </a:r>
          </a:p>
          <a:p>
            <a:pPr>
              <a:spcBef>
                <a:spcPts val="400"/>
              </a:spcBef>
              <a:defRPr sz="1200">
                <a:solidFill>
                  <a:srgbClr val="1E293B"/>
                </a:solidFill>
              </a:defRPr>
            </a:pPr>
            <a:r>
              <a:t>Entropy minimization collapses because it lacks marginal constraints; Entropic Optimal Transport guarantees balanced class allocation by solving Q^T 1_B = r.</a:t>
            </a:r>
          </a:p>
        </p:txBody>
      </p:sp>
      <p:sp>
        <p:nvSpPr>
          <p:cNvPr id="6" name="Rounded Rectangle 5"/>
          <p:cNvSpPr/>
          <p:nvPr/>
        </p:nvSpPr>
        <p:spPr>
          <a:xfrm>
            <a:off x="731520" y="3017520"/>
            <a:ext cx="10698480" cy="12801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28600" tIns="228600" rtlCol="0" anchor="ctr"/>
          <a:lstStyle/>
          <a:p>
            <a:pPr algn="ctr">
              <a:defRPr sz="1500" b="1">
                <a:solidFill>
                  <a:srgbClr val="1C5AA0"/>
                </a:solidFill>
              </a:defRPr>
            </a:pPr>
            <a:r>
              <a:t>2. MC-Dropout Uncertainty is Unnecessary in 1D Heads</a:t>
            </a:r>
          </a:p>
          <a:p>
            <a:pPr>
              <a:spcBef>
                <a:spcPts val="400"/>
              </a:spcBef>
              <a:defRPr sz="1200">
                <a:solidFill>
                  <a:srgbClr val="1E293B"/>
                </a:solidFill>
              </a:defRPr>
            </a:pPr>
            <a:r>
              <a:t>First-order Taylor expansion proves predictive variance is rank-equivalent to softmax confidence (ρ = -0.9917). Eliminate it to save 3.55x computational inference penalty.</a:t>
            </a:r>
          </a:p>
        </p:txBody>
      </p:sp>
      <p:sp>
        <p:nvSpPr>
          <p:cNvPr id="7" name="Rounded Rectangle 6"/>
          <p:cNvSpPr/>
          <p:nvPr/>
        </p:nvSpPr>
        <p:spPr>
          <a:xfrm>
            <a:off x="731520" y="4572000"/>
            <a:ext cx="10698480" cy="128016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lIns="228600" tIns="228600" rtlCol="0" anchor="ctr"/>
          <a:lstStyle/>
          <a:p>
            <a:pPr algn="ctr">
              <a:defRPr sz="1500" b="1">
                <a:solidFill>
                  <a:srgbClr val="228B22"/>
                </a:solidFill>
              </a:defRPr>
            </a:pPr>
            <a:r>
              <a:t>3. Fail-Closed Safeguards are Mandatory for Patient Safety</a:t>
            </a:r>
          </a:p>
          <a:p>
            <a:pPr>
              <a:spcBef>
                <a:spcPts val="400"/>
              </a:spcBef>
              <a:defRPr sz="1200">
                <a:solidFill>
                  <a:srgbClr val="1E293B"/>
                </a:solidFill>
              </a:defRPr>
            </a:pPr>
            <a:r>
              <a:t>Parameter displacement bounding (||Δθ||_inf &lt;= 0.05), Beer-Lambert cellularity gating, and episodic per-WSI resets are non-negotiable requirements for patient diagnostic isolation.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914400"/>
            <a:ext cx="10698480" cy="1463040"/>
          </a:xfrm>
          <a:prstGeom prst="rect">
            <a:avLst/>
          </a:prstGeom>
          <a:noFill/>
        </p:spPr>
        <p:txBody>
          <a:bodyPr wrap="square">
            <a:spAutoFit/>
          </a:bodyPr>
          <a:lstStyle/>
          <a:p>
            <a:pPr>
              <a:defRPr sz="3200" b="1">
                <a:solidFill>
                  <a:srgbClr val="FFFFFF"/>
                </a:solidFill>
              </a:defRPr>
            </a:pPr>
            <a:r>
              <a:t>Thank You! Questions &amp; Discussion</a:t>
            </a:r>
          </a:p>
          <a:p>
            <a:pPr>
              <a:spcBef>
                <a:spcPts val="800"/>
              </a:spcBef>
              <a:defRPr sz="1600">
                <a:solidFill>
                  <a:srgbClr val="38BDF8"/>
                </a:solidFill>
              </a:defRPr>
            </a:pPr>
            <a:r>
              <a:t>SafeAdapt: Clinically Safe Test-Time Adaptation in Digital Pathology</a:t>
            </a:r>
          </a:p>
        </p:txBody>
      </p:sp>
      <p:sp>
        <p:nvSpPr>
          <p:cNvPr id="4" name="Rounded Rectangle 3"/>
          <p:cNvSpPr/>
          <p:nvPr/>
        </p:nvSpPr>
        <p:spPr>
          <a:xfrm>
            <a:off x="731520" y="2743200"/>
            <a:ext cx="5212080" cy="3200400"/>
          </a:xfrm>
          <a:prstGeom prst="roundRect">
            <a:avLst/>
          </a:prstGeom>
          <a:solidFill>
            <a:srgbClr val="173A72"/>
          </a:solidFill>
          <a:ln w="19050">
            <a:solidFill>
              <a:srgbClr val="264E8E"/>
            </a:solidFill>
          </a:ln>
        </p:spPr>
        <p:style>
          <a:lnRef idx="1">
            <a:schemeClr val="accent1"/>
          </a:lnRef>
          <a:fillRef idx="3">
            <a:schemeClr val="accent1"/>
          </a:fillRef>
          <a:effectRef idx="2">
            <a:schemeClr val="accent1"/>
          </a:effectRef>
          <a:fontRef idx="minor">
            <a:schemeClr val="lt1"/>
          </a:fontRef>
        </p:style>
        <p:txBody>
          <a:bodyPr lIns="320040" tIns="320040" rtlCol="0" anchor="ctr"/>
          <a:lstStyle/>
          <a:p>
            <a:pPr algn="ctr">
              <a:defRPr sz="1300" b="1">
                <a:solidFill>
                  <a:srgbClr val="38BDF8"/>
                </a:solidFill>
              </a:defRPr>
            </a:pPr>
            <a:r>
              <a:t>RESEARCH TEAM &amp; CONTACTS</a:t>
            </a:r>
          </a:p>
          <a:p>
            <a:pPr>
              <a:spcBef>
                <a:spcPts val="1000"/>
              </a:spcBef>
              <a:defRPr sz="1200">
                <a:solidFill>
                  <a:srgbClr val="E2E8F0"/>
                </a:solidFill>
              </a:defRPr>
            </a:pPr>
            <a:r>
              <a:t>Avinash Reddy Cheerapareddy</a:t>
            </a:r>
            <a:br/>
            <a:r>
              <a:t>avinashreddy_cheerapareddy@srmap.edu.in</a:t>
            </a:r>
            <a:br/>
            <a:br/>
            <a:r>
              <a:t>Gunnam Sanjana</a:t>
            </a:r>
            <a:br/>
            <a:r>
              <a:t>sanjana_gunnam@srmap.edu.in</a:t>
            </a:r>
            <a:br/>
            <a:br/>
            <a:r>
              <a:t>Department of Computer Science and Engineering</a:t>
            </a:r>
            <a:br/>
            <a:r>
              <a:t>SRM University-AP, Amaravati, Andhra Pradesh, India</a:t>
            </a:r>
          </a:p>
        </p:txBody>
      </p:sp>
      <p:sp>
        <p:nvSpPr>
          <p:cNvPr id="5" name="Rounded Rectangle 4"/>
          <p:cNvSpPr/>
          <p:nvPr/>
        </p:nvSpPr>
        <p:spPr>
          <a:xfrm>
            <a:off x="6217920" y="2743200"/>
            <a:ext cx="5212080" cy="3200400"/>
          </a:xfrm>
          <a:prstGeom prst="roundRect">
            <a:avLst/>
          </a:prstGeom>
          <a:solidFill>
            <a:srgbClr val="173A72"/>
          </a:solidFill>
          <a:ln w="19050">
            <a:solidFill>
              <a:srgbClr val="264E8E"/>
            </a:solidFill>
          </a:ln>
        </p:spPr>
        <p:style>
          <a:lnRef idx="1">
            <a:schemeClr val="accent1"/>
          </a:lnRef>
          <a:fillRef idx="3">
            <a:schemeClr val="accent1"/>
          </a:fillRef>
          <a:effectRef idx="2">
            <a:schemeClr val="accent1"/>
          </a:effectRef>
          <a:fontRef idx="minor">
            <a:schemeClr val="lt1"/>
          </a:fontRef>
        </p:style>
        <p:txBody>
          <a:bodyPr lIns="320040" tIns="320040" rtlCol="0" anchor="ctr"/>
          <a:lstStyle/>
          <a:p>
            <a:pPr algn="ctr">
              <a:defRPr sz="1300" b="1">
                <a:solidFill>
                  <a:srgbClr val="38BDF8"/>
                </a:solidFill>
              </a:defRPr>
            </a:pPr>
            <a:r>
              <a:t>OPEN-SOURCE REPRODUCIBILITY</a:t>
            </a:r>
          </a:p>
          <a:p>
            <a:pPr>
              <a:spcBef>
                <a:spcPts val="1000"/>
              </a:spcBef>
              <a:defRPr sz="1200">
                <a:solidFill>
                  <a:srgbClr val="E2E8F0"/>
                </a:solidFill>
              </a:defRPr>
            </a:pPr>
            <a:r>
              <a:t>• Official Zenodo Archive:</a:t>
            </a:r>
            <a:br/>
            <a:r>
              <a:t>   https://doi.org/10.5281/zenodo.23658430</a:t>
            </a:r>
            <a:br/>
            <a:br/>
            <a:r>
              <a:t>• GitHub Repository:</a:t>
            </a:r>
            <a:br/>
            <a:r>
              <a:t>   https://github.com/Avirech7676/UTTA-Med</a:t>
            </a:r>
            <a:br/>
            <a:br/>
            <a:r>
              <a:t>• Bit-Exact Verification: 57/57 Passed</a:t>
            </a:r>
            <a:br/>
            <a:r>
              <a:t>• Automated Pytest Suite: 148 Passed Unit Tests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3963</Words>
  <Application>Microsoft Office PowerPoint</Application>
  <PresentationFormat>Widescreen</PresentationFormat>
  <Paragraphs>193</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AVINASH REDDY</cp:lastModifiedBy>
  <cp:revision>1</cp:revision>
  <dcterms:created xsi:type="dcterms:W3CDTF">2013-01-27T09:14:16Z</dcterms:created>
  <dcterms:modified xsi:type="dcterms:W3CDTF">2026-10-27T06:50:55Z</dcterms:modified>
  <cp:category/>
</cp:coreProperties>
</file>