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Respected committee members, faculty, and examiners: Good morning. My name is Avinash Reddy Cheerapareddy, and today I am presenting our research: SafeAdapt: Robust Test-Time Adaptation via Optimal Transport and Conformal Risk Control in Digital Pathology. In clinical medicine, AI models perform well in the development lab, but the moment they are deployed to a new hospital, scanner variations and stain differences cause severe diagnostic failure. We introduce SafeAdapt, a fail-closed architecture that adapts models in real time during scanning without ground-truth labels and with certified safety.</a:t>
            </a:r>
          </a:p>
          <a:p/>
          <a:p>
            <a:r>
              <a:t>REAL-WORLD ANALOGY:</a:t>
            </a:r>
          </a:p>
          <a:p>
            <a:r>
              <a:t>Think of a self-driving car tuned exclusively for sunny California roads. When shipped to Chicago in a snowstorm, it encounters ice and snow. If it refuses to adapt, it crashes. But if it tries to adapt blindly without guardrails, it hallucinates lane markers and steers off a bridge. SafeAdapt provides an intelligent co-pilot and an automatic emergency brake for clinical AI.</a:t>
            </a:r>
          </a:p>
          <a:p/>
          <a:p>
            <a:r>
              <a:t>KEY HIGHLIGHTS: +14.2% AUROC gain, 0.0% collapse rate, and 1.8 ms GPU rollback.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In digital pathology, cancer diagnosis begins by digitizing tissue slices into multi-gigabyte Whole-Slide Images. Across hospitals, hardware digitizers (Hamamatsu, Philips, Leica), lens calibrations, and chemical staining concentrations vary significantly. A model trained at Radboud University achieving over 0.98 AUROC plummets to 0.73 AUROC when tested at CWZ or UMC Utrecht. Crucially, the model does not express uncertainty—it fails silently with high confidence on misclassified tissue.</a:t>
            </a:r>
          </a:p>
          <a:p/>
          <a:p>
            <a:r>
              <a:t>REAL-WORLD ANALOGY:</a:t>
            </a:r>
          </a:p>
          <a:p>
            <a:r>
              <a:t>Imagine an expert human pathologist walking into a clinic where lights are tinted deep yellow and the microscope lenses are tinted blue. The human doctor pauses, adjusts their mental color balance, and continues diagnosing accurately. But a standard computer vision model trained on exact RGB values looks at the same image and thinks it is an alien planet—a 10% shift in dye concentration completely blinds the AI.</a:t>
            </a:r>
          </a:p>
          <a:p/>
          <a:p>
            <a:r>
              <a:t>KEY HIGHLIGHTS: AUROC drop from &gt;0.98 to 0.73 across centers; 3-5 µm slice thickness variability.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In computer vision, the standard technique to adapt models during inference is Test-Time Adaptation, like Tent or EATA, which minimize Shannon prediction entropy. In digital pathology, this logic is fatal. Extreme stain shifts produce moderate entropy on false predictions; forcing entropy down reinforces the wrong class assignments. This creates an unsupervised feedback loop that pulls all feature embeddings into a single degenerate 'attractor state'. On CAMELYON17 Center 4, Tent collapsed on 40% of slides, driving cancer detection F1 down to 0.05.</a:t>
            </a:r>
          </a:p>
          <a:p/>
          <a:p>
            <a:r>
              <a:t>REAL-WORLD ANALOGY:</a:t>
            </a:r>
          </a:p>
          <a:p>
            <a:r>
              <a:t>The Echo Chamber / Overconfident Medical Intern: Imagine a junior intern who misidentifies normal tissue as cancer. If the attending physician says, 'Whatever you do, be 100% decisive!', the intern assumes their mistake was correct and becomes aggressively overconfident. In the next room, they repeat the error with even higher confidence. Within two hours, the intern diagnoses every single patient on the floor with cancer. That is what entropy minimization does.</a:t>
            </a:r>
          </a:p>
          <a:p/>
          <a:p>
            <a:r>
              <a:t>KEY HIGHLIGHTS: 40.0% collapse rate on CAMELYON17; complete loss of diagnostic margins on Slide 29.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In Proposition 1, we prove the theoretical root cause: the Variance-Confidence Paradox. Through a second-order Taylor expansion, predictive variance depends directly on the logit gradient, which scales as p * (1 - p). As confidence approaches 1, this gradient vanishes quadratically! We measured the empirical rank correlation between epistemic weight variance (via MC-Dropout) and entropy: Spearman rho is -0.9917. The model outputs 99.8% confidence precisely when its epistemic uncertainty is at its maximum! That is why scalar confidence filters fail.</a:t>
            </a:r>
          </a:p>
          <a:p/>
          <a:p>
            <a:r>
              <a:t>REAL-WORLD ANALOGY:</a:t>
            </a:r>
          </a:p>
          <a:p>
            <a:r>
              <a:t>The Dunning-Kruger Effect on an Exam: A student sits for a medical board exam without studying. Instead of leaving blanks, they mark option 'B' on all 200 questions with 100% confidence. Their predictive entropy is zero—they are totally decisive. But their actual knowledge is zero. If a system only checks how confident the student is, it gives them top marks for decisiveness while they fail the exam.</a:t>
            </a:r>
          </a:p>
          <a:p/>
          <a:p>
            <a:r>
              <a:t>KEY HIGHLIGHTS: Spearman rho = -0.9917; vanishing gradient formula grad p = p(1-p) grad 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Here is our proposed solution: SafeAdapt. SafeAdapt replaces uncontrolled entropy minimization with four interlocking safeguards: 1) A Dual-Stream feature extractor pairing a frozen source anchor with an adaptive student; 2) Sinkhorn Optimal Transport to align feature marginals without label feedback; 3) Cross-Attention Memory Routing (CMR) to isolate staining artifacts into a slack channel; and 4) Finite-Sample Conformal Risk Control that triggers an instantaneous 1.8 ms GPU rollback if parameter drift breaches safety limits.</a:t>
            </a:r>
          </a:p>
          <a:p/>
          <a:p>
            <a:r>
              <a:t>REAL-WORLD ANALOGY:</a:t>
            </a:r>
          </a:p>
          <a:p>
            <a:r>
              <a:t>Commercial Airliner Dual-Pilot Cockpit: You have a senior Captain (the frozen anchor) who knows the flight envelope. You have a First Officer (the adaptive student) who flies the plane and adjusts for wind shear. A flight computer (CMR) ignores weather radar noise. And an envelope protection system steps in: if the co-pilot banks the plane beyond 30 degrees, the flight computer instantly takes control and levels the wings.</a:t>
            </a:r>
          </a:p>
          <a:p/>
          <a:p>
            <a:r>
              <a:t>KEY HIGHLIGHTS: 4-stage pipeline; Dual-Stream separation of Frozen Anchor vs. Adaptive Student.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Mechanism 1 replaces entropy minimization with Sinkhorn Optimal Transport. We compute the Wasserstein distance between incoming patch embeddings and a prototype dictionary of tissue classes. By enforcing uniform column marginal constraints, the optimal transport plan must allocate features across classes in balanced proportions. Even if a slide has 99% normal tissue, the uniform marginal constraint makes it mathematically impossible for the network to collapse into a single class attractor. It converges in under 5 matrix-vector multiplications in less than 0.4 ms on GPU.</a:t>
            </a:r>
          </a:p>
          <a:p/>
          <a:p>
            <a:r>
              <a:t>REAL-WORLD ANALOGY:</a:t>
            </a:r>
          </a:p>
          <a:p>
            <a:r>
              <a:t>Fair Logistics Dispatcher: If a regional dispatcher has 100 trucks and 5 warehouses, an uncontrolled system might route all 100 trucks to one warehouse because it's slightly closer, causing massive gridlock. Sinkhorn Optimal Transport enforces strict capacity constraints: Warehouse 1 takes 20 trucks, Warehouse 2 takes 20, guaranteeing efficient matching while preventing systemic overload.</a:t>
            </a:r>
          </a:p>
          <a:p/>
          <a:p>
            <a:r>
              <a:t>KEY HIGHLIGHTS: &lt;0.4 ms GPU execution; +8.1% AUROC gain from OT alignment alone.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Mechanism 2 is Cross-Attention Memory-Augmented Routing (CMR). Clinical slides contain pen marks (surgical ink), tissue folds, air bubbles under the coverslip, and cautery burns. A standard model confuses dark ink with aggressive tumor pigment, corrupting its updates. CMR maintains an episodic memory bank of validated source features. When streaming patches have near-zero cosine similarity with real tissue, CMR routes them into an explicit slack prototype channel, preventing distorted gradients from polluting diagnostic prototypes.</a:t>
            </a:r>
          </a:p>
          <a:p/>
          <a:p>
            <a:r>
              <a:t>REAL-WORLD ANALOGY:</a:t>
            </a:r>
          </a:p>
          <a:p>
            <a:r>
              <a:t>Security Bouncer with a VIP Coatroom: At an exclusive medical conference, only badge-holding oncologists are allowed to vote. If someone walks in off the street in a costume (surgical ink or an air bubble), the bouncer courteously steers them into the coatroom lounge (the slack channel). They can stay there safely, but they cannot vote on clinical decisions.</a:t>
            </a:r>
          </a:p>
          <a:p/>
          <a:p>
            <a:r>
              <a:t>KEY HIGHLIGHTS: -38.4% false-positive patch activations; +2.2% AUROC boost.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Mechanism 3 provides statistical safety via Finite-Sample Conformal Risk Control (Theorem 1). We compute non-conformity scores on streaming batches to bound clinical risk: P(R(theta_t) &lt;= alpha) &gt;= 1 - delta. This holds strictly without parametric assumptions on target scanners. We track the moving variance of conformal p-values. If empirical risk breaches alpha = 0.05, the adaptation controller trips a safety interlock, restoring anchor parameters theta_0 in 1.8 milliseconds from GPU memory without stalling the WSI queue.</a:t>
            </a:r>
          </a:p>
          <a:p/>
          <a:p>
            <a:r>
              <a:t>REAL-WORLD ANALOGY:</a:t>
            </a:r>
          </a:p>
          <a:p>
            <a:r>
              <a:t>High-Speed Factory Circuit Breaker: In a bottling plant, if an infrared sensor detects bottle caps deviating by 0.5 mm, an ultra-fast arm diverts the defective bottle in 2 ms while the main conveyor belt keeps running at full speed. Our conformal rollback detects parameter drift before diagnostic harm occurs and resets weights in 1.8 milliseconds.</a:t>
            </a:r>
          </a:p>
          <a:p/>
          <a:p>
            <a:r>
              <a:t>KEY HIGHLIGHTS: Theorem 1 distribution-free bound; 1.8 ms sub-frame rollback.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To rigorously evaluate SafeAdapt, we benchmarked across two premier multicenter datasets: CAMELYON17 (50 whole slides across 5 university medical centers in the Netherlands: Radboud, Utrecht, Rijnstate, CWZ, Groningen) and MIDOG 2021 (cross-scanner mitosis detection across 4 digitizers and multi-species tissue). We compared against 8 baselines spanning classical TTA (Tent, EATA, SAR), continual TTA (CoTTA, RoTTA), and augmentation (MEMO), across 5 random seeds to capture non-deterministic collapse.</a:t>
            </a:r>
          </a:p>
          <a:p/>
          <a:p>
            <a:r>
              <a:t>REAL-WORLD ANALOGY:</a:t>
            </a:r>
          </a:p>
          <a:p>
            <a:r>
              <a:t>Multi-Center Drug Clinical Trials: If a pharmaceutical company tests a drug only on 20 healthy volunteers in their own lab, the FDA rejects it. A real clinical trial must test across 5 independent hospitals with diverse patient populations. CAMELYON17 represents a true multi-center trial across 5 hospital systems to ensure our AI works across any hospital scanner.</a:t>
            </a:r>
          </a:p>
          <a:p/>
          <a:p>
            <a:r>
              <a:t>KEY HIGHLIGHTS: 5 independent university medical centers; 8 competing adaptation baselines.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Here are the headline results on CAMELYON17 (Table I). Unadapted ResNet achieves 0.8312 AUROC. Standard Tent collapses to 0.7645 AUROC with 40.0% collapse rate and 0.2810 calibration error. Baselines like EATA, SAR, and RoTTA reach 0.85-0.87 AUROC but still suffer 10-20% collapse. SafeAdapt establishes a new state-of-the-art: 0.9495 AUROC, the lowest Expected Calibration Error of 0.0418, and exactly 0.0% catastrophic collapse. In the Pareto plot, SafeAdapt dominates the top-left ideal frontier.</a:t>
            </a:r>
          </a:p>
          <a:p/>
          <a:p>
            <a:r>
              <a:t>REAL-WORLD ANALOGY:</a:t>
            </a:r>
          </a:p>
          <a:p>
            <a:r>
              <a:t>The 4 out of 10 Failure Rate: Imagine a car dealer saying, 'This car drives wonderfully on 6 out of 10 trips, but on 4 out of 10 trips, the steering locks up and you crash.' No hospital would allow that algorithm in their lab. SafeAdapt is the only framework that achieves a 0.0% failure rate across all 50 patient whole slides while delivering a +14.2% diagnostic boost.</a:t>
            </a:r>
          </a:p>
          <a:p/>
          <a:p>
            <a:r>
              <a:t>KEY HIGHLIGHTS: 0.9495 AUROC (SOTA); 0.0% Collapse Rate vs. 40.0% in Tent; 0.0418 ECE.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Let us examine Patient Slide 29—a slide with dark hematoxylin stain drift and sparse micrometastasis (&lt;2% tumor). In Panel B, standard Tent collapsed into an attractor state where all features mapped to a single point, dropping AUROC to 0.5120 (coin-flip chance) and missing metastatic cancer. In Panel C, SafeAdapt's conformal monitor detected drift at batch 14, executed a 1.8 ms rollback, and used Optimal Transport to align features. Normal stroma and metastatic carcinoma clusters are cleanly separated, recovering 0.9324 AUROC.</a:t>
            </a:r>
          </a:p>
          <a:p/>
          <a:p>
            <a:r>
              <a:t>REAL-WORLD ANALOGY:</a:t>
            </a:r>
          </a:p>
          <a:p>
            <a:r>
              <a:t>The Needle in a Haystack: A patient has tiny breast cancer spread in a massive lymph node. Because 98% of the slide is healthy, an uncontrolled AI takes the easy shortcut: it decides everything is healthy to maximize its confidence score, telling the patient they are cancer-free when they are not! SafeAdapt prevents the AI from taking that lazy, dangerous shortcut.</a:t>
            </a:r>
          </a:p>
          <a:p/>
          <a:p>
            <a:r>
              <a:t>KEY HIGHLIGHTS: 0.5120 AUROC (Tent collapse) vs. 0.9324 AUROC (SafeAdapt recovery); rollback at batch 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In MIDOG 2021, models must detect mitotic figures across 4 scanner types and multiple species. The mitotic count dictates whether a patient needs chemotherapy. Under stain drift, dying apoptotic cells and debris look like dividing cells. Under Tent, false alarms exploded, driving precision down to 0.2710 and F1 down to 0.3245. SafeAdapt's CMR slack channel routed hyperchromatic debris away, boosting precision to 0.5284 (+38.7% over source) and achieving the top F1-score of 0.5172 (+25.5% relative gain).</a:t>
            </a:r>
          </a:p>
          <a:p/>
          <a:p>
            <a:r>
              <a:t>REAL-WORLD ANALOGY:</a:t>
            </a:r>
          </a:p>
          <a:p>
            <a:r>
              <a:t>Distinguishing a Firefly from a Campfire Ember: A forest ranger wants to count fireflies at night. Under a full moon, glowing campfire sparks look just like fireflies. An untrained AI counts every spark, inflating the count tenfold. CMR acts like a spectral filter that filters out the sparks, ensuring the oncologist gets an honest, uncorrupted count of dividing cancer cells.</a:t>
            </a:r>
          </a:p>
          <a:p/>
          <a:p>
            <a:r>
              <a:t>KEY HIGHLIGHTS: 0.5172 F1-score; 0.5284 Precision (+38.7% over unadapted baseline).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We stress-tested SafeAdapt across four extreme clinical boundary regimes: 1) Single-patch streaming (B=1): our FIFO buffer maintains 0.9412 AUROC without batch collapse; 2) Purely benign slides (0.0% tumor): in routine screening, &gt;80% of lymph nodes are benign; SafeAdapt exhibited zero false-positive drift, preserving 99.4% specificity; 3) Whole-Slide Attention-MIL: boosted patient triage accuracy by +6.8%; 4) Continual Cross-Patient Testing: deterministic resets completely eliminate error accumulation across slides.</a:t>
            </a:r>
          </a:p>
          <a:p/>
          <a:p>
            <a:r>
              <a:t>REAL-WORLD ANALOGY:</a:t>
            </a:r>
          </a:p>
          <a:p>
            <a:r>
              <a:t>The Routine Clean Checkup: 8 out of 10 people who get a screening biopsy are completely cancer-free. If an AI expects to see cancer, it will hallucinate cancer on clean tissue just to satisfy its mathematical expectation. SafeAdapt recognizes when a slide is 100% clean and stays quiet, preserving 99.4% specificity.</a:t>
            </a:r>
          </a:p>
          <a:p/>
          <a:p>
            <a:r>
              <a:t>KEY HIGHLIGHTS: 0.9412 AUROC at B=1 streaming; 99.4% specificity on 0.0% tumor burden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A typical Whole-Slide Image contains over 10,000 patches. Table IV shows hardware efficiency. Multi-view augmentation (MEMO) requires 48.6 ms per patch and 4.8 GB VRAM—17 times slower than baseline, taking 10 minutes per slide. SafeAdapt requires only 3.2 ms per patch (312 patches/sec), adding just 0.4 ms overhead over the frozen model. It processes a slide in under 32 seconds, executes rollback in 1.8 ms, and uses only 1,680 MB of VRAM, fitting into standard hospital workstations.</a:t>
            </a:r>
          </a:p>
          <a:p/>
          <a:p>
            <a:r>
              <a:t>REAL-WORLD ANALOGY:</a:t>
            </a:r>
          </a:p>
          <a:p>
            <a:r>
              <a:t>The Doctor's Spinning Hourglass: A pathologist reviews 40 slides a day. If an AI takes 10 minutes per slide, the doctor stares at a spinning hourglass all morning and unplugs the software. SafeAdapt finishes analyzing the whole slide in 30 seconds while the pathologist reviews the patient's chart. It is fast, invisible, and seamless.</a:t>
            </a:r>
          </a:p>
          <a:p/>
          <a:p>
            <a:r>
              <a:t>KEY HIGHLIGHTS: 3.2 ms/patch (312 p/s); 1.8 ms rollback; 1,680 MB VRAM footprint.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In Section X, we address clinical governance. In hospital queues, patient slide order is arbitrary. Continual methods like CoTTA or RoTTA keep memory banks active across slides, allowing Patient A's tissue statistics to alter Patient B's diagnosis! This violates HIPAA and GDPR patient non-leakage principles. SafeAdapt parses DICOM WSI tags—Accession Number (0008,0050) and Study UID (0020,000D)—triggering automatic parameter resets to theta_0. Following IEC 62304 standards, our architecture is fail-closed: it defaults to the certified source model upon anomaly.</a:t>
            </a:r>
          </a:p>
          <a:p/>
          <a:p>
            <a:r>
              <a:t>REAL-WORLD ANALOGY:</a:t>
            </a:r>
          </a:p>
          <a:p>
            <a:r>
              <a:t>Sanitizing the Scalpel Between Patients: When a doctor examines Patient A, they don't use that same unwashed instrument on Patient B. They sanitize it thoroughly. Continual learning algorithms are like using an unsterilized tool across a patient queue—Patient A's tissue contaminates Patient B. SafeAdapt sterilizes the model between every patient.</a:t>
            </a:r>
          </a:p>
          <a:p/>
          <a:p>
            <a:r>
              <a:t>KEY HIGHLIGHTS: DICOM tags (0008,0050) and (0020,000D); IEC 62304 fail-closed safety compliance.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Table V shows our comprehensive ablation study: 1) Frozen Source starts at 0.8312 AUROC; 2) Tent drops to 0.7645 AUROC with 40% collapse; 3) Sinkhorn Optimal Transport provides the primary engine, boosting AUROC by +8.1% to 0.9124 and slashing collapse to 8%; 4) CMR adds +2.2% to reach 0.9348 AUROC by isolating artifacts; 5) Conformal Rollback provides total safety, achieving 0.9495 AUROC and driving collapse to exactly 0.0%. Sensitivity analysis confirms stability across broad hyperparameters.</a:t>
            </a:r>
          </a:p>
          <a:p/>
          <a:p>
            <a:r>
              <a:t>REAL-WORLD ANALOGY:</a:t>
            </a:r>
          </a:p>
          <a:p>
            <a:r>
              <a:t>The Three-Legged Stool: SafeAdapt is like a three-legged stool: Optimal Transport is the strong seat holding the weight (+8.1%); CMR is the brace preventing wobbles (+2.2%); and Conformal Rollback is the non-slip rubber grip on the floor that guarantees zero falls (0.0%). Remove any leg, and the stool falls.</a:t>
            </a:r>
          </a:p>
          <a:p/>
          <a:p>
            <a:r>
              <a:t>KEY HIGHLIGHTS: Stepwise AUROC progression: 0.8312 -&gt; 0.9124 -&gt; 0.9348 -&gt; 0.9495; collapse: 40% -&gt;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We compared SafeAdapt against recent 2022-2024 continual paradigms. CoTTA and RoTTA suffer from error accumulation: when an outlier slide enters the stream, corrupted features permanently poison the memory bank, hurting subsequent slides. SAR assumes model failure causes gradient norm spikes, but stain drift produces smooth, low-norm gradients that silently drift into collapse without triggering SAR's detector. SafeAdapt outperforms RoTTA by +0.078 AUROC and CoTTA by +0.128 AUROC, with 46% less GPU memory.</a:t>
            </a:r>
          </a:p>
          <a:p/>
          <a:p>
            <a:r>
              <a:t>REAL-WORLD ANALOGY:</a:t>
            </a:r>
          </a:p>
          <a:p>
            <a:r>
              <a:t>The Silent Gas Leak vs. The Smoke Detector: SAR is like a smoke detector that only alarms for thick black smoke (giant gradient spikes). But stain drift is like a colorless carbon monoxide leak: the gradients are small, smooth, and quiet. SAR sits silent while the model slowly suffocates. SafeAdapt's conformal monitor detects the leak instantly.</a:t>
            </a:r>
          </a:p>
          <a:p/>
          <a:p>
            <a:r>
              <a:t>KEY HIGHLIGHTS: +0.078 AUROC over RoTTA, +0.128 over CoTTA; 46% memory reduction.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To summarize, this work delivers four foundational contributions: 1) Theoretical Rigor: proved Proposition 1 (rho = -0.9917 rank inversion) explaining why entropy minimization collapses in pathology; 2) Algorithmic Innovation: created SafeAdapt-OT and Cross-Attention Memory Routing (CMR) for geometry-preserving feature alignment; 3) Provable Safety Guarantees: formulated Theorem 1 for finite-sample Conformal Risk Control with 1.8 ms rollback; 4) SOTA Empirical Performance: demonstrated +14.2% AUROC on CAMELYON17, +25.5% F1 on MIDOG, and 0.0% collapse.</a:t>
            </a:r>
          </a:p>
          <a:p/>
          <a:p>
            <a:r>
              <a:t>REAL-WORLD ANALOGY:</a:t>
            </a:r>
          </a:p>
          <a:p>
            <a:r>
              <a:t>The Complete Engineering Package: In medicine, an algorithm cannot just be a clever theory paper or a fast GPU script—it must be both. We delivered the theoretical proof of why previous methods failed, the algorithmic cure, the formal statistical safety certificate, and the validated real-time hospital deployment.</a:t>
            </a:r>
          </a:p>
          <a:p/>
          <a:p>
            <a:r>
              <a:t>KEY HIGHLIGHTS: Proposition 1 proof, Theorem 1 conformal bound, 0.9495 AUROC, 0.0% collapse.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 SCRIPT:</a:t>
            </a:r>
          </a:p>
          <a:p>
            <a:r>
              <a:t>In conclusion, SafeAdapt transforms test-time adaptation into a robust, clinically certified safety framework. Our complete PyTorch codebase, model checkpoints, and reproduction scripts are released under an open-source license. We are actively integrating SafeAdapt into QuPath and Orthanc PACS for prospective multi-scanner clinical trials, and extending it to pathology foundation models (CONCH, UNI). Thank you very much for your time and guidance. I welcome your questions, technical discussion, and viva voce examination.</a:t>
            </a:r>
          </a:p>
          <a:p/>
          <a:p>
            <a:r>
              <a:t>REAL-WORLD ANALOGY:</a:t>
            </a:r>
          </a:p>
          <a:p>
            <a:r>
              <a:t>From the Lab Bench to the Patient's Bedside: A vaccine in a university freezer saves zero lives. It only saves lives when packaged into vials, shipped across hospitals, and injected safely into patients. SafeAdapt takes TTA out of the computer science lab and puts it directly onto the hospital workstation, ready for clinicians to trust tomorrow.</a:t>
            </a:r>
          </a:p>
          <a:p/>
          <a:p>
            <a:r>
              <a:t>KEY HIGHLIGHTS: Open-source PyTorch release; QuPath/PACS integration; ready for viva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31520"/>
            <a:ext cx="4114800" cy="320040"/>
          </a:xfrm>
          <a:prstGeom prst="roundRect">
            <a:avLst/>
          </a:prstGeom>
          <a:solidFill>
            <a:srgbClr val="1E293B"/>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D9488"/>
                </a:solidFill>
              </a:defRPr>
            </a:pPr>
            <a:r>
              <a:t>IEEE TRANSACTIONS ON MEDICAL IMAGING (TMI)</a:t>
            </a:r>
          </a:p>
        </p:txBody>
      </p:sp>
      <p:sp>
        <p:nvSpPr>
          <p:cNvPr id="4" name="TextBox 3"/>
          <p:cNvSpPr txBox="1"/>
          <p:nvPr/>
        </p:nvSpPr>
        <p:spPr>
          <a:xfrm>
            <a:off x="914400" y="1188720"/>
            <a:ext cx="10332720" cy="1645920"/>
          </a:xfrm>
          <a:prstGeom prst="rect">
            <a:avLst/>
          </a:prstGeom>
          <a:noFill/>
        </p:spPr>
        <p:txBody>
          <a:bodyPr wrap="square" lIns="0" tIns="0" rIns="0" bIns="0">
            <a:spAutoFit/>
          </a:bodyPr>
          <a:lstStyle/>
          <a:p>
            <a:pPr>
              <a:defRPr sz="4600" b="1">
                <a:solidFill>
                  <a:srgbClr val="0D9488"/>
                </a:solidFill>
              </a:defRPr>
            </a:pPr>
            <a:r>
              <a:t>SafeAdapt</a:t>
            </a:r>
          </a:p>
          <a:p>
            <a:pPr>
              <a:spcBef>
                <a:spcPts val="600"/>
              </a:spcBef>
              <a:defRPr sz="2200" b="1">
                <a:solidFill>
                  <a:srgbClr val="F8FAFC"/>
                </a:solidFill>
              </a:defRPr>
            </a:pPr>
            <a:r>
              <a:t>Robust Test-Time Adaptation via Optimal Transport and Conformal Risk Control in Digital Pathology</a:t>
            </a:r>
          </a:p>
        </p:txBody>
      </p:sp>
      <p:sp>
        <p:nvSpPr>
          <p:cNvPr id="5" name="TextBox 4"/>
          <p:cNvSpPr txBox="1"/>
          <p:nvPr/>
        </p:nvSpPr>
        <p:spPr>
          <a:xfrm>
            <a:off x="914400" y="2926080"/>
            <a:ext cx="10332720" cy="914400"/>
          </a:xfrm>
          <a:prstGeom prst="rect">
            <a:avLst/>
          </a:prstGeom>
          <a:noFill/>
        </p:spPr>
        <p:txBody>
          <a:bodyPr wrap="none" lIns="0" tIns="0" rIns="0" bIns="0">
            <a:spAutoFit/>
          </a:bodyPr>
          <a:lstStyle/>
          <a:p>
            <a:pPr>
              <a:defRPr sz="1500" b="1">
                <a:solidFill>
                  <a:srgbClr val="E2E8F0"/>
                </a:solidFill>
              </a:defRPr>
            </a:pPr>
            <a:r>
              <a:t>Author: Avinash Reddy Cheerapareddy   |   Co-Author: Gunnam Sanjana</a:t>
            </a:r>
          </a:p>
          <a:p>
            <a:pPr>
              <a:spcBef>
                <a:spcPts val="400"/>
              </a:spcBef>
              <a:defRPr sz="1300">
                <a:solidFill>
                  <a:srgbClr val="94A3B8"/>
                </a:solidFill>
              </a:defRPr>
            </a:pPr>
            <a:r>
              <a:t>Department of Computer Science &amp; Engineering, SRM University-AP   •   Final Thesis &amp; Scientific Defense</a:t>
            </a:r>
          </a:p>
        </p:txBody>
      </p:sp>
      <p:sp>
        <p:nvSpPr>
          <p:cNvPr id="6" name="Rounded Rectangle 5"/>
          <p:cNvSpPr/>
          <p:nvPr/>
        </p:nvSpPr>
        <p:spPr>
          <a:xfrm>
            <a:off x="914400" y="4297680"/>
            <a:ext cx="2468880" cy="173736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AUROC GAIN</a:t>
            </a:r>
          </a:p>
          <a:p>
            <a:pPr algn="ctr">
              <a:spcBef>
                <a:spcPts val="400"/>
              </a:spcBef>
              <a:defRPr sz="2600" b="1">
                <a:solidFill>
                  <a:srgbClr val="0D9488"/>
                </a:solidFill>
              </a:defRPr>
            </a:pPr>
            <a:r>
              <a:t>+14.2%</a:t>
            </a:r>
          </a:p>
          <a:p>
            <a:pPr algn="ctr">
              <a:spcBef>
                <a:spcPts val="400"/>
              </a:spcBef>
              <a:defRPr sz="950">
                <a:solidFill>
                  <a:srgbClr val="CBD5E1"/>
                </a:solidFill>
              </a:defRPr>
            </a:pPr>
            <a:r>
              <a:t>CAMELYON17 multicenter shifts (0.8312 → 0.9495)</a:t>
            </a:r>
          </a:p>
        </p:txBody>
      </p:sp>
      <p:sp>
        <p:nvSpPr>
          <p:cNvPr id="7" name="Rounded Rectangle 6"/>
          <p:cNvSpPr/>
          <p:nvPr/>
        </p:nvSpPr>
        <p:spPr>
          <a:xfrm>
            <a:off x="3520440" y="4297680"/>
            <a:ext cx="2468880" cy="173736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COLLAPSE RATE</a:t>
            </a:r>
          </a:p>
          <a:p>
            <a:pPr algn="ctr">
              <a:spcBef>
                <a:spcPts val="400"/>
              </a:spcBef>
              <a:defRPr sz="2600" b="1">
                <a:solidFill>
                  <a:srgbClr val="059669"/>
                </a:solidFill>
              </a:defRPr>
            </a:pPr>
            <a:r>
              <a:t>0.0%</a:t>
            </a:r>
          </a:p>
          <a:p>
            <a:pPr algn="ctr">
              <a:spcBef>
                <a:spcPts val="400"/>
              </a:spcBef>
              <a:defRPr sz="950">
                <a:solidFill>
                  <a:srgbClr val="CBD5E1"/>
                </a:solidFill>
              </a:defRPr>
            </a:pPr>
            <a:r>
              <a:t>Eliminates 40% collapse seen in classical TTA</a:t>
            </a:r>
          </a:p>
        </p:txBody>
      </p:sp>
      <p:sp>
        <p:nvSpPr>
          <p:cNvPr id="8" name="Rounded Rectangle 7"/>
          <p:cNvSpPr/>
          <p:nvPr/>
        </p:nvSpPr>
        <p:spPr>
          <a:xfrm>
            <a:off x="6126480" y="4297680"/>
            <a:ext cx="2468880" cy="173736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GPU ROLLBACK</a:t>
            </a:r>
          </a:p>
          <a:p>
            <a:pPr algn="ctr">
              <a:spcBef>
                <a:spcPts val="400"/>
              </a:spcBef>
              <a:defRPr sz="2600" b="1">
                <a:solidFill>
                  <a:srgbClr val="0D9488"/>
                </a:solidFill>
              </a:defRPr>
            </a:pPr>
            <a:r>
              <a:t>1.8 ms</a:t>
            </a:r>
          </a:p>
          <a:p>
            <a:pPr algn="ctr">
              <a:spcBef>
                <a:spcPts val="400"/>
              </a:spcBef>
              <a:defRPr sz="950">
                <a:solidFill>
                  <a:srgbClr val="CBD5E1"/>
                </a:solidFill>
              </a:defRPr>
            </a:pPr>
            <a:r>
              <a:t>Sub-frame fail-closed state recovery</a:t>
            </a:r>
          </a:p>
        </p:txBody>
      </p:sp>
      <p:sp>
        <p:nvSpPr>
          <p:cNvPr id="9" name="Rounded Rectangle 8"/>
          <p:cNvSpPr/>
          <p:nvPr/>
        </p:nvSpPr>
        <p:spPr>
          <a:xfrm>
            <a:off x="8732520" y="4297680"/>
            <a:ext cx="2468880" cy="173736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PATIENT ISOLATION</a:t>
            </a:r>
          </a:p>
          <a:p>
            <a:pPr algn="ctr">
              <a:spcBef>
                <a:spcPts val="400"/>
              </a:spcBef>
              <a:defRPr sz="2600" b="1">
                <a:solidFill>
                  <a:srgbClr val="059669"/>
                </a:solidFill>
              </a:defRPr>
            </a:pPr>
            <a:r>
              <a:t>HIPAA/GDPR</a:t>
            </a:r>
          </a:p>
          <a:p>
            <a:pPr algn="ctr">
              <a:spcBef>
                <a:spcPts val="400"/>
              </a:spcBef>
              <a:defRPr sz="950">
                <a:solidFill>
                  <a:srgbClr val="CBD5E1"/>
                </a:solidFill>
              </a:defRPr>
            </a:pPr>
            <a:r>
              <a:t>Deterministic episodic slide boundary resets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MOTIVATION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The Multi-Center Domain Shift Dilemma in Pathology AI</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Diagnostic models trained on one hospital fail silently when deployed across multi-scanner clinical networks.</a:t>
            </a:r>
          </a:p>
        </p:txBody>
      </p:sp>
      <p:sp>
        <p:nvSpPr>
          <p:cNvPr id="6" name="Rounded Rectangle 5"/>
          <p:cNvSpPr/>
          <p:nvPr/>
        </p:nvSpPr>
        <p:spPr>
          <a:xfrm>
            <a:off x="731520" y="1645920"/>
            <a:ext cx="342900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1. Hardware &amp; Scanner Drift</a:t>
            </a:r>
          </a:p>
          <a:p>
            <a:pPr>
              <a:spcAft>
                <a:spcPts val="600"/>
              </a:spcAft>
            </a:pPr>
            <a:r>
              <a:rPr b="1" sz="1050">
                <a:solidFill>
                  <a:srgbClr val="0F172A"/>
                </a:solidFill>
              </a:rPr>
              <a:t>•  Multi-Vendor Scanners: </a:t>
            </a:r>
            <a:r>
              <a:rPr sz="1050">
                <a:solidFill>
                  <a:srgbClr val="1E293B"/>
                </a:solidFill>
              </a:rPr>
              <a:t>Pathology centers use Hamamatsu NanoZoomer, Philips Ultra Fast, and Leica Aperio digitizers.</a:t>
            </a:r>
          </a:p>
          <a:p>
            <a:pPr>
              <a:spcAft>
                <a:spcPts val="600"/>
              </a:spcAft>
            </a:pPr>
            <a:r>
              <a:rPr b="1" sz="1050">
                <a:solidFill>
                  <a:srgbClr val="0F172A"/>
                </a:solidFill>
              </a:rPr>
              <a:t>•  Sensor Discrepancies: </a:t>
            </a:r>
            <a:r>
              <a:rPr sz="1050">
                <a:solidFill>
                  <a:srgbClr val="1E293B"/>
                </a:solidFill>
              </a:rPr>
              <a:t>Divergent optical lenses, CCD/CMOS sensors, and LED vs. halogen illumination spectra produce drastic chromatic variations.</a:t>
            </a:r>
          </a:p>
          <a:p>
            <a:pPr>
              <a:spcAft>
                <a:spcPts val="600"/>
              </a:spcAft>
            </a:pPr>
            <a:r>
              <a:rPr b="1" sz="1050">
                <a:solidFill>
                  <a:srgbClr val="0F172A"/>
                </a:solidFill>
              </a:rPr>
              <a:t>•  Physical Artifacts: </a:t>
            </a:r>
            <a:r>
              <a:rPr sz="1050">
                <a:solidFill>
                  <a:srgbClr val="1E293B"/>
                </a:solidFill>
              </a:rPr>
              <a:t>Variations in tissue thickness (3-5 µm), micro-vibrations, and focus plane drifts alter cellular texture patterns across centers.</a:t>
            </a:r>
          </a:p>
        </p:txBody>
      </p:sp>
      <p:sp>
        <p:nvSpPr>
          <p:cNvPr id="8" name="Rounded Rectangle 7"/>
          <p:cNvSpPr/>
          <p:nvPr/>
        </p:nvSpPr>
        <p:spPr>
          <a:xfrm>
            <a:off x="2514600" y="1755648"/>
            <a:ext cx="1508760" cy="256032"/>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766E"/>
                </a:solidFill>
              </a:defRPr>
            </a:pPr>
            <a:r>
              <a:t>OPTICAL HETEROGENEITY</a:t>
            </a:r>
          </a:p>
        </p:txBody>
      </p:sp>
      <p:sp>
        <p:nvSpPr>
          <p:cNvPr id="9" name="Rounded Rectangle 8"/>
          <p:cNvSpPr/>
          <p:nvPr/>
        </p:nvSpPr>
        <p:spPr>
          <a:xfrm>
            <a:off x="4389120" y="1645920"/>
            <a:ext cx="342900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Chemical &amp; Staining Shifts</a:t>
            </a:r>
          </a:p>
          <a:p>
            <a:pPr>
              <a:spcAft>
                <a:spcPts val="600"/>
              </a:spcAft>
            </a:pPr>
            <a:r>
              <a:rPr b="1" sz="1050">
                <a:solidFill>
                  <a:srgbClr val="0F172A"/>
                </a:solidFill>
              </a:rPr>
              <a:t>•  Reagent Protocols: </a:t>
            </a:r>
            <a:r>
              <a:rPr sz="1050">
                <a:solidFill>
                  <a:srgbClr val="1E293B"/>
                </a:solidFill>
              </a:rPr>
              <a:t>Different laboratories use variable concentrations of Hematoxylin (nuclei) and Eosin (cytoplasm/stroma).</a:t>
            </a:r>
          </a:p>
          <a:p>
            <a:pPr>
              <a:spcAft>
                <a:spcPts val="600"/>
              </a:spcAft>
            </a:pPr>
            <a:r>
              <a:rPr b="1" sz="1050">
                <a:solidFill>
                  <a:srgbClr val="0F172A"/>
                </a:solidFill>
              </a:rPr>
              <a:t>•  Pre-Analytical Factors: </a:t>
            </a:r>
            <a:r>
              <a:rPr sz="1050">
                <a:solidFill>
                  <a:srgbClr val="1E293B"/>
                </a:solidFill>
              </a:rPr>
              <a:t>Tissue fixation delays, alcohol dehydration variations, and paraffin temperature alter staining uptake.</a:t>
            </a:r>
          </a:p>
          <a:p>
            <a:pPr>
              <a:spcAft>
                <a:spcPts val="600"/>
              </a:spcAft>
            </a:pPr>
            <a:r>
              <a:rPr b="1" sz="1050">
                <a:solidFill>
                  <a:srgbClr val="0F172A"/>
                </a:solidFill>
              </a:rPr>
              <a:t>•  Consequence: </a:t>
            </a:r>
            <a:r>
              <a:rPr sz="1050">
                <a:solidFill>
                  <a:srgbClr val="1E293B"/>
                </a:solidFill>
              </a:rPr>
              <a:t>Even identical biological specimens digitized at two different hospitals exhibit non-overlapping pixel value manifolds.</a:t>
            </a:r>
          </a:p>
        </p:txBody>
      </p:sp>
      <p:sp>
        <p:nvSpPr>
          <p:cNvPr id="11" name="Rounded Rectangle 10"/>
          <p:cNvSpPr/>
          <p:nvPr/>
        </p:nvSpPr>
        <p:spPr>
          <a:xfrm>
            <a:off x="6172200" y="1755648"/>
            <a:ext cx="1508760" cy="256032"/>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766E"/>
                </a:solidFill>
              </a:defRPr>
            </a:pPr>
            <a:r>
              <a:t>CHEMICAL HETEROGENEITY</a:t>
            </a:r>
          </a:p>
        </p:txBody>
      </p:sp>
      <p:sp>
        <p:nvSpPr>
          <p:cNvPr id="12" name="Rounded Rectangle 11"/>
          <p:cNvSpPr/>
          <p:nvPr/>
        </p:nvSpPr>
        <p:spPr>
          <a:xfrm>
            <a:off x="80467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3. Silent Diagnostic Failure</a:t>
            </a:r>
          </a:p>
          <a:p>
            <a:pPr>
              <a:spcAft>
                <a:spcPts val="600"/>
              </a:spcAft>
            </a:pPr>
            <a:r>
              <a:rPr b="1" sz="1050">
                <a:solidFill>
                  <a:srgbClr val="0F172A"/>
                </a:solidFill>
              </a:rPr>
              <a:t>•  The Performance Drop: </a:t>
            </a:r>
            <a:r>
              <a:rPr sz="1050">
                <a:solidFill>
                  <a:srgbClr val="1E293B"/>
                </a:solidFill>
              </a:rPr>
              <a:t>A ResNet-50 trained at Radboud achieving &gt;0.98 AUROC plummets to 0.73 AUROC when deployed at CWZ or UMC Utrecht.</a:t>
            </a:r>
          </a:p>
          <a:p>
            <a:pPr>
              <a:spcAft>
                <a:spcPts val="600"/>
              </a:spcAft>
            </a:pPr>
            <a:r>
              <a:rPr b="1" sz="1050">
                <a:solidFill>
                  <a:srgbClr val="0F172A"/>
                </a:solidFill>
              </a:rPr>
              <a:t>•  The Clinical Danger: </a:t>
            </a:r>
            <a:r>
              <a:rPr sz="1050">
                <a:solidFill>
                  <a:srgbClr val="1E293B"/>
                </a:solidFill>
              </a:rPr>
              <a:t>The model does NOT output low confidence—it fails silently with 99% confidence on misclassified tissue.</a:t>
            </a:r>
          </a:p>
          <a:p>
            <a:pPr>
              <a:spcAft>
                <a:spcPts val="600"/>
              </a:spcAft>
            </a:pPr>
            <a:r>
              <a:rPr b="1" sz="1050">
                <a:solidFill>
                  <a:srgbClr val="0F172A"/>
                </a:solidFill>
              </a:rPr>
              <a:t>•  Urgent Requirement: </a:t>
            </a:r>
            <a:r>
              <a:rPr sz="1050">
                <a:solidFill>
                  <a:srgbClr val="1E293B"/>
                </a:solidFill>
              </a:rPr>
              <a:t>An autonomous, unsupervised adaptation method that operates in real-time during Whole Slide Image (WSI) streaming.</a:t>
            </a:r>
          </a:p>
        </p:txBody>
      </p:sp>
      <p:sp>
        <p:nvSpPr>
          <p:cNvPr id="14" name="Rounded Rectangle 13"/>
          <p:cNvSpPr/>
          <p:nvPr/>
        </p:nvSpPr>
        <p:spPr>
          <a:xfrm>
            <a:off x="98298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PATIENT SAFETY RISK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PRIOR ART BREAKDOWN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Why Standard Test-Time Adaptation Collapses in Pathology</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Entropy minimization creates an unsupervised feedback loop that pulls models into degenerate single-class attractors.</a:t>
            </a:r>
          </a:p>
        </p:txBody>
      </p:sp>
      <p:sp>
        <p:nvSpPr>
          <p:cNvPr id="6" name="Rounded Rectangle 5"/>
          <p:cNvSpPr/>
          <p:nvPr/>
        </p:nvSpPr>
        <p:spPr>
          <a:xfrm>
            <a:off x="731520" y="1645920"/>
            <a:ext cx="5303520" cy="21945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5010912" cy="1901952"/>
          </a:xfrm>
          <a:prstGeom prst="rect">
            <a:avLst/>
          </a:prstGeom>
          <a:noFill/>
        </p:spPr>
        <p:txBody>
          <a:bodyPr wrap="square" lIns="0" tIns="0" rIns="0" bIns="0">
            <a:spAutoFit/>
          </a:bodyPr>
          <a:lstStyle/>
          <a:p>
            <a:pPr>
              <a:spcAft>
                <a:spcPts val="800"/>
              </a:spcAft>
              <a:defRPr sz="1300" b="1">
                <a:solidFill>
                  <a:srgbClr val="DC2626"/>
                </a:solidFill>
              </a:defRPr>
            </a:pPr>
            <a:r>
              <a:t>The Entropy Minimization Trap (Tent / EATA)</a:t>
            </a:r>
          </a:p>
          <a:p>
            <a:pPr>
              <a:spcAft>
                <a:spcPts val="600"/>
              </a:spcAft>
            </a:pPr>
            <a:r>
              <a:rPr b="1" sz="1050">
                <a:solidFill>
                  <a:srgbClr val="0F172A"/>
                </a:solidFill>
              </a:rPr>
              <a:t>•  Core Assumption: </a:t>
            </a:r>
            <a:r>
              <a:rPr sz="1050">
                <a:solidFill>
                  <a:srgbClr val="1E293B"/>
                </a:solidFill>
              </a:rPr>
              <a:t>Minimizing prediction entropy H(p) assumes that confident predictions are predominantly correct.</a:t>
            </a:r>
          </a:p>
          <a:p>
            <a:pPr>
              <a:spcAft>
                <a:spcPts val="600"/>
              </a:spcAft>
            </a:pPr>
            <a:r>
              <a:rPr b="1" sz="1050">
                <a:solidFill>
                  <a:srgbClr val="0F172A"/>
                </a:solidFill>
              </a:rPr>
              <a:t>•  Histopathology Reality: </a:t>
            </a:r>
            <a:r>
              <a:rPr sz="1050">
                <a:solidFill>
                  <a:srgbClr val="1E293B"/>
                </a:solidFill>
              </a:rPr>
              <a:t>Severe stain drift causes false predictions to have moderate entropy; minimizing entropy actively reinforces false class assignments.</a:t>
            </a:r>
          </a:p>
          <a:p>
            <a:pPr>
              <a:spcAft>
                <a:spcPts val="600"/>
              </a:spcAft>
            </a:pPr>
            <a:r>
              <a:rPr b="1" sz="1050">
                <a:solidFill>
                  <a:srgbClr val="0F172A"/>
                </a:solidFill>
              </a:rPr>
              <a:t>•  Feedback Loop: </a:t>
            </a:r>
            <a:r>
              <a:rPr sz="1050">
                <a:solidFill>
                  <a:srgbClr val="1E293B"/>
                </a:solidFill>
              </a:rPr>
              <a:t>Corrupted normalization parameters bias the next batch, leading to runaway confirmation bias.</a:t>
            </a:r>
          </a:p>
        </p:txBody>
      </p:sp>
      <p:sp>
        <p:nvSpPr>
          <p:cNvPr id="8" name="Rounded Rectangle 7"/>
          <p:cNvSpPr/>
          <p:nvPr/>
        </p:nvSpPr>
        <p:spPr>
          <a:xfrm>
            <a:off x="438912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FLAWED PREMISE</a:t>
            </a:r>
          </a:p>
        </p:txBody>
      </p:sp>
      <p:sp>
        <p:nvSpPr>
          <p:cNvPr id="9" name="Rounded Rectangle 8"/>
          <p:cNvSpPr/>
          <p:nvPr/>
        </p:nvSpPr>
        <p:spPr>
          <a:xfrm>
            <a:off x="731520" y="4023360"/>
            <a:ext cx="5303520" cy="228600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4169664"/>
            <a:ext cx="5010912" cy="1993392"/>
          </a:xfrm>
          <a:prstGeom prst="rect">
            <a:avLst/>
          </a:prstGeom>
          <a:noFill/>
        </p:spPr>
        <p:txBody>
          <a:bodyPr wrap="square" lIns="0" tIns="0" rIns="0" bIns="0">
            <a:spAutoFit/>
          </a:bodyPr>
          <a:lstStyle/>
          <a:p>
            <a:pPr>
              <a:spcAft>
                <a:spcPts val="800"/>
              </a:spcAft>
              <a:defRPr sz="1300" b="1">
                <a:solidFill>
                  <a:srgbClr val="DC2626"/>
                </a:solidFill>
              </a:defRPr>
            </a:pPr>
            <a:r>
              <a:t>Catastrophic Attractor State Collapse</a:t>
            </a:r>
          </a:p>
          <a:p>
            <a:pPr>
              <a:spcAft>
                <a:spcPts val="600"/>
              </a:spcAft>
            </a:pPr>
            <a:r>
              <a:rPr b="1" sz="1050">
                <a:solidFill>
                  <a:srgbClr val="0F172A"/>
                </a:solidFill>
              </a:rPr>
              <a:t>•  Single-Class Attractor: </a:t>
            </a:r>
            <a:r>
              <a:rPr sz="1050">
                <a:solidFill>
                  <a:srgbClr val="1E293B"/>
                </a:solidFill>
              </a:rPr>
              <a:t>Batch Normalization running statistics drift until all features collapse into a single degenerate cluster.</a:t>
            </a:r>
          </a:p>
          <a:p>
            <a:pPr>
              <a:spcAft>
                <a:spcPts val="600"/>
              </a:spcAft>
            </a:pPr>
            <a:r>
              <a:rPr b="1" sz="1050">
                <a:solidFill>
                  <a:srgbClr val="0F172A"/>
                </a:solidFill>
              </a:rPr>
              <a:t>•  Clinical Consequence: </a:t>
            </a:r>
            <a:r>
              <a:rPr sz="1050">
                <a:solidFill>
                  <a:srgbClr val="1E293B"/>
                </a:solidFill>
              </a:rPr>
              <a:t>The network predicts 100% of tissue patches as normal, driving cancer detection F1-score from 0.85 down to 0.05.</a:t>
            </a:r>
          </a:p>
          <a:p>
            <a:pPr>
              <a:spcAft>
                <a:spcPts val="600"/>
              </a:spcAft>
            </a:pPr>
            <a:r>
              <a:rPr b="1" sz="1050">
                <a:solidFill>
                  <a:srgbClr val="0F172A"/>
                </a:solidFill>
              </a:rPr>
              <a:t>•  40% Collapse Rate: </a:t>
            </a:r>
            <a:r>
              <a:rPr sz="1050">
                <a:solidFill>
                  <a:srgbClr val="1E293B"/>
                </a:solidFill>
              </a:rPr>
              <a:t>On CAMELYON17 Center 4, standard Tent collapses on 40% of patient slides (e.g., Slide 29 drops to 0.51 AUROC).</a:t>
            </a:r>
          </a:p>
        </p:txBody>
      </p:sp>
      <p:sp>
        <p:nvSpPr>
          <p:cNvPr id="11" name="Rounded Rectangle 10"/>
          <p:cNvSpPr/>
          <p:nvPr/>
        </p:nvSpPr>
        <p:spPr>
          <a:xfrm>
            <a:off x="4389120" y="413308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40% COLLAPSE</a:t>
            </a:r>
          </a:p>
        </p:txBody>
      </p:sp>
      <p:sp>
        <p:nvSpPr>
          <p:cNvPr id="12" name="Rounded Rectangle 11"/>
          <p:cNvSpPr/>
          <p:nvPr/>
        </p:nvSpPr>
        <p:spPr>
          <a:xfrm>
            <a:off x="6254496" y="2150246"/>
            <a:ext cx="5230368" cy="392910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g_tent_collapse_mechanism.png"/>
          <p:cNvPicPr>
            <a:picLocks noChangeAspect="1"/>
          </p:cNvPicPr>
          <p:nvPr/>
        </p:nvPicPr>
        <p:blipFill>
          <a:blip r:embed="rId2"/>
          <a:stretch>
            <a:fillRect/>
          </a:stretch>
        </p:blipFill>
        <p:spPr>
          <a:xfrm>
            <a:off x="6309360" y="2205110"/>
            <a:ext cx="5120640" cy="3545058"/>
          </a:xfrm>
          <a:prstGeom prst="rect">
            <a:avLst/>
          </a:prstGeom>
        </p:spPr>
      </p:pic>
      <p:sp>
        <p:nvSpPr>
          <p:cNvPr id="14" name="TextBox 13"/>
          <p:cNvSpPr txBox="1"/>
          <p:nvPr/>
        </p:nvSpPr>
        <p:spPr>
          <a:xfrm>
            <a:off x="6309360" y="5795889"/>
            <a:ext cx="5120640" cy="228600"/>
          </a:xfrm>
          <a:prstGeom prst="rect">
            <a:avLst/>
          </a:prstGeom>
          <a:noFill/>
        </p:spPr>
        <p:txBody>
          <a:bodyPr wrap="square" lIns="0" tIns="0" rIns="0" bIns="0">
            <a:spAutoFit/>
          </a:bodyPr>
          <a:lstStyle/>
          <a:p>
            <a:pPr algn="ctr">
              <a:defRPr sz="850" i="1">
                <a:solidFill>
                  <a:srgbClr val="64748B"/>
                </a:solidFill>
              </a:defRPr>
            </a:pPr>
            <a:r>
              <a:t>Empirical Collapse: Tent entropy optimization destroys latent feature margins across streaming WSI batches.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THEORETICAL FOUNDATION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Proposition 1: The Variance-Confidence Paradox</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We prove that predictive entropy is asymptotic to epistemic uncertainty, blinding scalar confidence gating to catastrophic drift.</a:t>
            </a:r>
          </a:p>
        </p:txBody>
      </p:sp>
      <p:sp>
        <p:nvSpPr>
          <p:cNvPr id="6" name="Rounded Rectangle 5"/>
          <p:cNvSpPr/>
          <p:nvPr/>
        </p:nvSpPr>
        <p:spPr>
          <a:xfrm>
            <a:off x="7315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1. Taylor Expansion Proof</a:t>
            </a:r>
          </a:p>
          <a:p>
            <a:pPr>
              <a:spcAft>
                <a:spcPts val="600"/>
              </a:spcAft>
            </a:pPr>
            <a:r>
              <a:rPr b="1" sz="1050">
                <a:solidFill>
                  <a:srgbClr val="0F172A"/>
                </a:solidFill>
              </a:rPr>
              <a:t>•  Weight Perturbation: </a:t>
            </a:r>
            <a:r>
              <a:rPr sz="1050">
                <a:solidFill>
                  <a:srgbClr val="1E293B"/>
                </a:solidFill>
              </a:rPr>
              <a:t>Consider parameter uncertainty delta_theta ~ N(0, Sigma_theta) around adapted weights.</a:t>
            </a:r>
          </a:p>
          <a:p>
            <a:pPr>
              <a:spcAft>
                <a:spcPts val="600"/>
              </a:spcAft>
            </a:pPr>
            <a:r>
              <a:rPr b="1" sz="1050">
                <a:solidFill>
                  <a:srgbClr val="0F172A"/>
                </a:solidFill>
              </a:rPr>
              <a:t>•  Prediction Variance: </a:t>
            </a:r>
            <a:r>
              <a:rPr sz="1050">
                <a:solidFill>
                  <a:srgbClr val="1E293B"/>
                </a:solidFill>
              </a:rPr>
              <a:t>Var[p(y|x)] = grad_theta p(y|x)^T Sigma_theta grad_theta p(y|x) + O(||Sigma||^2).</a:t>
            </a:r>
          </a:p>
          <a:p>
            <a:pPr>
              <a:spcAft>
                <a:spcPts val="600"/>
              </a:spcAft>
            </a:pPr>
            <a:r>
              <a:rPr b="1" sz="1050">
                <a:solidFill>
                  <a:srgbClr val="0F172A"/>
                </a:solidFill>
              </a:rPr>
              <a:t>•  Vanishing Gradient: </a:t>
            </a:r>
            <a:r>
              <a:rPr sz="1050">
                <a:solidFill>
                  <a:srgbClr val="1E293B"/>
                </a:solidFill>
              </a:rPr>
              <a:t>As softmax probability p -&gt; 1 or p -&gt; 0, the derivative grad_theta p vanishes quadratically: grad p = p(1 - p) grad z.</a:t>
            </a:r>
          </a:p>
          <a:p>
            <a:pPr>
              <a:spcAft>
                <a:spcPts val="600"/>
              </a:spcAft>
            </a:pPr>
            <a:r>
              <a:rPr b="1" sz="1050">
                <a:solidFill>
                  <a:srgbClr val="0F172A"/>
                </a:solidFill>
              </a:rPr>
              <a:t>•  Fatal Consequence: </a:t>
            </a:r>
            <a:r>
              <a:rPr sz="1050">
                <a:solidFill>
                  <a:srgbClr val="1E293B"/>
                </a:solidFill>
              </a:rPr>
              <a:t>Predictive entropy approaches zero exactly when epistemic weight variance reaches its global peak!</a:t>
            </a:r>
          </a:p>
        </p:txBody>
      </p:sp>
      <p:sp>
        <p:nvSpPr>
          <p:cNvPr id="8" name="Rounded Rectangle 7"/>
          <p:cNvSpPr/>
          <p:nvPr/>
        </p:nvSpPr>
        <p:spPr>
          <a:xfrm>
            <a:off x="25146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MATHEMATICAL PROOF</a:t>
            </a:r>
          </a:p>
        </p:txBody>
      </p:sp>
      <p:sp>
        <p:nvSpPr>
          <p:cNvPr id="9" name="Rounded Rectangle 8"/>
          <p:cNvSpPr/>
          <p:nvPr/>
        </p:nvSpPr>
        <p:spPr>
          <a:xfrm>
            <a:off x="43891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2. Rank Inversion: rho = -0.9917</a:t>
            </a:r>
          </a:p>
          <a:p>
            <a:pPr>
              <a:spcAft>
                <a:spcPts val="600"/>
              </a:spcAft>
            </a:pPr>
            <a:r>
              <a:rPr b="1" sz="1050">
                <a:solidFill>
                  <a:srgbClr val="0F172A"/>
                </a:solidFill>
              </a:rPr>
              <a:t>•  Spearman Rank Test: </a:t>
            </a:r>
            <a:r>
              <a:rPr sz="1050">
                <a:solidFill>
                  <a:srgbClr val="1E293B"/>
                </a:solidFill>
              </a:rPr>
              <a:t>We measured the empirical rank correlation between epistemic variance (MC-Dropout) and Shannon entropy.</a:t>
            </a:r>
          </a:p>
          <a:p>
            <a:pPr>
              <a:spcAft>
                <a:spcPts val="600"/>
              </a:spcAft>
            </a:pPr>
            <a:r>
              <a:rPr b="1" sz="1050">
                <a:solidFill>
                  <a:srgbClr val="0F172A"/>
                </a:solidFill>
              </a:rPr>
              <a:t>•  Inverse Equivalence: </a:t>
            </a:r>
            <a:r>
              <a:rPr sz="1050">
                <a:solidFill>
                  <a:srgbClr val="1E293B"/>
                </a:solidFill>
              </a:rPr>
              <a:t>Spearman rank coefficient rho = -0.9917 reveals asymptotic rank equivalence.</a:t>
            </a:r>
          </a:p>
          <a:p>
            <a:pPr>
              <a:spcAft>
                <a:spcPts val="600"/>
              </a:spcAft>
            </a:pPr>
            <a:r>
              <a:rPr b="1" sz="1050">
                <a:solidFill>
                  <a:srgbClr val="0F172A"/>
                </a:solidFill>
              </a:rPr>
              <a:t>•  The Paradox: </a:t>
            </a:r>
            <a:r>
              <a:rPr sz="1050">
                <a:solidFill>
                  <a:srgbClr val="1E293B"/>
                </a:solidFill>
              </a:rPr>
              <a:t>When corrupted patches drive representations into collapsed feature space, the model outputs 99.8% confidence while being totally wrong.</a:t>
            </a:r>
          </a:p>
          <a:p>
            <a:pPr>
              <a:spcAft>
                <a:spcPts val="600"/>
              </a:spcAft>
            </a:pPr>
            <a:r>
              <a:rPr b="1" sz="1050">
                <a:solidFill>
                  <a:srgbClr val="0F172A"/>
                </a:solidFill>
              </a:rPr>
              <a:t>•  Takeaway: </a:t>
            </a:r>
            <a:r>
              <a:rPr sz="1050">
                <a:solidFill>
                  <a:srgbClr val="1E293B"/>
                </a:solidFill>
              </a:rPr>
              <a:t>Gating updates based on scalar entropy or confidence is mathematically incapable of detecting collapse.</a:t>
            </a:r>
          </a:p>
        </p:txBody>
      </p:sp>
      <p:sp>
        <p:nvSpPr>
          <p:cNvPr id="11" name="Rounded Rectangle 10"/>
          <p:cNvSpPr/>
          <p:nvPr/>
        </p:nvSpPr>
        <p:spPr>
          <a:xfrm>
            <a:off x="61722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RANK INVERSION</a:t>
            </a:r>
          </a:p>
        </p:txBody>
      </p:sp>
      <p:sp>
        <p:nvSpPr>
          <p:cNvPr id="12" name="Rounded Rectangle 11"/>
          <p:cNvSpPr/>
          <p:nvPr/>
        </p:nvSpPr>
        <p:spPr>
          <a:xfrm>
            <a:off x="80467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3. Failure of Prior Regularizers</a:t>
            </a:r>
          </a:p>
          <a:p>
            <a:pPr>
              <a:spcAft>
                <a:spcPts val="600"/>
              </a:spcAft>
            </a:pPr>
            <a:r>
              <a:rPr b="1" sz="1050">
                <a:solidFill>
                  <a:srgbClr val="0F172A"/>
                </a:solidFill>
              </a:rPr>
              <a:t>•  EATA (Fisher Regularization): </a:t>
            </a:r>
            <a:r>
              <a:rPr sz="1050">
                <a:solidFill>
                  <a:srgbClr val="1E293B"/>
                </a:solidFill>
              </a:rPr>
              <a:t>Adds an EWC penalty on parameter drift. However, static penalties cannot undo corrupted running statistics once a bad batch passes.</a:t>
            </a:r>
          </a:p>
          <a:p>
            <a:pPr>
              <a:spcAft>
                <a:spcPts val="600"/>
              </a:spcAft>
            </a:pPr>
            <a:r>
              <a:rPr b="1" sz="1050">
                <a:solidFill>
                  <a:srgbClr val="0F172A"/>
                </a:solidFill>
              </a:rPr>
              <a:t>•  SAR (Sharpness-Aware): </a:t>
            </a:r>
            <a:r>
              <a:rPr sz="1050">
                <a:solidFill>
                  <a:srgbClr val="1E293B"/>
                </a:solidFill>
              </a:rPr>
              <a:t>Monitors gradient norm spikes. But gradual stain shift creates small, consistent, low-norm gradients that silently bypass SAR's detector.</a:t>
            </a:r>
          </a:p>
          <a:p>
            <a:pPr>
              <a:spcAft>
                <a:spcPts val="600"/>
              </a:spcAft>
            </a:pPr>
            <a:r>
              <a:rPr b="1" sz="1050">
                <a:solidFill>
                  <a:srgbClr val="0F172A"/>
                </a:solidFill>
              </a:rPr>
              <a:t>•  Our Solution: </a:t>
            </a:r>
            <a:r>
              <a:rPr sz="1050">
                <a:solidFill>
                  <a:srgbClr val="1E293B"/>
                </a:solidFill>
              </a:rPr>
              <a:t>We need a geometry-preserving transport metric and finite-sample conformal statistical risk bounds.</a:t>
            </a:r>
          </a:p>
        </p:txBody>
      </p:sp>
      <p:sp>
        <p:nvSpPr>
          <p:cNvPr id="14" name="Rounded Rectangle 13"/>
          <p:cNvSpPr/>
          <p:nvPr/>
        </p:nvSpPr>
        <p:spPr>
          <a:xfrm>
            <a:off x="98298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PRIOR ART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PROPOSED FRAMEWORK</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SafeAdapt: A Deterministic, Fail-Closed TTA Architecture</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introduces geometry-preserving optimal transport, contextual artifact rejection, and finite-sample risk bounds.</a:t>
            </a:r>
          </a:p>
        </p:txBody>
      </p:sp>
      <p:sp>
        <p:nvSpPr>
          <p:cNvPr id="6" name="Rounded Rectangle 5"/>
          <p:cNvSpPr/>
          <p:nvPr/>
        </p:nvSpPr>
        <p:spPr>
          <a:xfrm>
            <a:off x="3654915" y="1591056"/>
            <a:ext cx="4881863" cy="3218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rchitecture.png"/>
          <p:cNvPicPr>
            <a:picLocks noChangeAspect="1"/>
          </p:cNvPicPr>
          <p:nvPr/>
        </p:nvPicPr>
        <p:blipFill>
          <a:blip r:embed="rId2"/>
          <a:stretch>
            <a:fillRect/>
          </a:stretch>
        </p:blipFill>
        <p:spPr>
          <a:xfrm>
            <a:off x="3709779" y="1645920"/>
            <a:ext cx="4772135" cy="2834640"/>
          </a:xfrm>
          <a:prstGeom prst="rect">
            <a:avLst/>
          </a:prstGeom>
        </p:spPr>
      </p:pic>
      <p:sp>
        <p:nvSpPr>
          <p:cNvPr id="8" name="TextBox 7"/>
          <p:cNvSpPr txBox="1"/>
          <p:nvPr/>
        </p:nvSpPr>
        <p:spPr>
          <a:xfrm>
            <a:off x="3709779" y="4526280"/>
            <a:ext cx="4772135" cy="228600"/>
          </a:xfrm>
          <a:prstGeom prst="rect">
            <a:avLst/>
          </a:prstGeom>
          <a:noFill/>
        </p:spPr>
        <p:txBody>
          <a:bodyPr wrap="square" lIns="0" tIns="0" rIns="0" bIns="0">
            <a:spAutoFit/>
          </a:bodyPr>
          <a:lstStyle/>
          <a:p>
            <a:pPr algn="ctr">
              <a:defRPr sz="850" i="1">
                <a:solidFill>
                  <a:srgbClr val="64748B"/>
                </a:solidFill>
              </a:defRPr>
            </a:pPr>
            <a:r>
              <a:t>SafeAdapt System Architecture: Dual-Stream Sinkhorn OT, Cross-Attention Memory Routing (CMR), and Conformal Rollback.</a:t>
            </a:r>
          </a:p>
        </p:txBody>
      </p:sp>
      <p:sp>
        <p:nvSpPr>
          <p:cNvPr id="9" name="Rounded Rectangle 8"/>
          <p:cNvSpPr/>
          <p:nvPr/>
        </p:nvSpPr>
        <p:spPr>
          <a:xfrm>
            <a:off x="731520" y="4663440"/>
            <a:ext cx="2542032" cy="16916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D9488"/>
                </a:solidFill>
              </a:defRPr>
            </a:pPr>
            <a:r>
              <a:t>1. Dual-Stream Anchor</a:t>
            </a:r>
          </a:p>
          <a:p>
            <a:pPr>
              <a:spcBef>
                <a:spcPts val="400"/>
              </a:spcBef>
              <a:defRPr sz="950">
                <a:solidFill>
                  <a:srgbClr val="1E293B"/>
                </a:solidFill>
              </a:defRPr>
            </a:pPr>
            <a:r>
              <a:t>Maintains frozen source anchor theta_0 in parallel with adaptive student theta_t to preserve diagnostic geometry.</a:t>
            </a:r>
          </a:p>
        </p:txBody>
      </p:sp>
      <p:sp>
        <p:nvSpPr>
          <p:cNvPr id="10" name="Rounded Rectangle 9"/>
          <p:cNvSpPr/>
          <p:nvPr/>
        </p:nvSpPr>
        <p:spPr>
          <a:xfrm>
            <a:off x="3456432" y="4663440"/>
            <a:ext cx="2542032" cy="16916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D9488"/>
                </a:solidFill>
              </a:defRPr>
            </a:pPr>
            <a:r>
              <a:t>2. Sinkhorn Optimal Transport</a:t>
            </a:r>
          </a:p>
          <a:p>
            <a:pPr>
              <a:spcBef>
                <a:spcPts val="400"/>
              </a:spcBef>
              <a:defRPr sz="950">
                <a:solidFill>
                  <a:srgbClr val="1E293B"/>
                </a:solidFill>
              </a:defRPr>
            </a:pPr>
            <a:r>
              <a:t>Aligns streaming patch feature marginals to class prototypes without label-dependent reinforcement.</a:t>
            </a:r>
          </a:p>
        </p:txBody>
      </p:sp>
      <p:sp>
        <p:nvSpPr>
          <p:cNvPr id="11" name="Rounded Rectangle 10"/>
          <p:cNvSpPr/>
          <p:nvPr/>
        </p:nvSpPr>
        <p:spPr>
          <a:xfrm>
            <a:off x="6181344" y="4663440"/>
            <a:ext cx="2542032" cy="16916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F172A"/>
                </a:solidFill>
              </a:defRPr>
            </a:pPr>
            <a:r>
              <a:t>3. Memory Routing (CMR)</a:t>
            </a:r>
          </a:p>
          <a:p>
            <a:pPr>
              <a:spcBef>
                <a:spcPts val="400"/>
              </a:spcBef>
              <a:defRPr sz="950">
                <a:solidFill>
                  <a:srgbClr val="1E293B"/>
                </a:solidFill>
              </a:defRPr>
            </a:pPr>
            <a:r>
              <a:t>Cross-attention memory routes OOD tissue debris and non-neoplastic mimics to a dedicated slack prototype.</a:t>
            </a:r>
          </a:p>
        </p:txBody>
      </p:sp>
      <p:sp>
        <p:nvSpPr>
          <p:cNvPr id="12" name="Rounded Rectangle 11"/>
          <p:cNvSpPr/>
          <p:nvPr/>
        </p:nvSpPr>
        <p:spPr>
          <a:xfrm>
            <a:off x="8906256" y="4663440"/>
            <a:ext cx="2542032" cy="16916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59669"/>
                </a:solidFill>
              </a:defRPr>
            </a:pPr>
            <a:r>
              <a:t>4. Conformal Risk Rollback</a:t>
            </a:r>
          </a:p>
          <a:p>
            <a:pPr>
              <a:spcBef>
                <a:spcPts val="400"/>
              </a:spcBef>
              <a:defRPr sz="950">
                <a:solidFill>
                  <a:srgbClr val="1E293B"/>
                </a:solidFill>
              </a:defRPr>
            </a:pPr>
            <a:r>
              <a:t>Finite-sample risk monitor halts adaptation and restores theta_0 in 1.8 ms if parameter drift exceeds alpha.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TECHNICAL DEEP DIVE</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Mechanism 1: Geometry-Preserving Sinkhorn Optimal Transport</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Replaces unconstrained entropy minimization with exact marginal transport, mathematically preventing single-class collapse.</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Optimal Transport Polytope</a:t>
            </a:r>
          </a:p>
          <a:p>
            <a:pPr>
              <a:spcAft>
                <a:spcPts val="600"/>
              </a:spcAft>
            </a:pPr>
            <a:r>
              <a:rPr b="1" sz="1050">
                <a:solidFill>
                  <a:srgbClr val="0F172A"/>
                </a:solidFill>
              </a:rPr>
              <a:t>•  Wasserstein Discrepancy: </a:t>
            </a:r>
            <a:r>
              <a:rPr sz="1050">
                <a:solidFill>
                  <a:srgbClr val="1E293B"/>
                </a:solidFill>
              </a:rPr>
              <a:t>Measures the geometric distance between streaming batch features Z in R^(B x d) and anchor prototype dictionary C in R^(K x d).</a:t>
            </a:r>
          </a:p>
          <a:p>
            <a:pPr>
              <a:spcAft>
                <a:spcPts val="600"/>
              </a:spcAft>
            </a:pPr>
            <a:r>
              <a:rPr b="1" sz="1050">
                <a:solidFill>
                  <a:srgbClr val="0F172A"/>
                </a:solidFill>
              </a:rPr>
              <a:t>•  Transport Optimization: </a:t>
            </a:r>
            <a:r>
              <a:rPr sz="1050">
                <a:solidFill>
                  <a:srgbClr val="1E293B"/>
                </a:solidFill>
              </a:rPr>
              <a:t>min_{P in U(B, K)} &lt;P, M&gt; - epsilon H(P), where cost matrix M_ik = ||z_i - c_k||_2^2.</a:t>
            </a:r>
          </a:p>
          <a:p>
            <a:pPr>
              <a:spcAft>
                <a:spcPts val="600"/>
              </a:spcAft>
            </a:pPr>
            <a:r>
              <a:rPr b="1" sz="1050">
                <a:solidFill>
                  <a:srgbClr val="0F172A"/>
                </a:solidFill>
              </a:rPr>
              <a:t>•  Marginal Constraints: </a:t>
            </a:r>
            <a:r>
              <a:rPr sz="1050">
                <a:solidFill>
                  <a:srgbClr val="1E293B"/>
                </a:solidFill>
              </a:rPr>
              <a:t>Row constraint P 1_K = (1/B) 1_B ensures every patch is mapped; column constraint P^T 1_B = (1/K) 1_K enforces balanced class capacity.</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FORMULATION</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Ultrafast Sinkhorn Scaling</a:t>
            </a:r>
          </a:p>
          <a:p>
            <a:pPr>
              <a:spcAft>
                <a:spcPts val="600"/>
              </a:spcAft>
            </a:pPr>
            <a:r>
              <a:rPr b="1" sz="1050">
                <a:solidFill>
                  <a:srgbClr val="0F172A"/>
                </a:solidFill>
              </a:rPr>
              <a:t>•  Iterative Dual Scaling: </a:t>
            </a:r>
            <a:r>
              <a:rPr sz="1050">
                <a:solidFill>
                  <a:srgbClr val="1E293B"/>
                </a:solidFill>
              </a:rPr>
              <a:t>Solved via alternating matrix scaling: P* = diag(u) exp(-M / epsilon) diag(v).</a:t>
            </a:r>
          </a:p>
          <a:p>
            <a:pPr>
              <a:spcAft>
                <a:spcPts val="600"/>
              </a:spcAft>
            </a:pPr>
            <a:r>
              <a:rPr b="1" sz="1050">
                <a:solidFill>
                  <a:srgbClr val="0F172A"/>
                </a:solidFill>
              </a:rPr>
              <a:t>•  GPU Acceleration: </a:t>
            </a:r>
            <a:r>
              <a:rPr sz="1050">
                <a:solidFill>
                  <a:srgbClr val="1E293B"/>
                </a:solidFill>
              </a:rPr>
              <a:t>Converges in under 5 matrix-vector multiplications, taking less than 0.4 ms per batch on modern GPU hardware.</a:t>
            </a:r>
          </a:p>
          <a:p>
            <a:pPr>
              <a:spcAft>
                <a:spcPts val="600"/>
              </a:spcAft>
            </a:pPr>
            <a:r>
              <a:rPr b="1" sz="1050">
                <a:solidFill>
                  <a:srgbClr val="0F172A"/>
                </a:solidFill>
              </a:rPr>
              <a:t>•  Exact Marginals: </a:t>
            </a:r>
            <a:r>
              <a:rPr sz="1050">
                <a:solidFill>
                  <a:srgbClr val="1E293B"/>
                </a:solidFill>
              </a:rPr>
              <a:t>Unlike heuristic pseudo-labeling, Sinkhorn transport guarantees smooth, entropy-regularized assignments without label reinforcement.</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&lt;0.4 MS GPU</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Invariance to Class Imbalance</a:t>
            </a:r>
          </a:p>
          <a:p>
            <a:pPr>
              <a:spcAft>
                <a:spcPts val="600"/>
              </a:spcAft>
            </a:pPr>
            <a:r>
              <a:rPr b="1" sz="1050">
                <a:solidFill>
                  <a:srgbClr val="0F172A"/>
                </a:solidFill>
              </a:rPr>
              <a:t>•  The Histology Challenge: </a:t>
            </a:r>
            <a:r>
              <a:rPr sz="1050">
                <a:solidFill>
                  <a:srgbClr val="1E293B"/>
                </a:solidFill>
              </a:rPr>
              <a:t>A biopsy slide may contain 99% normal stroma or 90% tumor. Unconstrained models collapse to the majority class.</a:t>
            </a:r>
          </a:p>
          <a:p>
            <a:pPr>
              <a:spcAft>
                <a:spcPts val="600"/>
              </a:spcAft>
            </a:pPr>
            <a:r>
              <a:rPr b="1" sz="1050">
                <a:solidFill>
                  <a:srgbClr val="0F172A"/>
                </a:solidFill>
              </a:rPr>
              <a:t>•  Marginal Safeguard: </a:t>
            </a:r>
            <a:r>
              <a:rPr sz="1050">
                <a:solidFill>
                  <a:srgbClr val="1E293B"/>
                </a:solidFill>
              </a:rPr>
              <a:t>Uniform marginal projection mathematically prohibits all probability mass from accumulating in a single prototype attractor.</a:t>
            </a:r>
          </a:p>
          <a:p>
            <a:pPr>
              <a:spcAft>
                <a:spcPts val="600"/>
              </a:spcAft>
            </a:pPr>
            <a:r>
              <a:rPr b="1" sz="1050">
                <a:solidFill>
                  <a:srgbClr val="0F172A"/>
                </a:solidFill>
              </a:rPr>
              <a:t>•  Empirical Result: </a:t>
            </a:r>
            <a:r>
              <a:rPr sz="1050">
                <a:solidFill>
                  <a:srgbClr val="1E293B"/>
                </a:solidFill>
              </a:rPr>
              <a:t>Sinkhorn OT alone elevates multicenter AUROC from 0.8312 to 0.9124 while cutting collapse rate from 40% down to 8%.</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+8.1% AUROC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TECHNICAL DEEP DIVE</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Mechanism 2: Cross-Attention Memory-Augmented Routing (CMR)</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Dynamic memory routing identifies non-neoplastic tissue artifacts and isolates them from diagnostic prototypes.</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Cross-Attention Query-Key</a:t>
            </a:r>
          </a:p>
          <a:p>
            <a:pPr>
              <a:spcAft>
                <a:spcPts val="600"/>
              </a:spcAft>
            </a:pPr>
            <a:r>
              <a:rPr b="1" sz="1050">
                <a:solidFill>
                  <a:srgbClr val="0F172A"/>
                </a:solidFill>
              </a:rPr>
              <a:t>•  Episodic Memory Bank: </a:t>
            </a:r>
            <a:r>
              <a:rPr sz="1050">
                <a:solidFill>
                  <a:srgbClr val="1E293B"/>
                </a:solidFill>
              </a:rPr>
              <a:t>Maintains high-confidence source representations in a compact key-value memory bank M_mem = (K_mem, V_mem).</a:t>
            </a:r>
          </a:p>
          <a:p>
            <a:pPr>
              <a:spcAft>
                <a:spcPts val="600"/>
              </a:spcAft>
            </a:pPr>
            <a:r>
              <a:rPr b="1" sz="1050">
                <a:solidFill>
                  <a:srgbClr val="0F172A"/>
                </a:solidFill>
              </a:rPr>
              <a:t>•  Attention Alignment: </a:t>
            </a:r>
            <a:r>
              <a:rPr sz="1050">
                <a:solidFill>
                  <a:srgbClr val="1E293B"/>
                </a:solidFill>
              </a:rPr>
              <a:t>Attention weights A = Softmax(Q K_mem^T / sqrt(d)) compute contextual similarity between streaming patches and trusted source knowledge.</a:t>
            </a:r>
          </a:p>
          <a:p>
            <a:pPr>
              <a:spcAft>
                <a:spcPts val="600"/>
              </a:spcAft>
            </a:pPr>
            <a:r>
              <a:rPr b="1" sz="1050">
                <a:solidFill>
                  <a:srgbClr val="0F172A"/>
                </a:solidFill>
              </a:rPr>
              <a:t>•  Feature Augmentation: </a:t>
            </a:r>
            <a:r>
              <a:rPr sz="1050">
                <a:solidFill>
                  <a:srgbClr val="1E293B"/>
                </a:solidFill>
              </a:rPr>
              <a:t>Streaming features are enriched with clean source context before classification, filtering out scanner-specific high-frequency noise.</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MEMORY BANK</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Out-of-Distribution Slack Channel</a:t>
            </a:r>
          </a:p>
          <a:p>
            <a:pPr>
              <a:spcAft>
                <a:spcPts val="600"/>
              </a:spcAft>
            </a:pPr>
            <a:r>
              <a:rPr b="1" sz="1050">
                <a:solidFill>
                  <a:srgbClr val="0F172A"/>
                </a:solidFill>
              </a:rPr>
              <a:t>•  Histological Realities: </a:t>
            </a:r>
            <a:r>
              <a:rPr sz="1050">
                <a:solidFill>
                  <a:srgbClr val="1E293B"/>
                </a:solidFill>
              </a:rPr>
              <a:t>Routine slides contain surgical marker ink, air bubbles, folded tissue, and cautery burn artifacts.</a:t>
            </a:r>
          </a:p>
          <a:p>
            <a:pPr>
              <a:spcAft>
                <a:spcPts val="600"/>
              </a:spcAft>
            </a:pPr>
            <a:r>
              <a:rPr b="1" sz="1050">
                <a:solidFill>
                  <a:srgbClr val="0F172A"/>
                </a:solidFill>
              </a:rPr>
              <a:t>•  The Slack Prototype: </a:t>
            </a:r>
            <a:r>
              <a:rPr sz="1050">
                <a:solidFill>
                  <a:srgbClr val="1E293B"/>
                </a:solidFill>
              </a:rPr>
              <a:t>CMR routes anomalous tokens with low memory affinity into an explicit 'slack' prototype channel.</a:t>
            </a:r>
          </a:p>
          <a:p>
            <a:pPr>
              <a:spcAft>
                <a:spcPts val="600"/>
              </a:spcAft>
            </a:pPr>
            <a:r>
              <a:rPr b="1" sz="1050">
                <a:solidFill>
                  <a:srgbClr val="0F172A"/>
                </a:solidFill>
              </a:rPr>
              <a:t>•  Distortion Shield: </a:t>
            </a:r>
            <a:r>
              <a:rPr sz="1050">
                <a:solidFill>
                  <a:srgbClr val="1E293B"/>
                </a:solidFill>
              </a:rPr>
              <a:t>By absorbing OOD feature mass into the slack channel, authentic diagnostic prototypes are shielded from distortive gradient pull.</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OOD SHIELDING</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Quantitative Diagnostic Impact</a:t>
            </a:r>
          </a:p>
          <a:p>
            <a:pPr>
              <a:spcAft>
                <a:spcPts val="600"/>
              </a:spcAft>
            </a:pPr>
            <a:r>
              <a:rPr b="1" sz="1050">
                <a:solidFill>
                  <a:srgbClr val="0F172A"/>
                </a:solidFill>
              </a:rPr>
              <a:t>•  False Alarm Suppression: </a:t>
            </a:r>
            <a:r>
              <a:rPr sz="1050">
                <a:solidFill>
                  <a:srgbClr val="1E293B"/>
                </a:solidFill>
              </a:rPr>
              <a:t>Reduces false positive patch activations across necrotic and inflamed resection margins by 38.4%.</a:t>
            </a:r>
          </a:p>
          <a:p>
            <a:pPr>
              <a:spcAft>
                <a:spcPts val="600"/>
              </a:spcAft>
            </a:pPr>
            <a:r>
              <a:rPr b="1" sz="1050">
                <a:solidFill>
                  <a:srgbClr val="0F172A"/>
                </a:solidFill>
              </a:rPr>
              <a:t>•  Performance Contribution: </a:t>
            </a:r>
            <a:r>
              <a:rPr sz="1050">
                <a:solidFill>
                  <a:srgbClr val="1E293B"/>
                </a:solidFill>
              </a:rPr>
              <a:t>Integrating CMR on top of Sinkhorn OT elevates AUROC from 0.9124 to 0.9348 and reduces remaining collapse risk to 4%.</a:t>
            </a:r>
          </a:p>
          <a:p>
            <a:pPr>
              <a:spcAft>
                <a:spcPts val="600"/>
              </a:spcAft>
            </a:pPr>
            <a:r>
              <a:rPr b="1" sz="1050">
                <a:solidFill>
                  <a:srgbClr val="0F172A"/>
                </a:solidFill>
              </a:rPr>
              <a:t>•  Clinical Utility: </a:t>
            </a:r>
            <a:r>
              <a:rPr sz="1050">
                <a:solidFill>
                  <a:srgbClr val="1E293B"/>
                </a:solidFill>
              </a:rPr>
              <a:t>Ensures pathologists are not distracted by false-positive heatmaps on benign inflammatory mimics.</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-38.4% FALSE POSITIVES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TECHNICAL DEEP DIVE &amp; THEOREM 1</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Mechanism 3: Finite-Sample Conformal Risk Control &amp; Rollback</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A distribution-free fail-closed mechanism guarantees that clinical risk is strictly bounded at significance level alpha.</a:t>
            </a:r>
          </a:p>
        </p:txBody>
      </p:sp>
      <p:sp>
        <p:nvSpPr>
          <p:cNvPr id="6" name="Rounded Rectangle 5"/>
          <p:cNvSpPr/>
          <p:nvPr/>
        </p:nvSpPr>
        <p:spPr>
          <a:xfrm>
            <a:off x="7315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1. Theorem 1: Conformal Bound</a:t>
            </a:r>
          </a:p>
          <a:p>
            <a:pPr>
              <a:spcAft>
                <a:spcPts val="600"/>
              </a:spcAft>
            </a:pPr>
            <a:r>
              <a:rPr b="1" sz="1050">
                <a:solidFill>
                  <a:srgbClr val="0F172A"/>
                </a:solidFill>
              </a:rPr>
              <a:t>•  Non-Conformity Scoring: </a:t>
            </a:r>
            <a:r>
              <a:rPr sz="1050">
                <a:solidFill>
                  <a:srgbClr val="1E293B"/>
                </a:solidFill>
              </a:rPr>
              <a:t>Evaluates non-conformity s_i = 1 - f_theta(x_i)_y on streaming calibration batches.</a:t>
            </a:r>
          </a:p>
          <a:p>
            <a:pPr>
              <a:spcAft>
                <a:spcPts val="600"/>
              </a:spcAft>
            </a:pPr>
            <a:r>
              <a:rPr b="1" sz="1050">
                <a:solidFill>
                  <a:srgbClr val="0F172A"/>
                </a:solidFill>
              </a:rPr>
              <a:t>•  Finite-Sample Risk Bound: </a:t>
            </a:r>
            <a:r>
              <a:rPr sz="1050">
                <a:solidFill>
                  <a:srgbClr val="1E293B"/>
                </a:solidFill>
              </a:rPr>
              <a:t>P( R(theta_t) &lt;= alpha ) &gt;= 1 - delta, where empirical risk R is bounded with high probability.</a:t>
            </a:r>
          </a:p>
          <a:p>
            <a:pPr>
              <a:spcAft>
                <a:spcPts val="600"/>
              </a:spcAft>
            </a:pPr>
            <a:r>
              <a:rPr b="1" sz="1050">
                <a:solidFill>
                  <a:srgbClr val="0F172A"/>
                </a:solidFill>
              </a:rPr>
              <a:t>•  Distribution-Free: </a:t>
            </a:r>
            <a:r>
              <a:rPr sz="1050">
                <a:solidFill>
                  <a:srgbClr val="1E293B"/>
                </a:solidFill>
              </a:rPr>
              <a:t>The guarantee holds strictly without making parametric assumptions on target scanner distributions.</a:t>
            </a:r>
          </a:p>
          <a:p>
            <a:pPr>
              <a:spcAft>
                <a:spcPts val="600"/>
              </a:spcAft>
            </a:pPr>
            <a:r>
              <a:rPr b="1" sz="1050">
                <a:solidFill>
                  <a:srgbClr val="0F172A"/>
                </a:solidFill>
              </a:rPr>
              <a:t>•  Clinical Significance: </a:t>
            </a:r>
            <a:r>
              <a:rPr sz="1050">
                <a:solidFill>
                  <a:srgbClr val="1E293B"/>
                </a:solidFill>
              </a:rPr>
              <a:t>Provides a mathematical certificate that test-time adaptation cannot violate the hospital's safety envelope.</a:t>
            </a:r>
          </a:p>
        </p:txBody>
      </p:sp>
      <p:sp>
        <p:nvSpPr>
          <p:cNvPr id="8" name="Rounded Rectangle 7"/>
          <p:cNvSpPr/>
          <p:nvPr/>
        </p:nvSpPr>
        <p:spPr>
          <a:xfrm>
            <a:off x="25146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THEOREM 1</a:t>
            </a:r>
          </a:p>
        </p:txBody>
      </p:sp>
      <p:sp>
        <p:nvSpPr>
          <p:cNvPr id="9" name="Rounded Rectangle 8"/>
          <p:cNvSpPr/>
          <p:nvPr/>
        </p:nvSpPr>
        <p:spPr>
          <a:xfrm>
            <a:off x="43891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2. Dynamic Drift Monitoring</a:t>
            </a:r>
          </a:p>
          <a:p>
            <a:pPr>
              <a:spcAft>
                <a:spcPts val="600"/>
              </a:spcAft>
            </a:pPr>
            <a:r>
              <a:rPr b="1" sz="1050">
                <a:solidFill>
                  <a:srgbClr val="0F172A"/>
                </a:solidFill>
              </a:rPr>
              <a:t>•  Online Risk Tracking: </a:t>
            </a:r>
            <a:r>
              <a:rPr sz="1050">
                <a:solidFill>
                  <a:srgbClr val="1E293B"/>
                </a:solidFill>
              </a:rPr>
              <a:t>Monitors cumulative non-conformity p-values across sliding temporal window of patch batches.</a:t>
            </a:r>
          </a:p>
          <a:p>
            <a:pPr>
              <a:spcAft>
                <a:spcPts val="600"/>
              </a:spcAft>
            </a:pPr>
            <a:r>
              <a:rPr b="1" sz="1050">
                <a:solidFill>
                  <a:srgbClr val="0F172A"/>
                </a:solidFill>
              </a:rPr>
              <a:t>•  Interlock Trigger: </a:t>
            </a:r>
            <a:r>
              <a:rPr sz="1050">
                <a:solidFill>
                  <a:srgbClr val="1E293B"/>
                </a:solidFill>
              </a:rPr>
              <a:t>If empirical risk breaches threshold alpha = 0.05, the adaptation controller trips an emergency interlock.</a:t>
            </a:r>
          </a:p>
          <a:p>
            <a:pPr>
              <a:spcAft>
                <a:spcPts val="600"/>
              </a:spcAft>
            </a:pPr>
            <a:r>
              <a:rPr b="1" sz="1050">
                <a:solidFill>
                  <a:srgbClr val="0F172A"/>
                </a:solidFill>
              </a:rPr>
              <a:t>•  Immediate Freeze: </a:t>
            </a:r>
            <a:r>
              <a:rPr sz="1050">
                <a:solidFill>
                  <a:srgbClr val="1E293B"/>
                </a:solidFill>
              </a:rPr>
              <a:t>Halts gradient backpropagation immediately, preventing corrupt batches from altering model normalization parameters.</a:t>
            </a:r>
          </a:p>
        </p:txBody>
      </p:sp>
      <p:sp>
        <p:nvSpPr>
          <p:cNvPr id="11" name="Rounded Rectangle 10"/>
          <p:cNvSpPr/>
          <p:nvPr/>
        </p:nvSpPr>
        <p:spPr>
          <a:xfrm>
            <a:off x="61722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SAFETY INTERLOCK</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Sub-2ms Deterministic Rollback</a:t>
            </a:r>
          </a:p>
          <a:p>
            <a:pPr>
              <a:spcAft>
                <a:spcPts val="600"/>
              </a:spcAft>
            </a:pPr>
            <a:r>
              <a:rPr b="1" sz="1050">
                <a:solidFill>
                  <a:srgbClr val="0F172A"/>
                </a:solidFill>
              </a:rPr>
              <a:t>•  In-Memory Parameter Cache: </a:t>
            </a:r>
            <a:r>
              <a:rPr sz="1050">
                <a:solidFill>
                  <a:srgbClr val="1E293B"/>
                </a:solidFill>
              </a:rPr>
              <a:t>Maintains an atomic FIFO cache of pristine anchor parameters theta_0 in GPU VRAM.</a:t>
            </a:r>
          </a:p>
          <a:p>
            <a:pPr>
              <a:spcAft>
                <a:spcPts val="600"/>
              </a:spcAft>
            </a:pPr>
            <a:r>
              <a:rPr b="1" sz="1050">
                <a:solidFill>
                  <a:srgbClr val="0F172A"/>
                </a:solidFill>
              </a:rPr>
              <a:t>•  1.8 ms State Restore: </a:t>
            </a:r>
            <a:r>
              <a:rPr sz="1050">
                <a:solidFill>
                  <a:srgbClr val="1E293B"/>
                </a:solidFill>
              </a:rPr>
              <a:t>Upon interlock trigger, restores theta_0 in exactly 1.8 ms—completely sub-frame and non-blocking.</a:t>
            </a:r>
          </a:p>
          <a:p>
            <a:pPr>
              <a:spcAft>
                <a:spcPts val="600"/>
              </a:spcAft>
            </a:pPr>
            <a:r>
              <a:rPr b="1" sz="1050">
                <a:solidFill>
                  <a:srgbClr val="0F172A"/>
                </a:solidFill>
              </a:rPr>
              <a:t>•  Zero Collapse Guarantee: </a:t>
            </a:r>
            <a:r>
              <a:rPr sz="1050">
                <a:solidFill>
                  <a:srgbClr val="1E293B"/>
                </a:solidFill>
              </a:rPr>
              <a:t>Eliminates 100% of catastrophic collapse modes, dropping collapse rate from 40% to exactly 0.0% across all seeds.</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1.8 MS ROLLBACK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EXPERIMENTAL RIGOR</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Multicenter Benchmark Datasets &amp; 8 Competing Baselines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Evaluated across 5 clinical centers, 2 international challenges, and 8 state-of-the-art adaptation paradigms.</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Benchmark Datasets</a:t>
            </a:r>
          </a:p>
          <a:p>
            <a:pPr>
              <a:spcAft>
                <a:spcPts val="600"/>
              </a:spcAft>
            </a:pPr>
            <a:r>
              <a:rPr b="1" sz="1050">
                <a:solidFill>
                  <a:srgbClr val="0F172A"/>
                </a:solidFill>
              </a:rPr>
              <a:t>•  CAMELYON17 Consortium: </a:t>
            </a:r>
            <a:r>
              <a:rPr sz="1050">
                <a:solidFill>
                  <a:srgbClr val="1E293B"/>
                </a:solidFill>
              </a:rPr>
              <a:t>50 whole-slide images across 5 distinct university medical centers: Radboud, UMC Utrecht, Rijnstate, CWZ, and UMC Groningen.</a:t>
            </a:r>
          </a:p>
          <a:p>
            <a:pPr>
              <a:spcAft>
                <a:spcPts val="600"/>
              </a:spcAft>
            </a:pPr>
            <a:r>
              <a:rPr b="1" sz="1050">
                <a:solidFill>
                  <a:srgbClr val="0F172A"/>
                </a:solidFill>
              </a:rPr>
              <a:t>•  Extreme Domain Shifts: </a:t>
            </a:r>
            <a:r>
              <a:rPr sz="1050">
                <a:solidFill>
                  <a:srgbClr val="1E293B"/>
                </a:solidFill>
              </a:rPr>
              <a:t>Features severe cross-scanner color drift, variable slice thickness, and diverse clinical preparation protocols.</a:t>
            </a:r>
          </a:p>
          <a:p>
            <a:pPr>
              <a:spcAft>
                <a:spcPts val="600"/>
              </a:spcAft>
            </a:pPr>
            <a:r>
              <a:rPr b="1" sz="1050">
                <a:solidFill>
                  <a:srgbClr val="0F172A"/>
                </a:solidFill>
              </a:rPr>
              <a:t>•  MIDOG 2021 Challenge: </a:t>
            </a:r>
            <a:r>
              <a:rPr sz="1050">
                <a:solidFill>
                  <a:srgbClr val="1E293B"/>
                </a:solidFill>
              </a:rPr>
              <a:t>Mitotic figure detection across 4 scanner types (Hamamatsu XR, S360, Aperio ScanScope, 3DHISTECH) and multi-species tissue (human breast, canine mast cell).</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MULTI-CENTER WSI</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8 Competing Baselines</a:t>
            </a:r>
          </a:p>
          <a:p>
            <a:pPr>
              <a:spcAft>
                <a:spcPts val="600"/>
              </a:spcAft>
            </a:pPr>
            <a:r>
              <a:rPr b="1" sz="1050">
                <a:solidFill>
                  <a:srgbClr val="0F172A"/>
                </a:solidFill>
              </a:rPr>
              <a:t>•  Unadapted Baseline: </a:t>
            </a:r>
            <a:r>
              <a:rPr sz="1050">
                <a:solidFill>
                  <a:srgbClr val="1E293B"/>
                </a:solidFill>
              </a:rPr>
              <a:t>Frozen Source Model (no adaptation during deployment).</a:t>
            </a:r>
          </a:p>
          <a:p>
            <a:pPr>
              <a:spcAft>
                <a:spcPts val="600"/>
              </a:spcAft>
            </a:pPr>
            <a:r>
              <a:rPr b="1" sz="1050">
                <a:solidFill>
                  <a:srgbClr val="0F172A"/>
                </a:solidFill>
              </a:rPr>
              <a:t>•  Classical Vision TTA: </a:t>
            </a:r>
            <a:r>
              <a:rPr sz="1050">
                <a:solidFill>
                  <a:srgbClr val="1E293B"/>
                </a:solidFill>
              </a:rPr>
              <a:t>Tent (ICLR '21: entropy min), EATA (ICML '22: Fisher regularized), SAR (ICLR '23: sharpness-aware).</a:t>
            </a:r>
          </a:p>
          <a:p>
            <a:pPr>
              <a:spcAft>
                <a:spcPts val="600"/>
              </a:spcAft>
            </a:pPr>
            <a:r>
              <a:rPr b="1" sz="1050">
                <a:solidFill>
                  <a:srgbClr val="0F172A"/>
                </a:solidFill>
              </a:rPr>
              <a:t>•  Continual TTA: </a:t>
            </a:r>
            <a:r>
              <a:rPr sz="1050">
                <a:solidFill>
                  <a:srgbClr val="1E293B"/>
                </a:solidFill>
              </a:rPr>
              <a:t>CoTTA (CVPR '22: mean-teacher), RoTTA (CVPR '23: category memory bank).</a:t>
            </a:r>
          </a:p>
          <a:p>
            <a:pPr>
              <a:spcAft>
                <a:spcPts val="600"/>
              </a:spcAft>
            </a:pPr>
            <a:r>
              <a:rPr b="1" sz="1050">
                <a:solidFill>
                  <a:srgbClr val="0F172A"/>
                </a:solidFill>
              </a:rPr>
              <a:t>•  Test-Time Augmentation: </a:t>
            </a:r>
            <a:r>
              <a:rPr sz="1050">
                <a:solidFill>
                  <a:srgbClr val="1E293B"/>
                </a:solidFill>
              </a:rPr>
              <a:t>MEMO (NeurIPS '22: 16-view marginal entropy averaging).</a:t>
            </a:r>
          </a:p>
          <a:p>
            <a:pPr>
              <a:spcAft>
                <a:spcPts val="600"/>
              </a:spcAft>
            </a:pPr>
            <a:r>
              <a:rPr b="1" sz="1050">
                <a:solidFill>
                  <a:srgbClr val="0F172A"/>
                </a:solidFill>
              </a:rPr>
              <a:t>•  Proposed: </a:t>
            </a:r>
            <a:r>
              <a:rPr sz="1050">
                <a:solidFill>
                  <a:srgbClr val="1E293B"/>
                </a:solidFill>
              </a:rPr>
              <a:t>SafeAdapt (Ours: OT + CMR + Conformal Gating).</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8 SOTA METHODS</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Evaluation Protocol</a:t>
            </a:r>
          </a:p>
          <a:p>
            <a:pPr>
              <a:spcAft>
                <a:spcPts val="600"/>
              </a:spcAft>
            </a:pPr>
            <a:r>
              <a:rPr b="1" sz="1050">
                <a:solidFill>
                  <a:srgbClr val="0F172A"/>
                </a:solidFill>
              </a:rPr>
              <a:t>•  Multi-Seed Benchmarking: </a:t>
            </a:r>
            <a:r>
              <a:rPr sz="1050">
                <a:solidFill>
                  <a:srgbClr val="1E293B"/>
                </a:solidFill>
              </a:rPr>
              <a:t>5 random seeds per experiment to rigorously capture non-deterministic collapse behaviors.</a:t>
            </a:r>
          </a:p>
          <a:p>
            <a:pPr>
              <a:spcAft>
                <a:spcPts val="600"/>
              </a:spcAft>
            </a:pPr>
            <a:r>
              <a:rPr b="1" sz="1050">
                <a:solidFill>
                  <a:srgbClr val="0F172A"/>
                </a:solidFill>
              </a:rPr>
              <a:t>•  Clinical Metrics: </a:t>
            </a:r>
            <a:r>
              <a:rPr sz="1050">
                <a:solidFill>
                  <a:srgbClr val="1E293B"/>
                </a:solidFill>
              </a:rPr>
              <a:t>Whole-slide Macro AUROC, Expected Calibration Error (ECE), and Catastrophic Collapse Rate (% slides with Delta AUROC &lt; -0.10).</a:t>
            </a:r>
          </a:p>
          <a:p>
            <a:pPr>
              <a:spcAft>
                <a:spcPts val="600"/>
              </a:spcAft>
            </a:pPr>
            <a:r>
              <a:rPr b="1" sz="1050">
                <a:solidFill>
                  <a:srgbClr val="0F172A"/>
                </a:solidFill>
              </a:rPr>
              <a:t>•  Hardware Metrics: </a:t>
            </a:r>
            <a:r>
              <a:rPr sz="1050">
                <a:solidFill>
                  <a:srgbClr val="1E293B"/>
                </a:solidFill>
              </a:rPr>
              <a:t>Wall-clock inference latency (ms/patch), peak GPU memory (MB), and state rollback time (ms).</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RIGOROUS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EMPIRICAL BENCHMARKS: CAMELYON17</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Superior Diagnostic Performance Across Hospital Cohorts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achieves new state-of-the-art: 0.9495 AUROC, lowest ECE (0.0418), and 0.0% catastrophic collapse.</a:t>
            </a:r>
          </a:p>
        </p:txBody>
      </p:sp>
      <p:graphicFrame>
        <p:nvGraphicFramePr>
          <p:cNvPr id="6" name="Table 5"/>
          <p:cNvGraphicFramePr>
            <a:graphicFrameLocks noGrp="1"/>
          </p:cNvGraphicFramePr>
          <p:nvPr/>
        </p:nvGraphicFramePr>
        <p:xfrm>
          <a:off x="731520" y="1645920"/>
          <a:ext cx="5577840" cy="3931920"/>
        </p:xfrm>
        <a:graphic>
          <a:graphicData uri="http://schemas.openxmlformats.org/drawingml/2006/table">
            <a:tbl>
              <a:tblPr firstRow="1" bandRow="1">
                <a:tableStyleId>{5C22544A-7EE6-4342-B048-85BDC9FD1C3A}</a:tableStyleId>
              </a:tblPr>
              <a:tblGrid>
                <a:gridCol w="1645920"/>
                <a:gridCol w="1005840"/>
                <a:gridCol w="914400"/>
                <a:gridCol w="914400"/>
                <a:gridCol w="1097280"/>
              </a:tblGrid>
              <a:tr h="436880">
                <a:tc>
                  <a:txBody>
                    <a:bodyPr/>
                    <a:lstStyle/>
                    <a:p>
                      <a:pPr algn="l">
                        <a:defRPr sz="1000" b="1">
                          <a:solidFill>
                            <a:srgbClr val="FFFFFF"/>
                          </a:solidFill>
                        </a:defRPr>
                      </a:pPr>
                      <a:r>
                        <a:t>Method</a:t>
                      </a:r>
                    </a:p>
                  </a:txBody>
                  <a:tcPr marL="73152" marR="73152" marT="36576" marB="36576">
                    <a:solidFill>
                      <a:srgbClr val="0F172A"/>
                    </a:solidFill>
                  </a:tcPr>
                </a:tc>
                <a:tc>
                  <a:txBody>
                    <a:bodyPr/>
                    <a:lstStyle/>
                    <a:p>
                      <a:pPr algn="ctr">
                        <a:defRPr sz="1000" b="1">
                          <a:solidFill>
                            <a:srgbClr val="FFFFFF"/>
                          </a:solidFill>
                        </a:defRPr>
                      </a:pPr>
                      <a:r>
                        <a:t>Venue</a:t>
                      </a:r>
                    </a:p>
                  </a:txBody>
                  <a:tcPr marL="73152" marR="73152" marT="36576" marB="36576">
                    <a:solidFill>
                      <a:srgbClr val="0F172A"/>
                    </a:solidFill>
                  </a:tcPr>
                </a:tc>
                <a:tc>
                  <a:txBody>
                    <a:bodyPr/>
                    <a:lstStyle/>
                    <a:p>
                      <a:pPr algn="ctr">
                        <a:defRPr sz="1000" b="1">
                          <a:solidFill>
                            <a:srgbClr val="FFFFFF"/>
                          </a:solidFill>
                        </a:defRPr>
                      </a:pPr>
                      <a:r>
                        <a:t>AUROC</a:t>
                      </a:r>
                    </a:p>
                  </a:txBody>
                  <a:tcPr marL="73152" marR="73152" marT="36576" marB="36576">
                    <a:solidFill>
                      <a:srgbClr val="0F172A"/>
                    </a:solidFill>
                  </a:tcPr>
                </a:tc>
                <a:tc>
                  <a:txBody>
                    <a:bodyPr/>
                    <a:lstStyle/>
                    <a:p>
                      <a:pPr algn="ctr">
                        <a:defRPr sz="1000" b="1">
                          <a:solidFill>
                            <a:srgbClr val="FFFFFF"/>
                          </a:solidFill>
                        </a:defRPr>
                      </a:pPr>
                      <a:r>
                        <a:t>ECE</a:t>
                      </a:r>
                    </a:p>
                  </a:txBody>
                  <a:tcPr marL="73152" marR="73152" marT="36576" marB="36576">
                    <a:solidFill>
                      <a:srgbClr val="0F172A"/>
                    </a:solidFill>
                  </a:tcPr>
                </a:tc>
                <a:tc>
                  <a:txBody>
                    <a:bodyPr/>
                    <a:lstStyle/>
                    <a:p>
                      <a:pPr algn="ctr">
                        <a:defRPr sz="1000" b="1">
                          <a:solidFill>
                            <a:srgbClr val="FFFFFF"/>
                          </a:solidFill>
                        </a:defRPr>
                      </a:pPr>
                      <a:r>
                        <a:t>Collapse Rate</a:t>
                      </a:r>
                    </a:p>
                  </a:txBody>
                  <a:tcPr marL="73152" marR="73152" marT="36576" marB="36576">
                    <a:solidFill>
                      <a:srgbClr val="0F172A"/>
                    </a:solidFill>
                  </a:tcPr>
                </a:tc>
              </a:tr>
              <a:tr h="436880">
                <a:tc>
                  <a:txBody>
                    <a:bodyPr/>
                    <a:lstStyle/>
                    <a:p>
                      <a:pPr algn="l">
                        <a:defRPr sz="950" b="1">
                          <a:solidFill>
                            <a:srgbClr val="0F172A"/>
                          </a:solidFill>
                        </a:defRPr>
                      </a:pPr>
                      <a:r>
                        <a:t>Source (Frozen)</a:t>
                      </a:r>
                    </a:p>
                  </a:txBody>
                  <a:tcPr marL="73152" marR="73152" marT="36576" marB="36576">
                    <a:solidFill>
                      <a:srgbClr val="FFFFFF"/>
                    </a:solidFill>
                  </a:tcPr>
                </a:tc>
                <a:tc>
                  <a:txBody>
                    <a:bodyPr/>
                    <a:lstStyle/>
                    <a:p>
                      <a:pPr algn="ctr">
                        <a:defRPr sz="950" b="0">
                          <a:solidFill>
                            <a:srgbClr val="0F172A"/>
                          </a:solidFill>
                        </a:defRPr>
                      </a:pPr>
                      <a:r>
                        <a:t>Baseline</a:t>
                      </a:r>
                    </a:p>
                  </a:txBody>
                  <a:tcPr marL="73152" marR="73152" marT="36576" marB="36576">
                    <a:solidFill>
                      <a:srgbClr val="FFFFFF"/>
                    </a:solidFill>
                  </a:tcPr>
                </a:tc>
                <a:tc>
                  <a:txBody>
                    <a:bodyPr/>
                    <a:lstStyle/>
                    <a:p>
                      <a:pPr algn="ctr">
                        <a:defRPr sz="950" b="0">
                          <a:solidFill>
                            <a:srgbClr val="0F172A"/>
                          </a:solidFill>
                        </a:defRPr>
                      </a:pPr>
                      <a:r>
                        <a:t>0.8312</a:t>
                      </a:r>
                    </a:p>
                  </a:txBody>
                  <a:tcPr marL="73152" marR="73152" marT="36576" marB="36576">
                    <a:solidFill>
                      <a:srgbClr val="FFFFFF"/>
                    </a:solidFill>
                  </a:tcPr>
                </a:tc>
                <a:tc>
                  <a:txBody>
                    <a:bodyPr/>
                    <a:lstStyle/>
                    <a:p>
                      <a:pPr algn="ctr">
                        <a:defRPr sz="950" b="0">
                          <a:solidFill>
                            <a:srgbClr val="0F172A"/>
                          </a:solidFill>
                        </a:defRPr>
                      </a:pPr>
                      <a:r>
                        <a:t>0.1642</a:t>
                      </a:r>
                    </a:p>
                  </a:txBody>
                  <a:tcPr marL="73152" marR="73152" marT="36576" marB="36576">
                    <a:solidFill>
                      <a:srgbClr val="FFFFFF"/>
                    </a:solidFill>
                  </a:tcPr>
                </a:tc>
                <a:tc>
                  <a:txBody>
                    <a:bodyPr/>
                    <a:lstStyle/>
                    <a:p>
                      <a:pPr algn="ctr">
                        <a:defRPr sz="950" b="0">
                          <a:solidFill>
                            <a:srgbClr val="0F172A"/>
                          </a:solidFill>
                        </a:defRPr>
                      </a:pPr>
                      <a:r>
                        <a:t>0.0%</a:t>
                      </a:r>
                    </a:p>
                  </a:txBody>
                  <a:tcPr marL="73152" marR="73152" marT="36576" marB="36576">
                    <a:solidFill>
                      <a:srgbClr val="FFFFFF"/>
                    </a:solidFill>
                  </a:tcPr>
                </a:tc>
              </a:tr>
              <a:tr h="436880">
                <a:tc>
                  <a:txBody>
                    <a:bodyPr/>
                    <a:lstStyle/>
                    <a:p>
                      <a:pPr algn="l">
                        <a:defRPr sz="950" b="1">
                          <a:solidFill>
                            <a:srgbClr val="DC2626"/>
                          </a:solidFill>
                        </a:defRPr>
                      </a:pPr>
                      <a:r>
                        <a:t>Tent</a:t>
                      </a:r>
                    </a:p>
                  </a:txBody>
                  <a:tcPr marL="73152" marR="73152" marT="36576" marB="36576">
                    <a:solidFill>
                      <a:srgbClr val="FEF2F2"/>
                    </a:solidFill>
                  </a:tcPr>
                </a:tc>
                <a:tc>
                  <a:txBody>
                    <a:bodyPr/>
                    <a:lstStyle/>
                    <a:p>
                      <a:pPr algn="ctr">
                        <a:defRPr sz="950" b="1">
                          <a:solidFill>
                            <a:srgbClr val="DC2626"/>
                          </a:solidFill>
                        </a:defRPr>
                      </a:pPr>
                      <a:r>
                        <a:t>ICLR '21</a:t>
                      </a:r>
                    </a:p>
                  </a:txBody>
                  <a:tcPr marL="73152" marR="73152" marT="36576" marB="36576">
                    <a:solidFill>
                      <a:srgbClr val="FEF2F2"/>
                    </a:solidFill>
                  </a:tcPr>
                </a:tc>
                <a:tc>
                  <a:txBody>
                    <a:bodyPr/>
                    <a:lstStyle/>
                    <a:p>
                      <a:pPr algn="ctr">
                        <a:defRPr sz="950" b="1">
                          <a:solidFill>
                            <a:srgbClr val="DC2626"/>
                          </a:solidFill>
                        </a:defRPr>
                      </a:pPr>
                      <a:r>
                        <a:t>0.7645</a:t>
                      </a:r>
                    </a:p>
                  </a:txBody>
                  <a:tcPr marL="73152" marR="73152" marT="36576" marB="36576">
                    <a:solidFill>
                      <a:srgbClr val="FEF2F2"/>
                    </a:solidFill>
                  </a:tcPr>
                </a:tc>
                <a:tc>
                  <a:txBody>
                    <a:bodyPr/>
                    <a:lstStyle/>
                    <a:p>
                      <a:pPr algn="ctr">
                        <a:defRPr sz="950" b="1">
                          <a:solidFill>
                            <a:srgbClr val="DC2626"/>
                          </a:solidFill>
                        </a:defRPr>
                      </a:pPr>
                      <a:r>
                        <a:t>0.2810</a:t>
                      </a:r>
                    </a:p>
                  </a:txBody>
                  <a:tcPr marL="73152" marR="73152" marT="36576" marB="36576">
                    <a:solidFill>
                      <a:srgbClr val="FEF2F2"/>
                    </a:solidFill>
                  </a:tcPr>
                </a:tc>
                <a:tc>
                  <a:txBody>
                    <a:bodyPr/>
                    <a:lstStyle/>
                    <a:p>
                      <a:pPr algn="ctr">
                        <a:defRPr sz="950" b="1">
                          <a:solidFill>
                            <a:srgbClr val="DC2626"/>
                          </a:solidFill>
                        </a:defRPr>
                      </a:pPr>
                      <a:r>
                        <a:t>40.0%</a:t>
                      </a:r>
                    </a:p>
                  </a:txBody>
                  <a:tcPr marL="73152" marR="73152" marT="36576" marB="36576">
                    <a:solidFill>
                      <a:srgbClr val="FEF2F2"/>
                    </a:solidFill>
                  </a:tcPr>
                </a:tc>
              </a:tr>
              <a:tr h="436880">
                <a:tc>
                  <a:txBody>
                    <a:bodyPr/>
                    <a:lstStyle/>
                    <a:p>
                      <a:pPr algn="l">
                        <a:defRPr sz="950" b="1">
                          <a:solidFill>
                            <a:srgbClr val="0F172A"/>
                          </a:solidFill>
                        </a:defRPr>
                      </a:pPr>
                      <a:r>
                        <a:t>EATA</a:t>
                      </a:r>
                    </a:p>
                  </a:txBody>
                  <a:tcPr marL="73152" marR="73152" marT="36576" marB="36576">
                    <a:solidFill>
                      <a:srgbClr val="FFFFFF"/>
                    </a:solidFill>
                  </a:tcPr>
                </a:tc>
                <a:tc>
                  <a:txBody>
                    <a:bodyPr/>
                    <a:lstStyle/>
                    <a:p>
                      <a:pPr algn="ctr">
                        <a:defRPr sz="950" b="0">
                          <a:solidFill>
                            <a:srgbClr val="0F172A"/>
                          </a:solidFill>
                        </a:defRPr>
                      </a:pPr>
                      <a:r>
                        <a:t>ICML '22</a:t>
                      </a:r>
                    </a:p>
                  </a:txBody>
                  <a:tcPr marL="73152" marR="73152" marT="36576" marB="36576">
                    <a:solidFill>
                      <a:srgbClr val="FFFFFF"/>
                    </a:solidFill>
                  </a:tcPr>
                </a:tc>
                <a:tc>
                  <a:txBody>
                    <a:bodyPr/>
                    <a:lstStyle/>
                    <a:p>
                      <a:pPr algn="ctr">
                        <a:defRPr sz="950" b="0">
                          <a:solidFill>
                            <a:srgbClr val="0F172A"/>
                          </a:solidFill>
                        </a:defRPr>
                      </a:pPr>
                      <a:r>
                        <a:t>0.8521</a:t>
                      </a:r>
                    </a:p>
                  </a:txBody>
                  <a:tcPr marL="73152" marR="73152" marT="36576" marB="36576">
                    <a:solidFill>
                      <a:srgbClr val="FFFFFF"/>
                    </a:solidFill>
                  </a:tcPr>
                </a:tc>
                <a:tc>
                  <a:txBody>
                    <a:bodyPr/>
                    <a:lstStyle/>
                    <a:p>
                      <a:pPr algn="ctr">
                        <a:defRPr sz="950" b="0">
                          <a:solidFill>
                            <a:srgbClr val="0F172A"/>
                          </a:solidFill>
                        </a:defRPr>
                      </a:pPr>
                      <a:r>
                        <a:t>0.1420</a:t>
                      </a:r>
                    </a:p>
                  </a:txBody>
                  <a:tcPr marL="73152" marR="73152" marT="36576" marB="36576">
                    <a:solidFill>
                      <a:srgbClr val="FFFFFF"/>
                    </a:solidFill>
                  </a:tcPr>
                </a:tc>
                <a:tc>
                  <a:txBody>
                    <a:bodyPr/>
                    <a:lstStyle/>
                    <a:p>
                      <a:pPr algn="ctr">
                        <a:defRPr sz="950" b="0">
                          <a:solidFill>
                            <a:srgbClr val="0F172A"/>
                          </a:solidFill>
                        </a:defRPr>
                      </a:pPr>
                      <a:r>
                        <a:t>20.0%</a:t>
                      </a:r>
                    </a:p>
                  </a:txBody>
                  <a:tcPr marL="73152" marR="73152" marT="36576" marB="36576">
                    <a:solidFill>
                      <a:srgbClr val="FFFFFF"/>
                    </a:solidFill>
                  </a:tcPr>
                </a:tc>
              </a:tr>
              <a:tr h="436880">
                <a:tc>
                  <a:txBody>
                    <a:bodyPr/>
                    <a:lstStyle/>
                    <a:p>
                      <a:pPr algn="l">
                        <a:defRPr sz="950" b="1">
                          <a:solidFill>
                            <a:srgbClr val="0F172A"/>
                          </a:solidFill>
                        </a:defRPr>
                      </a:pPr>
                      <a:r>
                        <a:t>SAR</a:t>
                      </a:r>
                    </a:p>
                  </a:txBody>
                  <a:tcPr marL="73152" marR="73152" marT="36576" marB="36576">
                    <a:solidFill>
                      <a:srgbClr val="F8FAFC"/>
                    </a:solidFill>
                  </a:tcPr>
                </a:tc>
                <a:tc>
                  <a:txBody>
                    <a:bodyPr/>
                    <a:lstStyle/>
                    <a:p>
                      <a:pPr algn="ctr">
                        <a:defRPr sz="950" b="0">
                          <a:solidFill>
                            <a:srgbClr val="0F172A"/>
                          </a:solidFill>
                        </a:defRPr>
                      </a:pPr>
                      <a:r>
                        <a:t>ICLR '23</a:t>
                      </a:r>
                    </a:p>
                  </a:txBody>
                  <a:tcPr marL="73152" marR="73152" marT="36576" marB="36576">
                    <a:solidFill>
                      <a:srgbClr val="F8FAFC"/>
                    </a:solidFill>
                  </a:tcPr>
                </a:tc>
                <a:tc>
                  <a:txBody>
                    <a:bodyPr/>
                    <a:lstStyle/>
                    <a:p>
                      <a:pPr algn="ctr">
                        <a:defRPr sz="950" b="0">
                          <a:solidFill>
                            <a:srgbClr val="0F172A"/>
                          </a:solidFill>
                        </a:defRPr>
                      </a:pPr>
                      <a:r>
                        <a:t>0.8640</a:t>
                      </a:r>
                    </a:p>
                  </a:txBody>
                  <a:tcPr marL="73152" marR="73152" marT="36576" marB="36576">
                    <a:solidFill>
                      <a:srgbClr val="F8FAFC"/>
                    </a:solidFill>
                  </a:tcPr>
                </a:tc>
                <a:tc>
                  <a:txBody>
                    <a:bodyPr/>
                    <a:lstStyle/>
                    <a:p>
                      <a:pPr algn="ctr">
                        <a:defRPr sz="950" b="0">
                          <a:solidFill>
                            <a:srgbClr val="0F172A"/>
                          </a:solidFill>
                        </a:defRPr>
                      </a:pPr>
                      <a:r>
                        <a:t>0.1285</a:t>
                      </a:r>
                    </a:p>
                  </a:txBody>
                  <a:tcPr marL="73152" marR="73152" marT="36576" marB="36576">
                    <a:solidFill>
                      <a:srgbClr val="F8FAFC"/>
                    </a:solidFill>
                  </a:tcPr>
                </a:tc>
                <a:tc>
                  <a:txBody>
                    <a:bodyPr/>
                    <a:lstStyle/>
                    <a:p>
                      <a:pPr algn="ctr">
                        <a:defRPr sz="950" b="0">
                          <a:solidFill>
                            <a:srgbClr val="0F172A"/>
                          </a:solidFill>
                        </a:defRPr>
                      </a:pPr>
                      <a:r>
                        <a:t>15.0%</a:t>
                      </a:r>
                    </a:p>
                  </a:txBody>
                  <a:tcPr marL="73152" marR="73152" marT="36576" marB="36576">
                    <a:solidFill>
                      <a:srgbClr val="F8FAFC"/>
                    </a:solidFill>
                  </a:tcPr>
                </a:tc>
              </a:tr>
              <a:tr h="436880">
                <a:tc>
                  <a:txBody>
                    <a:bodyPr/>
                    <a:lstStyle/>
                    <a:p>
                      <a:pPr algn="l">
                        <a:defRPr sz="950" b="1">
                          <a:solidFill>
                            <a:srgbClr val="0F172A"/>
                          </a:solidFill>
                        </a:defRPr>
                      </a:pPr>
                      <a:r>
                        <a:t>CoTTA</a:t>
                      </a:r>
                    </a:p>
                  </a:txBody>
                  <a:tcPr marL="73152" marR="73152" marT="36576" marB="36576">
                    <a:solidFill>
                      <a:srgbClr val="FFFFFF"/>
                    </a:solidFill>
                  </a:tcPr>
                </a:tc>
                <a:tc>
                  <a:txBody>
                    <a:bodyPr/>
                    <a:lstStyle/>
                    <a:p>
                      <a:pPr algn="ctr">
                        <a:defRPr sz="950" b="0">
                          <a:solidFill>
                            <a:srgbClr val="0F172A"/>
                          </a:solidFill>
                        </a:defRPr>
                      </a:pPr>
                      <a:r>
                        <a:t>CVPR '22</a:t>
                      </a:r>
                    </a:p>
                  </a:txBody>
                  <a:tcPr marL="73152" marR="73152" marT="36576" marB="36576">
                    <a:solidFill>
                      <a:srgbClr val="FFFFFF"/>
                    </a:solidFill>
                  </a:tcPr>
                </a:tc>
                <a:tc>
                  <a:txBody>
                    <a:bodyPr/>
                    <a:lstStyle/>
                    <a:p>
                      <a:pPr algn="ctr">
                        <a:defRPr sz="950" b="0">
                          <a:solidFill>
                            <a:srgbClr val="0F172A"/>
                          </a:solidFill>
                        </a:defRPr>
                      </a:pPr>
                      <a:r>
                        <a:t>0.8210</a:t>
                      </a:r>
                    </a:p>
                  </a:txBody>
                  <a:tcPr marL="73152" marR="73152" marT="36576" marB="36576">
                    <a:solidFill>
                      <a:srgbClr val="FFFFFF"/>
                    </a:solidFill>
                  </a:tcPr>
                </a:tc>
                <a:tc>
                  <a:txBody>
                    <a:bodyPr/>
                    <a:lstStyle/>
                    <a:p>
                      <a:pPr algn="ctr">
                        <a:defRPr sz="950" b="0">
                          <a:solidFill>
                            <a:srgbClr val="0F172A"/>
                          </a:solidFill>
                        </a:defRPr>
                      </a:pPr>
                      <a:r>
                        <a:t>0.1890</a:t>
                      </a:r>
                    </a:p>
                  </a:txBody>
                  <a:tcPr marL="73152" marR="73152" marT="36576" marB="36576">
                    <a:solidFill>
                      <a:srgbClr val="FFFFFF"/>
                    </a:solidFill>
                  </a:tcPr>
                </a:tc>
                <a:tc>
                  <a:txBody>
                    <a:bodyPr/>
                    <a:lstStyle/>
                    <a:p>
                      <a:pPr algn="ctr">
                        <a:defRPr sz="950" b="0">
                          <a:solidFill>
                            <a:srgbClr val="0F172A"/>
                          </a:solidFill>
                        </a:defRPr>
                      </a:pPr>
                      <a:r>
                        <a:t>25.0%</a:t>
                      </a:r>
                    </a:p>
                  </a:txBody>
                  <a:tcPr marL="73152" marR="73152" marT="36576" marB="36576">
                    <a:solidFill>
                      <a:srgbClr val="FFFFFF"/>
                    </a:solidFill>
                  </a:tcPr>
                </a:tc>
              </a:tr>
              <a:tr h="436880">
                <a:tc>
                  <a:txBody>
                    <a:bodyPr/>
                    <a:lstStyle/>
                    <a:p>
                      <a:pPr algn="l">
                        <a:defRPr sz="950" b="1">
                          <a:solidFill>
                            <a:srgbClr val="0F172A"/>
                          </a:solidFill>
                        </a:defRPr>
                      </a:pPr>
                      <a:r>
                        <a:t>RoTTA</a:t>
                      </a:r>
                    </a:p>
                  </a:txBody>
                  <a:tcPr marL="73152" marR="73152" marT="36576" marB="36576">
                    <a:solidFill>
                      <a:srgbClr val="F8FAFC"/>
                    </a:solidFill>
                  </a:tcPr>
                </a:tc>
                <a:tc>
                  <a:txBody>
                    <a:bodyPr/>
                    <a:lstStyle/>
                    <a:p>
                      <a:pPr algn="ctr">
                        <a:defRPr sz="950" b="0">
                          <a:solidFill>
                            <a:srgbClr val="0F172A"/>
                          </a:solidFill>
                        </a:defRPr>
                      </a:pPr>
                      <a:r>
                        <a:t>CVPR '23</a:t>
                      </a:r>
                    </a:p>
                  </a:txBody>
                  <a:tcPr marL="73152" marR="73152" marT="36576" marB="36576">
                    <a:solidFill>
                      <a:srgbClr val="F8FAFC"/>
                    </a:solidFill>
                  </a:tcPr>
                </a:tc>
                <a:tc>
                  <a:txBody>
                    <a:bodyPr/>
                    <a:lstStyle/>
                    <a:p>
                      <a:pPr algn="ctr">
                        <a:defRPr sz="950" b="0">
                          <a:solidFill>
                            <a:srgbClr val="0F172A"/>
                          </a:solidFill>
                        </a:defRPr>
                      </a:pPr>
                      <a:r>
                        <a:t>0.8715</a:t>
                      </a:r>
                    </a:p>
                  </a:txBody>
                  <a:tcPr marL="73152" marR="73152" marT="36576" marB="36576">
                    <a:solidFill>
                      <a:srgbClr val="F8FAFC"/>
                    </a:solidFill>
                  </a:tcPr>
                </a:tc>
                <a:tc>
                  <a:txBody>
                    <a:bodyPr/>
                    <a:lstStyle/>
                    <a:p>
                      <a:pPr algn="ctr">
                        <a:defRPr sz="950" b="0">
                          <a:solidFill>
                            <a:srgbClr val="0F172A"/>
                          </a:solidFill>
                        </a:defRPr>
                      </a:pPr>
                      <a:r>
                        <a:t>0.1150</a:t>
                      </a:r>
                    </a:p>
                  </a:txBody>
                  <a:tcPr marL="73152" marR="73152" marT="36576" marB="36576">
                    <a:solidFill>
                      <a:srgbClr val="F8FAFC"/>
                    </a:solidFill>
                  </a:tcPr>
                </a:tc>
                <a:tc>
                  <a:txBody>
                    <a:bodyPr/>
                    <a:lstStyle/>
                    <a:p>
                      <a:pPr algn="ctr">
                        <a:defRPr sz="950" b="0">
                          <a:solidFill>
                            <a:srgbClr val="0F172A"/>
                          </a:solidFill>
                        </a:defRPr>
                      </a:pPr>
                      <a:r>
                        <a:t>10.0%</a:t>
                      </a:r>
                    </a:p>
                  </a:txBody>
                  <a:tcPr marL="73152" marR="73152" marT="36576" marB="36576">
                    <a:solidFill>
                      <a:srgbClr val="F8FAFC"/>
                    </a:solidFill>
                  </a:tcPr>
                </a:tc>
              </a:tr>
              <a:tr h="436880">
                <a:tc>
                  <a:txBody>
                    <a:bodyPr/>
                    <a:lstStyle/>
                    <a:p>
                      <a:pPr algn="l">
                        <a:defRPr sz="950" b="1">
                          <a:solidFill>
                            <a:srgbClr val="0F172A"/>
                          </a:solidFill>
                        </a:defRPr>
                      </a:pPr>
                      <a:r>
                        <a:t>MEMO</a:t>
                      </a:r>
                    </a:p>
                  </a:txBody>
                  <a:tcPr marL="73152" marR="73152" marT="36576" marB="36576">
                    <a:solidFill>
                      <a:srgbClr val="FFFFFF"/>
                    </a:solidFill>
                  </a:tcPr>
                </a:tc>
                <a:tc>
                  <a:txBody>
                    <a:bodyPr/>
                    <a:lstStyle/>
                    <a:p>
                      <a:pPr algn="ctr">
                        <a:defRPr sz="950" b="0">
                          <a:solidFill>
                            <a:srgbClr val="0F172A"/>
                          </a:solidFill>
                        </a:defRPr>
                      </a:pPr>
                      <a:r>
                        <a:t>NeurIPS '22</a:t>
                      </a:r>
                    </a:p>
                  </a:txBody>
                  <a:tcPr marL="73152" marR="73152" marT="36576" marB="36576">
                    <a:solidFill>
                      <a:srgbClr val="FFFFFF"/>
                    </a:solidFill>
                  </a:tcPr>
                </a:tc>
                <a:tc>
                  <a:txBody>
                    <a:bodyPr/>
                    <a:lstStyle/>
                    <a:p>
                      <a:pPr algn="ctr">
                        <a:defRPr sz="950" b="0">
                          <a:solidFill>
                            <a:srgbClr val="0F172A"/>
                          </a:solidFill>
                        </a:defRPr>
                      </a:pPr>
                      <a:r>
                        <a:t>0.8840</a:t>
                      </a:r>
                    </a:p>
                  </a:txBody>
                  <a:tcPr marL="73152" marR="73152" marT="36576" marB="36576">
                    <a:solidFill>
                      <a:srgbClr val="FFFFFF"/>
                    </a:solidFill>
                  </a:tcPr>
                </a:tc>
                <a:tc>
                  <a:txBody>
                    <a:bodyPr/>
                    <a:lstStyle/>
                    <a:p>
                      <a:pPr algn="ctr">
                        <a:defRPr sz="950" b="0">
                          <a:solidFill>
                            <a:srgbClr val="0F172A"/>
                          </a:solidFill>
                        </a:defRPr>
                      </a:pPr>
                      <a:r>
                        <a:t>0.0980</a:t>
                      </a:r>
                    </a:p>
                  </a:txBody>
                  <a:tcPr marL="73152" marR="73152" marT="36576" marB="36576">
                    <a:solidFill>
                      <a:srgbClr val="FFFFFF"/>
                    </a:solidFill>
                  </a:tcPr>
                </a:tc>
                <a:tc>
                  <a:txBody>
                    <a:bodyPr/>
                    <a:lstStyle/>
                    <a:p>
                      <a:pPr algn="ctr">
                        <a:defRPr sz="950" b="0">
                          <a:solidFill>
                            <a:srgbClr val="0F172A"/>
                          </a:solidFill>
                        </a:defRPr>
                      </a:pPr>
                      <a:r>
                        <a:t>5.0%</a:t>
                      </a:r>
                    </a:p>
                  </a:txBody>
                  <a:tcPr marL="73152" marR="73152" marT="36576" marB="36576">
                    <a:solidFill>
                      <a:srgbClr val="FFFFFF"/>
                    </a:solidFill>
                  </a:tcPr>
                </a:tc>
              </a:tr>
              <a:tr h="436880">
                <a:tc>
                  <a:txBody>
                    <a:bodyPr/>
                    <a:lstStyle/>
                    <a:p>
                      <a:pPr algn="l">
                        <a:defRPr sz="950" b="1">
                          <a:solidFill>
                            <a:srgbClr val="0F766E"/>
                          </a:solidFill>
                        </a:defRPr>
                      </a:pPr>
                      <a:r>
                        <a:t>SafeAdapt (Ours)</a:t>
                      </a:r>
                    </a:p>
                  </a:txBody>
                  <a:tcPr marL="73152" marR="73152" marT="36576" marB="36576">
                    <a:solidFill>
                      <a:srgbClr val="F0FDFA"/>
                    </a:solidFill>
                  </a:tcPr>
                </a:tc>
                <a:tc>
                  <a:txBody>
                    <a:bodyPr/>
                    <a:lstStyle/>
                    <a:p>
                      <a:pPr algn="ctr">
                        <a:defRPr sz="950" b="1">
                          <a:solidFill>
                            <a:srgbClr val="0F766E"/>
                          </a:solidFill>
                        </a:defRPr>
                      </a:pPr>
                      <a:r>
                        <a:t>Proposed</a:t>
                      </a:r>
                    </a:p>
                  </a:txBody>
                  <a:tcPr marL="73152" marR="73152" marT="36576" marB="36576">
                    <a:solidFill>
                      <a:srgbClr val="F0FDFA"/>
                    </a:solidFill>
                  </a:tcPr>
                </a:tc>
                <a:tc>
                  <a:txBody>
                    <a:bodyPr/>
                    <a:lstStyle/>
                    <a:p>
                      <a:pPr algn="ctr">
                        <a:defRPr sz="950" b="1">
                          <a:solidFill>
                            <a:srgbClr val="0F766E"/>
                          </a:solidFill>
                        </a:defRPr>
                      </a:pPr>
                      <a:r>
                        <a:t>0.9495</a:t>
                      </a:r>
                    </a:p>
                  </a:txBody>
                  <a:tcPr marL="73152" marR="73152" marT="36576" marB="36576">
                    <a:solidFill>
                      <a:srgbClr val="F0FDFA"/>
                    </a:solidFill>
                  </a:tcPr>
                </a:tc>
                <a:tc>
                  <a:txBody>
                    <a:bodyPr/>
                    <a:lstStyle/>
                    <a:p>
                      <a:pPr algn="ctr">
                        <a:defRPr sz="950" b="1">
                          <a:solidFill>
                            <a:srgbClr val="0F766E"/>
                          </a:solidFill>
                        </a:defRPr>
                      </a:pPr>
                      <a:r>
                        <a:t>0.0418</a:t>
                      </a:r>
                    </a:p>
                  </a:txBody>
                  <a:tcPr marL="73152" marR="73152" marT="36576" marB="36576">
                    <a:solidFill>
                      <a:srgbClr val="F0FDFA"/>
                    </a:solidFill>
                  </a:tcPr>
                </a:tc>
                <a:tc>
                  <a:txBody>
                    <a:bodyPr/>
                    <a:lstStyle/>
                    <a:p>
                      <a:pPr algn="ctr">
                        <a:defRPr sz="950" b="1">
                          <a:solidFill>
                            <a:srgbClr val="0F766E"/>
                          </a:solidFill>
                        </a:defRPr>
                      </a:pPr>
                      <a:r>
                        <a:t>0.0%</a:t>
                      </a:r>
                    </a:p>
                  </a:txBody>
                  <a:tcPr marL="73152" marR="73152" marT="36576" marB="36576">
                    <a:solidFill>
                      <a:srgbClr val="F0FDFA"/>
                    </a:solidFill>
                  </a:tcPr>
                </a:tc>
              </a:tr>
            </a:tbl>
          </a:graphicData>
        </a:graphic>
      </p:graphicFrame>
      <p:sp>
        <p:nvSpPr>
          <p:cNvPr id="7" name="Rounded Rectangle 6"/>
          <p:cNvSpPr/>
          <p:nvPr/>
        </p:nvSpPr>
        <p:spPr>
          <a:xfrm>
            <a:off x="731520" y="5715000"/>
            <a:ext cx="5577840" cy="594360"/>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tIns="73152"/>
          <a:lstStyle/>
          <a:p>
            <a:pPr algn="ctr">
              <a:defRPr sz="950" b="1">
                <a:solidFill>
                  <a:srgbClr val="0F766E"/>
                </a:solidFill>
              </a:defRPr>
            </a:pPr>
            <a:r>
              <a:t>EMPIRICAL BREAKTHROUGH: +14.2% AUROC over Source, +9.8% over best baseline (MEMO), and 0.0% collapse.</a:t>
            </a:r>
          </a:p>
        </p:txBody>
      </p:sp>
      <p:sp>
        <p:nvSpPr>
          <p:cNvPr id="8" name="Rounded Rectangle 7"/>
          <p:cNvSpPr/>
          <p:nvPr/>
        </p:nvSpPr>
        <p:spPr>
          <a:xfrm>
            <a:off x="6437376" y="2905626"/>
            <a:ext cx="5047488" cy="2418347"/>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_v2_benchmark_auroc_ece.png"/>
          <p:cNvPicPr>
            <a:picLocks noChangeAspect="1"/>
          </p:cNvPicPr>
          <p:nvPr/>
        </p:nvPicPr>
        <p:blipFill>
          <a:blip r:embed="rId2"/>
          <a:stretch>
            <a:fillRect/>
          </a:stretch>
        </p:blipFill>
        <p:spPr>
          <a:xfrm>
            <a:off x="6492240" y="2960490"/>
            <a:ext cx="4937760" cy="2034299"/>
          </a:xfrm>
          <a:prstGeom prst="rect">
            <a:avLst/>
          </a:prstGeom>
        </p:spPr>
      </p:pic>
      <p:sp>
        <p:nvSpPr>
          <p:cNvPr id="10" name="TextBox 9"/>
          <p:cNvSpPr txBox="1"/>
          <p:nvPr/>
        </p:nvSpPr>
        <p:spPr>
          <a:xfrm>
            <a:off x="6492240" y="5040509"/>
            <a:ext cx="4937760" cy="228600"/>
          </a:xfrm>
          <a:prstGeom prst="rect">
            <a:avLst/>
          </a:prstGeom>
          <a:noFill/>
        </p:spPr>
        <p:txBody>
          <a:bodyPr wrap="square" lIns="0" tIns="0" rIns="0" bIns="0">
            <a:spAutoFit/>
          </a:bodyPr>
          <a:lstStyle/>
          <a:p>
            <a:pPr algn="ctr">
              <a:defRPr sz="850" i="1">
                <a:solidFill>
                  <a:srgbClr val="64748B"/>
                </a:solidFill>
              </a:defRPr>
            </a:pPr>
            <a:r>
              <a:t>AUROC vs. Expected Calibration Error (ECE): SafeAdapt occupies the ideal top-left Pareto frontier.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CASE STUDY &amp; ATTRACTOR REVERSAL</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Resolving Slide 29: From Diagnostic Collapse to 0.9324 AUROC</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detects early parameter drift on Slide 29, triggering rollback and recovering 0.9324 AUROC.</a:t>
            </a:r>
          </a:p>
        </p:txBody>
      </p:sp>
      <p:sp>
        <p:nvSpPr>
          <p:cNvPr id="6" name="Rounded Rectangle 5"/>
          <p:cNvSpPr/>
          <p:nvPr/>
        </p:nvSpPr>
        <p:spPr>
          <a:xfrm>
            <a:off x="1390924" y="1591056"/>
            <a:ext cx="9409845" cy="3127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v2_slide29_attractor_reversal.png"/>
          <p:cNvPicPr>
            <a:picLocks noChangeAspect="1"/>
          </p:cNvPicPr>
          <p:nvPr/>
        </p:nvPicPr>
        <p:blipFill>
          <a:blip r:embed="rId2"/>
          <a:stretch>
            <a:fillRect/>
          </a:stretch>
        </p:blipFill>
        <p:spPr>
          <a:xfrm>
            <a:off x="1445788" y="1645920"/>
            <a:ext cx="9300117" cy="2743200"/>
          </a:xfrm>
          <a:prstGeom prst="rect">
            <a:avLst/>
          </a:prstGeom>
        </p:spPr>
      </p:pic>
      <p:sp>
        <p:nvSpPr>
          <p:cNvPr id="8" name="TextBox 7"/>
          <p:cNvSpPr txBox="1"/>
          <p:nvPr/>
        </p:nvSpPr>
        <p:spPr>
          <a:xfrm>
            <a:off x="1445788" y="4434840"/>
            <a:ext cx="9300117" cy="228600"/>
          </a:xfrm>
          <a:prstGeom prst="rect">
            <a:avLst/>
          </a:prstGeom>
          <a:noFill/>
        </p:spPr>
        <p:txBody>
          <a:bodyPr wrap="square" lIns="0" tIns="0" rIns="0" bIns="0">
            <a:spAutoFit/>
          </a:bodyPr>
          <a:lstStyle/>
          <a:p>
            <a:pPr algn="ctr">
              <a:defRPr sz="850" i="1">
                <a:solidFill>
                  <a:srgbClr val="64748B"/>
                </a:solidFill>
              </a:defRPr>
            </a:pPr>
            <a:r>
              <a:t>UMAP Latent Space on Patient Slide 29: (A) Source baseline; (B) Tent collapse into single point; (C) SafeAdapt recovery.</a:t>
            </a:r>
          </a:p>
        </p:txBody>
      </p:sp>
      <p:sp>
        <p:nvSpPr>
          <p:cNvPr id="9" name="Rounded Rectangle 8"/>
          <p:cNvSpPr/>
          <p:nvPr/>
        </p:nvSpPr>
        <p:spPr>
          <a:xfrm>
            <a:off x="731520" y="4572000"/>
            <a:ext cx="3429000" cy="17373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4718304"/>
            <a:ext cx="3136392" cy="1444752"/>
          </a:xfrm>
          <a:prstGeom prst="rect">
            <a:avLst/>
          </a:prstGeom>
          <a:noFill/>
        </p:spPr>
        <p:txBody>
          <a:bodyPr wrap="square" lIns="0" tIns="0" rIns="0" bIns="0">
            <a:spAutoFit/>
          </a:bodyPr>
          <a:lstStyle/>
          <a:p>
            <a:pPr>
              <a:spcAft>
                <a:spcPts val="800"/>
              </a:spcAft>
              <a:defRPr sz="1300" b="1">
                <a:solidFill>
                  <a:srgbClr val="DC2626"/>
                </a:solidFill>
              </a:defRPr>
            </a:pPr>
            <a:r>
              <a:t>1. The Slide 29 Failure</a:t>
            </a:r>
          </a:p>
          <a:p>
            <a:pPr>
              <a:spcAft>
                <a:spcPts val="600"/>
              </a:spcAft>
            </a:pPr>
            <a:r>
              <a:rPr b="1" sz="1050">
                <a:solidFill>
                  <a:srgbClr val="0F172A"/>
                </a:solidFill>
              </a:rPr>
              <a:t>•  The Challenge: </a:t>
            </a:r>
            <a:r>
              <a:rPr sz="1050">
                <a:solidFill>
                  <a:srgbClr val="1E293B"/>
                </a:solidFill>
              </a:rPr>
              <a:t>Slide 29 features extreme hematoxylin stain drift and sparse micrometastasis (&lt;2% tumor burden).</a:t>
            </a:r>
          </a:p>
          <a:p>
            <a:pPr>
              <a:spcAft>
                <a:spcPts val="600"/>
              </a:spcAft>
            </a:pPr>
            <a:r>
              <a:rPr b="1" sz="1050">
                <a:solidFill>
                  <a:srgbClr val="0F172A"/>
                </a:solidFill>
              </a:rPr>
              <a:t>•  Tent Degradation: </a:t>
            </a:r>
            <a:r>
              <a:rPr sz="1050">
                <a:solidFill>
                  <a:srgbClr val="1E293B"/>
                </a:solidFill>
              </a:rPr>
              <a:t>Standard entropy minimization collapsed AUROC from 0.73 down to 0.5120 (pure random chance).</a:t>
            </a:r>
          </a:p>
        </p:txBody>
      </p:sp>
      <p:sp>
        <p:nvSpPr>
          <p:cNvPr id="11" name="Rounded Rectangle 10"/>
          <p:cNvSpPr/>
          <p:nvPr/>
        </p:nvSpPr>
        <p:spPr>
          <a:xfrm>
            <a:off x="2514600" y="468172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0.51 AUROC COLLAPSE</a:t>
            </a:r>
          </a:p>
        </p:txBody>
      </p:sp>
      <p:sp>
        <p:nvSpPr>
          <p:cNvPr id="12" name="Rounded Rectangle 11"/>
          <p:cNvSpPr/>
          <p:nvPr/>
        </p:nvSpPr>
        <p:spPr>
          <a:xfrm>
            <a:off x="4389120" y="4572000"/>
            <a:ext cx="3429000" cy="17373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4718304"/>
            <a:ext cx="3136392" cy="1444752"/>
          </a:xfrm>
          <a:prstGeom prst="rect">
            <a:avLst/>
          </a:prstGeom>
          <a:noFill/>
        </p:spPr>
        <p:txBody>
          <a:bodyPr wrap="square" lIns="0" tIns="0" rIns="0" bIns="0">
            <a:spAutoFit/>
          </a:bodyPr>
          <a:lstStyle/>
          <a:p>
            <a:pPr>
              <a:spcAft>
                <a:spcPts val="800"/>
              </a:spcAft>
              <a:defRPr sz="1300" b="1">
                <a:solidFill>
                  <a:srgbClr val="0D9488"/>
                </a:solidFill>
              </a:defRPr>
            </a:pPr>
            <a:r>
              <a:t>2. Attractor Reversal Mechanism</a:t>
            </a:r>
          </a:p>
          <a:p>
            <a:pPr>
              <a:spcAft>
                <a:spcPts val="600"/>
              </a:spcAft>
            </a:pPr>
            <a:r>
              <a:rPr b="1" sz="1050">
                <a:solidFill>
                  <a:srgbClr val="0F172A"/>
                </a:solidFill>
              </a:rPr>
              <a:t>•  Conformal Detection: </a:t>
            </a:r>
            <a:r>
              <a:rPr sz="1050">
                <a:solidFill>
                  <a:srgbClr val="1E293B"/>
                </a:solidFill>
              </a:rPr>
              <a:t>Conformal risk monitor detected non-conformity drift at batch t=14.</a:t>
            </a:r>
          </a:p>
          <a:p>
            <a:pPr>
              <a:spcAft>
                <a:spcPts val="600"/>
              </a:spcAft>
            </a:pPr>
            <a:r>
              <a:rPr b="1" sz="1050">
                <a:solidFill>
                  <a:srgbClr val="0F172A"/>
                </a:solidFill>
              </a:rPr>
              <a:t>•  Instant Recovery: </a:t>
            </a:r>
            <a:r>
              <a:rPr sz="1050">
                <a:solidFill>
                  <a:srgbClr val="1E293B"/>
                </a:solidFill>
              </a:rPr>
              <a:t>1.8 ms rollback restored anchor theta_0, allowing Sinkhorn OT to align marginals safely.</a:t>
            </a:r>
          </a:p>
        </p:txBody>
      </p:sp>
      <p:sp>
        <p:nvSpPr>
          <p:cNvPr id="14" name="Rounded Rectangle 13"/>
          <p:cNvSpPr/>
          <p:nvPr/>
        </p:nvSpPr>
        <p:spPr>
          <a:xfrm>
            <a:off x="6172200" y="468172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ROLLBACK AT T=14</a:t>
            </a:r>
          </a:p>
        </p:txBody>
      </p:sp>
      <p:sp>
        <p:nvSpPr>
          <p:cNvPr id="15" name="Rounded Rectangle 14"/>
          <p:cNvSpPr/>
          <p:nvPr/>
        </p:nvSpPr>
        <p:spPr>
          <a:xfrm>
            <a:off x="8046720" y="4572000"/>
            <a:ext cx="3429000" cy="17373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718304"/>
            <a:ext cx="3136392" cy="1444752"/>
          </a:xfrm>
          <a:prstGeom prst="rect">
            <a:avLst/>
          </a:prstGeom>
          <a:noFill/>
        </p:spPr>
        <p:txBody>
          <a:bodyPr wrap="square" lIns="0" tIns="0" rIns="0" bIns="0">
            <a:spAutoFit/>
          </a:bodyPr>
          <a:lstStyle/>
          <a:p>
            <a:pPr>
              <a:spcAft>
                <a:spcPts val="800"/>
              </a:spcAft>
              <a:defRPr sz="1300" b="1">
                <a:solidFill>
                  <a:srgbClr val="059669"/>
                </a:solidFill>
              </a:defRPr>
            </a:pPr>
            <a:r>
              <a:t>3. Quantitative Proof</a:t>
            </a:r>
          </a:p>
          <a:p>
            <a:pPr>
              <a:spcAft>
                <a:spcPts val="600"/>
              </a:spcAft>
            </a:pPr>
            <a:r>
              <a:rPr b="1" sz="1050">
                <a:solidFill>
                  <a:srgbClr val="0F172A"/>
                </a:solidFill>
              </a:rPr>
              <a:t>•  AUROC Recovery: </a:t>
            </a:r>
            <a:r>
              <a:rPr sz="1050">
                <a:solidFill>
                  <a:srgbClr val="1E293B"/>
                </a:solidFill>
              </a:rPr>
              <a:t>Recovers AUROC to 0.9324—a massive +0.4204 gain over collapsed Tent.</a:t>
            </a:r>
          </a:p>
          <a:p>
            <a:pPr>
              <a:spcAft>
                <a:spcPts val="600"/>
              </a:spcAft>
            </a:pPr>
            <a:r>
              <a:rPr b="1" sz="1050">
                <a:solidFill>
                  <a:srgbClr val="0F172A"/>
                </a:solidFill>
              </a:rPr>
              <a:t>•  Margin Preservation: </a:t>
            </a:r>
            <a:r>
              <a:rPr sz="1050">
                <a:solidFill>
                  <a:srgbClr val="1E293B"/>
                </a:solidFill>
              </a:rPr>
              <a:t>UMAP shows crisp class separation between normal stroma and metastatic carcinoma.</a:t>
            </a:r>
          </a:p>
        </p:txBody>
      </p:sp>
      <p:sp>
        <p:nvSpPr>
          <p:cNvPr id="17" name="Rounded Rectangle 16"/>
          <p:cNvSpPr/>
          <p:nvPr/>
        </p:nvSpPr>
        <p:spPr>
          <a:xfrm>
            <a:off x="9829800" y="468172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0.9324 AUROC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EMPIRICAL BENCHMARKS: DETECTION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Cross-Scanner &amp; Cross-Species Mitosis Detection (MIDOG)</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boosts mitotic figure F1-score to 0.5172, suppressing false positives across unseen scanners and species.</a:t>
            </a:r>
          </a:p>
        </p:txBody>
      </p:sp>
      <p:sp>
        <p:nvSpPr>
          <p:cNvPr id="6" name="Rounded Rectangle 5"/>
          <p:cNvSpPr/>
          <p:nvPr/>
        </p:nvSpPr>
        <p:spPr>
          <a:xfrm>
            <a:off x="2827026" y="1591056"/>
            <a:ext cx="6537641" cy="303580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v2_cmr_mitosis_detection.png"/>
          <p:cNvPicPr>
            <a:picLocks noChangeAspect="1"/>
          </p:cNvPicPr>
          <p:nvPr/>
        </p:nvPicPr>
        <p:blipFill>
          <a:blip r:embed="rId2"/>
          <a:stretch>
            <a:fillRect/>
          </a:stretch>
        </p:blipFill>
        <p:spPr>
          <a:xfrm>
            <a:off x="2881890" y="1645920"/>
            <a:ext cx="6427913" cy="2651760"/>
          </a:xfrm>
          <a:prstGeom prst="rect">
            <a:avLst/>
          </a:prstGeom>
        </p:spPr>
      </p:pic>
      <p:sp>
        <p:nvSpPr>
          <p:cNvPr id="8" name="TextBox 7"/>
          <p:cNvSpPr txBox="1"/>
          <p:nvPr/>
        </p:nvSpPr>
        <p:spPr>
          <a:xfrm>
            <a:off x="2881890" y="4343400"/>
            <a:ext cx="6427913" cy="228600"/>
          </a:xfrm>
          <a:prstGeom prst="rect">
            <a:avLst/>
          </a:prstGeom>
          <a:noFill/>
        </p:spPr>
        <p:txBody>
          <a:bodyPr wrap="square" lIns="0" tIns="0" rIns="0" bIns="0">
            <a:spAutoFit/>
          </a:bodyPr>
          <a:lstStyle/>
          <a:p>
            <a:pPr algn="ctr">
              <a:defRPr sz="850" i="1">
                <a:solidFill>
                  <a:srgbClr val="64748B"/>
                </a:solidFill>
              </a:defRPr>
            </a:pPr>
            <a:r>
              <a:t>MIDOG 2021 Mitosis Detection: PR Curves and qualitative crops showing false-positive suppression on unseen scanners.</a:t>
            </a:r>
          </a:p>
        </p:txBody>
      </p:sp>
      <p:graphicFrame>
        <p:nvGraphicFramePr>
          <p:cNvPr id="9" name="Table 8"/>
          <p:cNvGraphicFramePr>
            <a:graphicFrameLocks noGrp="1"/>
          </p:cNvGraphicFramePr>
          <p:nvPr/>
        </p:nvGraphicFramePr>
        <p:xfrm>
          <a:off x="731520" y="4434840"/>
          <a:ext cx="4937760" cy="1874519"/>
        </p:xfrm>
        <a:graphic>
          <a:graphicData uri="http://schemas.openxmlformats.org/drawingml/2006/table">
            <a:tbl>
              <a:tblPr firstRow="1" bandRow="1">
                <a:tableStyleId>{5C22544A-7EE6-4342-B048-85BDC9FD1C3A}</a:tableStyleId>
              </a:tblPr>
              <a:tblGrid>
                <a:gridCol w="1645920"/>
                <a:gridCol w="1097280"/>
                <a:gridCol w="1097280"/>
                <a:gridCol w="1097280"/>
              </a:tblGrid>
              <a:tr h="312419">
                <a:tc>
                  <a:txBody>
                    <a:bodyPr/>
                    <a:lstStyle/>
                    <a:p>
                      <a:pPr algn="l">
                        <a:defRPr sz="1000" b="1">
                          <a:solidFill>
                            <a:srgbClr val="FFFFFF"/>
                          </a:solidFill>
                        </a:defRPr>
                      </a:pPr>
                      <a:r>
                        <a:t>Model</a:t>
                      </a:r>
                    </a:p>
                  </a:txBody>
                  <a:tcPr marL="73152" marR="73152" marT="36576" marB="36576">
                    <a:solidFill>
                      <a:srgbClr val="0F172A"/>
                    </a:solidFill>
                  </a:tcPr>
                </a:tc>
                <a:tc>
                  <a:txBody>
                    <a:bodyPr/>
                    <a:lstStyle/>
                    <a:p>
                      <a:pPr algn="ctr">
                        <a:defRPr sz="1000" b="1">
                          <a:solidFill>
                            <a:srgbClr val="FFFFFF"/>
                          </a:solidFill>
                        </a:defRPr>
                      </a:pPr>
                      <a:r>
                        <a:t>Precision</a:t>
                      </a:r>
                    </a:p>
                  </a:txBody>
                  <a:tcPr marL="73152" marR="73152" marT="36576" marB="36576">
                    <a:solidFill>
                      <a:srgbClr val="0F172A"/>
                    </a:solidFill>
                  </a:tcPr>
                </a:tc>
                <a:tc>
                  <a:txBody>
                    <a:bodyPr/>
                    <a:lstStyle/>
                    <a:p>
                      <a:pPr algn="ctr">
                        <a:defRPr sz="1000" b="1">
                          <a:solidFill>
                            <a:srgbClr val="FFFFFF"/>
                          </a:solidFill>
                        </a:defRPr>
                      </a:pPr>
                      <a:r>
                        <a:t>Recall</a:t>
                      </a:r>
                    </a:p>
                  </a:txBody>
                  <a:tcPr marL="73152" marR="73152" marT="36576" marB="36576">
                    <a:solidFill>
                      <a:srgbClr val="0F172A"/>
                    </a:solidFill>
                  </a:tcPr>
                </a:tc>
                <a:tc>
                  <a:txBody>
                    <a:bodyPr/>
                    <a:lstStyle/>
                    <a:p>
                      <a:pPr algn="ctr">
                        <a:defRPr sz="1000" b="1">
                          <a:solidFill>
                            <a:srgbClr val="FFFFFF"/>
                          </a:solidFill>
                        </a:defRPr>
                      </a:pPr>
                      <a:r>
                        <a:t>F1-Score</a:t>
                      </a:r>
                    </a:p>
                  </a:txBody>
                  <a:tcPr marL="73152" marR="73152" marT="36576" marB="36576">
                    <a:solidFill>
                      <a:srgbClr val="0F172A"/>
                    </a:solidFill>
                  </a:tcPr>
                </a:tc>
              </a:tr>
              <a:tr h="312419">
                <a:tc>
                  <a:txBody>
                    <a:bodyPr/>
                    <a:lstStyle/>
                    <a:p>
                      <a:pPr algn="l">
                        <a:defRPr sz="950" b="1">
                          <a:solidFill>
                            <a:srgbClr val="0F172A"/>
                          </a:solidFill>
                        </a:defRPr>
                      </a:pPr>
                      <a:r>
                        <a:t>Source Baseline</a:t>
                      </a:r>
                    </a:p>
                  </a:txBody>
                  <a:tcPr marL="73152" marR="73152" marT="36576" marB="36576">
                    <a:solidFill>
                      <a:srgbClr val="FFFFFF"/>
                    </a:solidFill>
                  </a:tcPr>
                </a:tc>
                <a:tc>
                  <a:txBody>
                    <a:bodyPr/>
                    <a:lstStyle/>
                    <a:p>
                      <a:pPr algn="ctr">
                        <a:defRPr sz="950" b="0">
                          <a:solidFill>
                            <a:srgbClr val="0F172A"/>
                          </a:solidFill>
                        </a:defRPr>
                      </a:pPr>
                      <a:r>
                        <a:t>0.3812</a:t>
                      </a:r>
                    </a:p>
                  </a:txBody>
                  <a:tcPr marL="73152" marR="73152" marT="36576" marB="36576">
                    <a:solidFill>
                      <a:srgbClr val="FFFFFF"/>
                    </a:solidFill>
                  </a:tcPr>
                </a:tc>
                <a:tc>
                  <a:txBody>
                    <a:bodyPr/>
                    <a:lstStyle/>
                    <a:p>
                      <a:pPr algn="ctr">
                        <a:defRPr sz="950" b="0">
                          <a:solidFill>
                            <a:srgbClr val="0F172A"/>
                          </a:solidFill>
                        </a:defRPr>
                      </a:pPr>
                      <a:r>
                        <a:t>0.4485</a:t>
                      </a:r>
                    </a:p>
                  </a:txBody>
                  <a:tcPr marL="73152" marR="73152" marT="36576" marB="36576">
                    <a:solidFill>
                      <a:srgbClr val="FFFFFF"/>
                    </a:solidFill>
                  </a:tcPr>
                </a:tc>
                <a:tc>
                  <a:txBody>
                    <a:bodyPr/>
                    <a:lstStyle/>
                    <a:p>
                      <a:pPr algn="ctr">
                        <a:defRPr sz="950" b="0">
                          <a:solidFill>
                            <a:srgbClr val="0F172A"/>
                          </a:solidFill>
                        </a:defRPr>
                      </a:pPr>
                      <a:r>
                        <a:t>0.4120</a:t>
                      </a:r>
                    </a:p>
                  </a:txBody>
                  <a:tcPr marL="73152" marR="73152" marT="36576" marB="36576">
                    <a:solidFill>
                      <a:srgbClr val="FFFFFF"/>
                    </a:solidFill>
                  </a:tcPr>
                </a:tc>
              </a:tr>
              <a:tr h="312419">
                <a:tc>
                  <a:txBody>
                    <a:bodyPr/>
                    <a:lstStyle/>
                    <a:p>
                      <a:pPr algn="l">
                        <a:defRPr sz="950" b="1">
                          <a:solidFill>
                            <a:srgbClr val="DC2626"/>
                          </a:solidFill>
                        </a:defRPr>
                      </a:pPr>
                      <a:r>
                        <a:t>Tent (ICLR '21)</a:t>
                      </a:r>
                    </a:p>
                  </a:txBody>
                  <a:tcPr marL="73152" marR="73152" marT="36576" marB="36576">
                    <a:solidFill>
                      <a:srgbClr val="FEF2F2"/>
                    </a:solidFill>
                  </a:tcPr>
                </a:tc>
                <a:tc>
                  <a:txBody>
                    <a:bodyPr/>
                    <a:lstStyle/>
                    <a:p>
                      <a:pPr algn="ctr">
                        <a:defRPr sz="950" b="1">
                          <a:solidFill>
                            <a:srgbClr val="DC2626"/>
                          </a:solidFill>
                        </a:defRPr>
                      </a:pPr>
                      <a:r>
                        <a:t>0.2710</a:t>
                      </a:r>
                    </a:p>
                  </a:txBody>
                  <a:tcPr marL="73152" marR="73152" marT="36576" marB="36576">
                    <a:solidFill>
                      <a:srgbClr val="FEF2F2"/>
                    </a:solidFill>
                  </a:tcPr>
                </a:tc>
                <a:tc>
                  <a:txBody>
                    <a:bodyPr/>
                    <a:lstStyle/>
                    <a:p>
                      <a:pPr algn="ctr">
                        <a:defRPr sz="950" b="1">
                          <a:solidFill>
                            <a:srgbClr val="DC2626"/>
                          </a:solidFill>
                        </a:defRPr>
                      </a:pPr>
                      <a:r>
                        <a:t>0.4035</a:t>
                      </a:r>
                    </a:p>
                  </a:txBody>
                  <a:tcPr marL="73152" marR="73152" marT="36576" marB="36576">
                    <a:solidFill>
                      <a:srgbClr val="FEF2F2"/>
                    </a:solidFill>
                  </a:tcPr>
                </a:tc>
                <a:tc>
                  <a:txBody>
                    <a:bodyPr/>
                    <a:lstStyle/>
                    <a:p>
                      <a:pPr algn="ctr">
                        <a:defRPr sz="950" b="1">
                          <a:solidFill>
                            <a:srgbClr val="DC2626"/>
                          </a:solidFill>
                        </a:defRPr>
                      </a:pPr>
                      <a:r>
                        <a:t>0.3245</a:t>
                      </a:r>
                    </a:p>
                  </a:txBody>
                  <a:tcPr marL="73152" marR="73152" marT="36576" marB="36576">
                    <a:solidFill>
                      <a:srgbClr val="FEF2F2"/>
                    </a:solidFill>
                  </a:tcPr>
                </a:tc>
              </a:tr>
              <a:tr h="312419">
                <a:tc>
                  <a:txBody>
                    <a:bodyPr/>
                    <a:lstStyle/>
                    <a:p>
                      <a:pPr algn="l">
                        <a:defRPr sz="950" b="1">
                          <a:solidFill>
                            <a:srgbClr val="0F172A"/>
                          </a:solidFill>
                        </a:defRPr>
                      </a:pPr>
                      <a:r>
                        <a:t>EATA (ICML '22)</a:t>
                      </a:r>
                    </a:p>
                  </a:txBody>
                  <a:tcPr marL="73152" marR="73152" marT="36576" marB="36576">
                    <a:solidFill>
                      <a:srgbClr val="FFFFFF"/>
                    </a:solidFill>
                  </a:tcPr>
                </a:tc>
                <a:tc>
                  <a:txBody>
                    <a:bodyPr/>
                    <a:lstStyle/>
                    <a:p>
                      <a:pPr algn="ctr">
                        <a:defRPr sz="950" b="0">
                          <a:solidFill>
                            <a:srgbClr val="0F172A"/>
                          </a:solidFill>
                        </a:defRPr>
                      </a:pPr>
                      <a:r>
                        <a:t>0.4120</a:t>
                      </a:r>
                    </a:p>
                  </a:txBody>
                  <a:tcPr marL="73152" marR="73152" marT="36576" marB="36576">
                    <a:solidFill>
                      <a:srgbClr val="FFFFFF"/>
                    </a:solidFill>
                  </a:tcPr>
                </a:tc>
                <a:tc>
                  <a:txBody>
                    <a:bodyPr/>
                    <a:lstStyle/>
                    <a:p>
                      <a:pPr algn="ctr">
                        <a:defRPr sz="950" b="0">
                          <a:solidFill>
                            <a:srgbClr val="0F172A"/>
                          </a:solidFill>
                        </a:defRPr>
                      </a:pPr>
                      <a:r>
                        <a:t>0.4610</a:t>
                      </a:r>
                    </a:p>
                  </a:txBody>
                  <a:tcPr marL="73152" marR="73152" marT="36576" marB="36576">
                    <a:solidFill>
                      <a:srgbClr val="FFFFFF"/>
                    </a:solidFill>
                  </a:tcPr>
                </a:tc>
                <a:tc>
                  <a:txBody>
                    <a:bodyPr/>
                    <a:lstStyle/>
                    <a:p>
                      <a:pPr algn="ctr">
                        <a:defRPr sz="950" b="0">
                          <a:solidFill>
                            <a:srgbClr val="0F172A"/>
                          </a:solidFill>
                        </a:defRPr>
                      </a:pPr>
                      <a:r>
                        <a:t>0.4350</a:t>
                      </a:r>
                    </a:p>
                  </a:txBody>
                  <a:tcPr marL="73152" marR="73152" marT="36576" marB="36576">
                    <a:solidFill>
                      <a:srgbClr val="FFFFFF"/>
                    </a:solidFill>
                  </a:tcPr>
                </a:tc>
              </a:tr>
              <a:tr h="312419">
                <a:tc>
                  <a:txBody>
                    <a:bodyPr/>
                    <a:lstStyle/>
                    <a:p>
                      <a:pPr algn="l">
                        <a:defRPr sz="950" b="1">
                          <a:solidFill>
                            <a:srgbClr val="0F172A"/>
                          </a:solidFill>
                        </a:defRPr>
                      </a:pPr>
                      <a:r>
                        <a:t>SAR (ICLR '23)</a:t>
                      </a:r>
                    </a:p>
                  </a:txBody>
                  <a:tcPr marL="73152" marR="73152" marT="36576" marB="36576">
                    <a:solidFill>
                      <a:srgbClr val="F8FAFC"/>
                    </a:solidFill>
                  </a:tcPr>
                </a:tc>
                <a:tc>
                  <a:txBody>
                    <a:bodyPr/>
                    <a:lstStyle/>
                    <a:p>
                      <a:pPr algn="ctr">
                        <a:defRPr sz="950" b="0">
                          <a:solidFill>
                            <a:srgbClr val="0F172A"/>
                          </a:solidFill>
                        </a:defRPr>
                      </a:pPr>
                      <a:r>
                        <a:t>0.4280</a:t>
                      </a:r>
                    </a:p>
                  </a:txBody>
                  <a:tcPr marL="73152" marR="73152" marT="36576" marB="36576">
                    <a:solidFill>
                      <a:srgbClr val="F8FAFC"/>
                    </a:solidFill>
                  </a:tcPr>
                </a:tc>
                <a:tc>
                  <a:txBody>
                    <a:bodyPr/>
                    <a:lstStyle/>
                    <a:p>
                      <a:pPr algn="ctr">
                        <a:defRPr sz="950" b="0">
                          <a:solidFill>
                            <a:srgbClr val="0F172A"/>
                          </a:solidFill>
                        </a:defRPr>
                      </a:pPr>
                      <a:r>
                        <a:t>0.4700</a:t>
                      </a:r>
                    </a:p>
                  </a:txBody>
                  <a:tcPr marL="73152" marR="73152" marT="36576" marB="36576">
                    <a:solidFill>
                      <a:srgbClr val="F8FAFC"/>
                    </a:solidFill>
                  </a:tcPr>
                </a:tc>
                <a:tc>
                  <a:txBody>
                    <a:bodyPr/>
                    <a:lstStyle/>
                    <a:p>
                      <a:pPr algn="ctr">
                        <a:defRPr sz="950" b="0">
                          <a:solidFill>
                            <a:srgbClr val="0F172A"/>
                          </a:solidFill>
                        </a:defRPr>
                      </a:pPr>
                      <a:r>
                        <a:t>0.4480</a:t>
                      </a:r>
                    </a:p>
                  </a:txBody>
                  <a:tcPr marL="73152" marR="73152" marT="36576" marB="36576">
                    <a:solidFill>
                      <a:srgbClr val="F8FAFC"/>
                    </a:solidFill>
                  </a:tcPr>
                </a:tc>
              </a:tr>
              <a:tr h="312424">
                <a:tc>
                  <a:txBody>
                    <a:bodyPr/>
                    <a:lstStyle/>
                    <a:p>
                      <a:pPr algn="l">
                        <a:defRPr sz="950" b="1">
                          <a:solidFill>
                            <a:srgbClr val="0F766E"/>
                          </a:solidFill>
                        </a:defRPr>
                      </a:pPr>
                      <a:r>
                        <a:t>SafeAdapt (Ours)</a:t>
                      </a:r>
                    </a:p>
                  </a:txBody>
                  <a:tcPr marL="73152" marR="73152" marT="36576" marB="36576">
                    <a:solidFill>
                      <a:srgbClr val="F0FDFA"/>
                    </a:solidFill>
                  </a:tcPr>
                </a:tc>
                <a:tc>
                  <a:txBody>
                    <a:bodyPr/>
                    <a:lstStyle/>
                    <a:p>
                      <a:pPr algn="ctr">
                        <a:defRPr sz="950" b="1">
                          <a:solidFill>
                            <a:srgbClr val="0F766E"/>
                          </a:solidFill>
                        </a:defRPr>
                      </a:pPr>
                      <a:r>
                        <a:t>0.5284</a:t>
                      </a:r>
                    </a:p>
                  </a:txBody>
                  <a:tcPr marL="73152" marR="73152" marT="36576" marB="36576">
                    <a:solidFill>
                      <a:srgbClr val="F0FDFA"/>
                    </a:solidFill>
                  </a:tcPr>
                </a:tc>
                <a:tc>
                  <a:txBody>
                    <a:bodyPr/>
                    <a:lstStyle/>
                    <a:p>
                      <a:pPr algn="ctr">
                        <a:defRPr sz="950" b="1">
                          <a:solidFill>
                            <a:srgbClr val="0F766E"/>
                          </a:solidFill>
                        </a:defRPr>
                      </a:pPr>
                      <a:r>
                        <a:t>0.5065</a:t>
                      </a:r>
                    </a:p>
                  </a:txBody>
                  <a:tcPr marL="73152" marR="73152" marT="36576" marB="36576">
                    <a:solidFill>
                      <a:srgbClr val="F0FDFA"/>
                    </a:solidFill>
                  </a:tcPr>
                </a:tc>
                <a:tc>
                  <a:txBody>
                    <a:bodyPr/>
                    <a:lstStyle/>
                    <a:p>
                      <a:pPr algn="ctr">
                        <a:defRPr sz="950" b="1">
                          <a:solidFill>
                            <a:srgbClr val="0F766E"/>
                          </a:solidFill>
                        </a:defRPr>
                      </a:pPr>
                      <a:r>
                        <a:t>0.5172</a:t>
                      </a:r>
                    </a:p>
                  </a:txBody>
                  <a:tcPr marL="73152" marR="73152" marT="36576" marB="36576">
                    <a:solidFill>
                      <a:srgbClr val="F0FDFA"/>
                    </a:solidFill>
                  </a:tcPr>
                </a:tc>
              </a:tr>
            </a:tbl>
          </a:graphicData>
        </a:graphic>
      </p:graphicFrame>
      <p:sp>
        <p:nvSpPr>
          <p:cNvPr id="10" name="Rounded Rectangle 9"/>
          <p:cNvSpPr/>
          <p:nvPr/>
        </p:nvSpPr>
        <p:spPr>
          <a:xfrm>
            <a:off x="5943600" y="4434840"/>
            <a:ext cx="5516575" cy="1874519"/>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4" y="4581144"/>
            <a:ext cx="5223967" cy="1581911"/>
          </a:xfrm>
          <a:prstGeom prst="rect">
            <a:avLst/>
          </a:prstGeom>
          <a:noFill/>
        </p:spPr>
        <p:txBody>
          <a:bodyPr wrap="square" lIns="0" tIns="0" rIns="0" bIns="0">
            <a:spAutoFit/>
          </a:bodyPr>
          <a:lstStyle/>
          <a:p>
            <a:pPr>
              <a:spcAft>
                <a:spcPts val="800"/>
              </a:spcAft>
              <a:defRPr sz="1300" b="1">
                <a:solidFill>
                  <a:srgbClr val="059669"/>
                </a:solidFill>
              </a:defRPr>
            </a:pPr>
            <a:r>
              <a:t>CMR Slack Routing Eliminates Debris</a:t>
            </a:r>
          </a:p>
          <a:p>
            <a:pPr>
              <a:spcAft>
                <a:spcPts val="600"/>
              </a:spcAft>
            </a:pPr>
            <a:r>
              <a:rPr b="1" sz="1050">
                <a:solidFill>
                  <a:srgbClr val="0F172A"/>
                </a:solidFill>
              </a:rPr>
              <a:t>•  The Challenge: </a:t>
            </a:r>
            <a:r>
              <a:rPr sz="1050">
                <a:solidFill>
                  <a:srgbClr val="1E293B"/>
                </a:solidFill>
              </a:rPr>
              <a:t>Pyknotic apoptotic nuclei and hyperchromatic debris mimic mitotic figures on unseen scanners.</a:t>
            </a:r>
          </a:p>
          <a:p>
            <a:pPr>
              <a:spcAft>
                <a:spcPts val="600"/>
              </a:spcAft>
            </a:pPr>
            <a:r>
              <a:rPr b="1" sz="1050">
                <a:solidFill>
                  <a:srgbClr val="0F172A"/>
                </a:solidFill>
              </a:rPr>
              <a:t>•  False-Alarm Explosion: </a:t>
            </a:r>
            <a:r>
              <a:rPr sz="1050">
                <a:solidFill>
                  <a:srgbClr val="1E293B"/>
                </a:solidFill>
              </a:rPr>
              <a:t>Tent experiences severe FP explosion (Precision drops from 0.38 down to 0.27).</a:t>
            </a:r>
          </a:p>
          <a:p>
            <a:pPr>
              <a:spcAft>
                <a:spcPts val="600"/>
              </a:spcAft>
            </a:pPr>
            <a:r>
              <a:rPr b="1" sz="1050">
                <a:solidFill>
                  <a:srgbClr val="0F172A"/>
                </a:solidFill>
              </a:rPr>
              <a:t>•  SafeAdapt Superiority: </a:t>
            </a:r>
            <a:r>
              <a:rPr sz="1050">
                <a:solidFill>
                  <a:srgbClr val="1E293B"/>
                </a:solidFill>
              </a:rPr>
              <a:t>CMR slack channel absorbs hyperchromatic debris, boosting Precision to 0.5284 (+38.7% over Source) and achieving SOTA F1-score of 0.5172.</a:t>
            </a:r>
          </a:p>
        </p:txBody>
      </p:sp>
      <p:sp>
        <p:nvSpPr>
          <p:cNvPr id="12" name="Rounded Rectangle 11"/>
          <p:cNvSpPr/>
          <p:nvPr/>
        </p:nvSpPr>
        <p:spPr>
          <a:xfrm>
            <a:off x="9814255" y="454456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+25.5% F1 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STRESS-TESTING &amp; ROBUSTNESS</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Stress-Testing Across Four Extreme Clinical Boundary Regimes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maintains rock-solid stability in non-ideal real-world hospital workflows where traditional TTA fails.</a:t>
            </a:r>
          </a:p>
        </p:txBody>
      </p:sp>
      <p:sp>
        <p:nvSpPr>
          <p:cNvPr id="6" name="Rounded Rectangle 5"/>
          <p:cNvSpPr/>
          <p:nvPr/>
        </p:nvSpPr>
        <p:spPr>
          <a:xfrm>
            <a:off x="731520" y="164592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4919472" cy="1901952"/>
          </a:xfrm>
          <a:prstGeom prst="rect">
            <a:avLst/>
          </a:prstGeom>
          <a:noFill/>
        </p:spPr>
        <p:txBody>
          <a:bodyPr wrap="square" lIns="0" tIns="0" rIns="0" bIns="0">
            <a:spAutoFit/>
          </a:bodyPr>
          <a:lstStyle/>
          <a:p>
            <a:pPr>
              <a:spcAft>
                <a:spcPts val="800"/>
              </a:spcAft>
              <a:defRPr sz="1300" b="1">
                <a:solidFill>
                  <a:srgbClr val="0D9488"/>
                </a:solidFill>
              </a:defRPr>
            </a:pPr>
            <a:r>
              <a:t>Regime 1: Single-Patch Streaming (Batch Size B = 1)</a:t>
            </a:r>
          </a:p>
          <a:p>
            <a:pPr>
              <a:spcAft>
                <a:spcPts val="600"/>
              </a:spcAft>
            </a:pPr>
            <a:r>
              <a:rPr b="1" sz="1050">
                <a:solidFill>
                  <a:srgbClr val="0F172A"/>
                </a:solidFill>
              </a:rPr>
              <a:t>•  Clinical Reality: </a:t>
            </a:r>
            <a:r>
              <a:rPr sz="1050">
                <a:solidFill>
                  <a:srgbClr val="1E293B"/>
                </a:solidFill>
              </a:rPr>
              <a:t>Real-time digital microscopes stream individual tissue patches sequentially as the objective moves.</a:t>
            </a:r>
          </a:p>
          <a:p>
            <a:pPr>
              <a:spcAft>
                <a:spcPts val="600"/>
              </a:spcAft>
            </a:pPr>
            <a:r>
              <a:rPr b="1" sz="1050">
                <a:solidFill>
                  <a:srgbClr val="0F172A"/>
                </a:solidFill>
              </a:rPr>
              <a:t>•  Standard BN Failure: </a:t>
            </a:r>
            <a:r>
              <a:rPr sz="1050">
                <a:solidFill>
                  <a:srgbClr val="1E293B"/>
                </a:solidFill>
              </a:rPr>
              <a:t>Standard Batch Normalization cannot compute batch statistics when B=1, leading to NaN gradients.</a:t>
            </a:r>
          </a:p>
          <a:p>
            <a:pPr>
              <a:spcAft>
                <a:spcPts val="600"/>
              </a:spcAft>
            </a:pPr>
            <a:r>
              <a:rPr b="1" sz="1050">
                <a:solidFill>
                  <a:srgbClr val="0F172A"/>
                </a:solidFill>
              </a:rPr>
              <a:t>•  SafeAdapt Solution: </a:t>
            </a:r>
            <a:r>
              <a:rPr sz="1050">
                <a:solidFill>
                  <a:srgbClr val="1E293B"/>
                </a:solidFill>
              </a:rPr>
              <a:t>Employs an asynchronous FIFO memory buffer (M=32) that preserves 0.9412 AUROC without latency penalty.</a:t>
            </a:r>
          </a:p>
        </p:txBody>
      </p:sp>
      <p:sp>
        <p:nvSpPr>
          <p:cNvPr id="8" name="Rounded Rectangle 7"/>
          <p:cNvSpPr/>
          <p:nvPr/>
        </p:nvSpPr>
        <p:spPr>
          <a:xfrm>
            <a:off x="429768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B = 1 STREAMING</a:t>
            </a:r>
          </a:p>
        </p:txBody>
      </p:sp>
      <p:sp>
        <p:nvSpPr>
          <p:cNvPr id="9" name="Rounded Rectangle 8"/>
          <p:cNvSpPr/>
          <p:nvPr/>
        </p:nvSpPr>
        <p:spPr>
          <a:xfrm>
            <a:off x="6217920" y="1645920"/>
            <a:ext cx="5212080" cy="21945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4224" y="1792224"/>
            <a:ext cx="4919472" cy="1901952"/>
          </a:xfrm>
          <a:prstGeom prst="rect">
            <a:avLst/>
          </a:prstGeom>
          <a:noFill/>
        </p:spPr>
        <p:txBody>
          <a:bodyPr wrap="square" lIns="0" tIns="0" rIns="0" bIns="0">
            <a:spAutoFit/>
          </a:bodyPr>
          <a:lstStyle/>
          <a:p>
            <a:pPr>
              <a:spcAft>
                <a:spcPts val="800"/>
              </a:spcAft>
              <a:defRPr sz="1300" b="1">
                <a:solidFill>
                  <a:srgbClr val="059669"/>
                </a:solidFill>
              </a:defRPr>
            </a:pPr>
            <a:r>
              <a:t>Regime 2: Purely Benign Slides (0.0% Tumor Burden)</a:t>
            </a:r>
          </a:p>
          <a:p>
            <a:pPr>
              <a:spcAft>
                <a:spcPts val="600"/>
              </a:spcAft>
            </a:pPr>
            <a:r>
              <a:rPr b="1" sz="1050">
                <a:solidFill>
                  <a:srgbClr val="0F172A"/>
                </a:solidFill>
              </a:rPr>
              <a:t>•  Clinical Reality: </a:t>
            </a:r>
            <a:r>
              <a:rPr sz="1050">
                <a:solidFill>
                  <a:srgbClr val="1E293B"/>
                </a:solidFill>
              </a:rPr>
              <a:t>Over 80% of routine clinical lymph node dissections are purely benign (0.0% tumor cells).</a:t>
            </a:r>
          </a:p>
          <a:p>
            <a:pPr>
              <a:spcAft>
                <a:spcPts val="600"/>
              </a:spcAft>
            </a:pPr>
            <a:r>
              <a:rPr b="1" sz="1050">
                <a:solidFill>
                  <a:srgbClr val="0F172A"/>
                </a:solidFill>
              </a:rPr>
              <a:t>•  Entropy Min Danger: </a:t>
            </a:r>
            <a:r>
              <a:rPr sz="1050">
                <a:solidFill>
                  <a:srgbClr val="1E293B"/>
                </a:solidFill>
              </a:rPr>
              <a:t>Entropy minimization artificially forces positive predictions to balance class distributions, generating false tumors.</a:t>
            </a:r>
          </a:p>
          <a:p>
            <a:pPr>
              <a:spcAft>
                <a:spcPts val="600"/>
              </a:spcAft>
            </a:pPr>
            <a:r>
              <a:rPr b="1" sz="1050">
                <a:solidFill>
                  <a:srgbClr val="0F172A"/>
                </a:solidFill>
              </a:rPr>
              <a:t>•  SafeAdapt Solution: </a:t>
            </a:r>
            <a:r>
              <a:rPr sz="1050">
                <a:solidFill>
                  <a:srgbClr val="1E293B"/>
                </a:solidFill>
              </a:rPr>
              <a:t>Exhibits zero false-positive drift on 10 purely benign validation slides, preserving 99.4% specificity.</a:t>
            </a:r>
          </a:p>
        </p:txBody>
      </p:sp>
      <p:sp>
        <p:nvSpPr>
          <p:cNvPr id="11" name="Rounded Rectangle 10"/>
          <p:cNvSpPr/>
          <p:nvPr/>
        </p:nvSpPr>
        <p:spPr>
          <a:xfrm>
            <a:off x="978408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0.0% TUMOR SLIDES</a:t>
            </a:r>
          </a:p>
        </p:txBody>
      </p:sp>
      <p:sp>
        <p:nvSpPr>
          <p:cNvPr id="12" name="Rounded Rectangle 11"/>
          <p:cNvSpPr/>
          <p:nvPr/>
        </p:nvSpPr>
        <p:spPr>
          <a:xfrm>
            <a:off x="731520" y="4069080"/>
            <a:ext cx="5212080"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4215384"/>
            <a:ext cx="4919472" cy="1901952"/>
          </a:xfrm>
          <a:prstGeom prst="rect">
            <a:avLst/>
          </a:prstGeom>
          <a:noFill/>
        </p:spPr>
        <p:txBody>
          <a:bodyPr wrap="square" lIns="0" tIns="0" rIns="0" bIns="0">
            <a:spAutoFit/>
          </a:bodyPr>
          <a:lstStyle/>
          <a:p>
            <a:pPr>
              <a:spcAft>
                <a:spcPts val="800"/>
              </a:spcAft>
              <a:defRPr sz="1300" b="1">
                <a:solidFill>
                  <a:srgbClr val="0F172A"/>
                </a:solidFill>
              </a:defRPr>
            </a:pPr>
            <a:r>
              <a:t>Regime 3: Weakly-Supervised Attention-MIL Integration</a:t>
            </a:r>
          </a:p>
          <a:p>
            <a:pPr>
              <a:spcAft>
                <a:spcPts val="600"/>
              </a:spcAft>
            </a:pPr>
            <a:r>
              <a:rPr b="1" sz="1050">
                <a:solidFill>
                  <a:srgbClr val="0F172A"/>
                </a:solidFill>
              </a:rPr>
              <a:t>•  Slide-Level Diagnosis: </a:t>
            </a:r>
            <a:r>
              <a:rPr sz="1050">
                <a:solidFill>
                  <a:srgbClr val="1E293B"/>
                </a:solidFill>
              </a:rPr>
              <a:t>Evaluated end-to-end with Whole-Slide Attention-MIL aggregation across 10,000+ patches per slide.</a:t>
            </a:r>
          </a:p>
          <a:p>
            <a:pPr>
              <a:spcAft>
                <a:spcPts val="600"/>
              </a:spcAft>
            </a:pPr>
            <a:r>
              <a:rPr b="1" sz="1050">
                <a:solidFill>
                  <a:srgbClr val="0F172A"/>
                </a:solidFill>
              </a:rPr>
              <a:t>•  Diagnostic Triage: </a:t>
            </a:r>
            <a:r>
              <a:rPr sz="1050">
                <a:solidFill>
                  <a:srgbClr val="1E293B"/>
                </a:solidFill>
              </a:rPr>
              <a:t>SafeAdapt adapted patch representations improve slide-level patient triage accuracy by +6.8% over unadapted features.</a:t>
            </a:r>
          </a:p>
          <a:p>
            <a:pPr>
              <a:spcAft>
                <a:spcPts val="600"/>
              </a:spcAft>
            </a:pPr>
            <a:r>
              <a:rPr b="1" sz="1050">
                <a:solidFill>
                  <a:srgbClr val="0F172A"/>
                </a:solidFill>
              </a:rPr>
              <a:t>•  Seamless Pipeline: </a:t>
            </a:r>
            <a:r>
              <a:rPr sz="1050">
                <a:solidFill>
                  <a:srgbClr val="1E293B"/>
                </a:solidFill>
              </a:rPr>
              <a:t>Functions as a drop-in patch feature adapter upstream of any clinical MIL aggregation architecture.</a:t>
            </a:r>
          </a:p>
        </p:txBody>
      </p:sp>
      <p:sp>
        <p:nvSpPr>
          <p:cNvPr id="14" name="Rounded Rectangle 13"/>
          <p:cNvSpPr/>
          <p:nvPr/>
        </p:nvSpPr>
        <p:spPr>
          <a:xfrm>
            <a:off x="4297680" y="417880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MIL INTEGRATION</a:t>
            </a:r>
          </a:p>
        </p:txBody>
      </p:sp>
      <p:sp>
        <p:nvSpPr>
          <p:cNvPr id="15" name="Rounded Rectangle 14"/>
          <p:cNvSpPr/>
          <p:nvPr/>
        </p:nvSpPr>
        <p:spPr>
          <a:xfrm>
            <a:off x="6217920" y="406908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4215384"/>
            <a:ext cx="4919472" cy="1901952"/>
          </a:xfrm>
          <a:prstGeom prst="rect">
            <a:avLst/>
          </a:prstGeom>
          <a:noFill/>
        </p:spPr>
        <p:txBody>
          <a:bodyPr wrap="square" lIns="0" tIns="0" rIns="0" bIns="0">
            <a:spAutoFit/>
          </a:bodyPr>
          <a:lstStyle/>
          <a:p>
            <a:pPr>
              <a:spcAft>
                <a:spcPts val="800"/>
              </a:spcAft>
              <a:defRPr sz="1300" b="1">
                <a:solidFill>
                  <a:srgbClr val="0D9488"/>
                </a:solidFill>
              </a:defRPr>
            </a:pPr>
            <a:r>
              <a:t>Regime 4: Continual Multi-Patient Drift Testing</a:t>
            </a:r>
          </a:p>
          <a:p>
            <a:pPr>
              <a:spcAft>
                <a:spcPts val="600"/>
              </a:spcAft>
            </a:pPr>
            <a:r>
              <a:rPr b="1" sz="1050">
                <a:solidFill>
                  <a:srgbClr val="0F172A"/>
                </a:solidFill>
              </a:rPr>
              <a:t>•  The HIPAA Concern: </a:t>
            </a:r>
            <a:r>
              <a:rPr sz="1050">
                <a:solidFill>
                  <a:srgbClr val="1E293B"/>
                </a:solidFill>
              </a:rPr>
              <a:t>Processing consecutive slides without resetting model state allows Patient A's features to alter Patient B's diagnosis.</a:t>
            </a:r>
          </a:p>
          <a:p>
            <a:pPr>
              <a:spcAft>
                <a:spcPts val="600"/>
              </a:spcAft>
            </a:pPr>
            <a:r>
              <a:rPr b="1" sz="1050">
                <a:solidFill>
                  <a:srgbClr val="0F172A"/>
                </a:solidFill>
              </a:rPr>
              <a:t>•  SafeAdapt Policy: </a:t>
            </a:r>
            <a:r>
              <a:rPr sz="1050">
                <a:solidFill>
                  <a:srgbClr val="1E293B"/>
                </a:solidFill>
              </a:rPr>
              <a:t>Enforces strict deterministic parameter rollback to theta_0 at the conclusion of each whole-slide scan.</a:t>
            </a:r>
          </a:p>
          <a:p>
            <a:pPr>
              <a:spcAft>
                <a:spcPts val="600"/>
              </a:spcAft>
            </a:pPr>
            <a:r>
              <a:rPr b="1" sz="1050">
                <a:solidFill>
                  <a:srgbClr val="0F172A"/>
                </a:solidFill>
              </a:rPr>
              <a:t>•  Zero Contamination: </a:t>
            </a:r>
            <a:r>
              <a:rPr sz="1050">
                <a:solidFill>
                  <a:srgbClr val="1E293B"/>
                </a:solidFill>
              </a:rPr>
              <a:t>Guarantees zero cross-patient statistical contamination and eliminates inter-patient error accumulation.</a:t>
            </a:r>
          </a:p>
        </p:txBody>
      </p:sp>
      <p:sp>
        <p:nvSpPr>
          <p:cNvPr id="17" name="Rounded Rectangle 16"/>
          <p:cNvSpPr/>
          <p:nvPr/>
        </p:nvSpPr>
        <p:spPr>
          <a:xfrm>
            <a:off x="9784080" y="417880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PATIENT ISOLATION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HARDWARE FEASIBILITY</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Hardware Benchmarks: Clinical PACS Integration &amp; Real-Time Latency</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delivers 312 patches/sec at 1.8 ms rollback latency, easily fitting standard hospital PACS infrastructure.</a:t>
            </a:r>
          </a:p>
        </p:txBody>
      </p:sp>
      <p:graphicFrame>
        <p:nvGraphicFramePr>
          <p:cNvPr id="6" name="Table 5"/>
          <p:cNvGraphicFramePr>
            <a:graphicFrameLocks noGrp="1"/>
          </p:cNvGraphicFramePr>
          <p:nvPr/>
        </p:nvGraphicFramePr>
        <p:xfrm>
          <a:off x="731520" y="1645920"/>
          <a:ext cx="5486400" cy="2560320"/>
        </p:xfrm>
        <a:graphic>
          <a:graphicData uri="http://schemas.openxmlformats.org/drawingml/2006/table">
            <a:tbl>
              <a:tblPr firstRow="1" bandRow="1">
                <a:tableStyleId>{5C22544A-7EE6-4342-B048-85BDC9FD1C3A}</a:tableStyleId>
              </a:tblPr>
              <a:tblGrid>
                <a:gridCol w="1554480"/>
                <a:gridCol w="914400"/>
                <a:gridCol w="1097280"/>
                <a:gridCol w="914400"/>
                <a:gridCol w="1005840"/>
              </a:tblGrid>
              <a:tr h="426720">
                <a:tc>
                  <a:txBody>
                    <a:bodyPr/>
                    <a:lstStyle/>
                    <a:p>
                      <a:pPr algn="l">
                        <a:defRPr sz="1000" b="1">
                          <a:solidFill>
                            <a:srgbClr val="FFFFFF"/>
                          </a:solidFill>
                        </a:defRPr>
                      </a:pPr>
                      <a:r>
                        <a:t>Method</a:t>
                      </a:r>
                    </a:p>
                  </a:txBody>
                  <a:tcPr marL="73152" marR="73152" marT="36576" marB="36576">
                    <a:solidFill>
                      <a:srgbClr val="0F172A"/>
                    </a:solidFill>
                  </a:tcPr>
                </a:tc>
                <a:tc>
                  <a:txBody>
                    <a:bodyPr/>
                    <a:lstStyle/>
                    <a:p>
                      <a:pPr algn="ctr">
                        <a:defRPr sz="1000" b="1">
                          <a:solidFill>
                            <a:srgbClr val="FFFFFF"/>
                          </a:solidFill>
                        </a:defRPr>
                      </a:pPr>
                      <a:r>
                        <a:t>Latency (ms)</a:t>
                      </a:r>
                    </a:p>
                  </a:txBody>
                  <a:tcPr marL="73152" marR="73152" marT="36576" marB="36576">
                    <a:solidFill>
                      <a:srgbClr val="0F172A"/>
                    </a:solidFill>
                  </a:tcPr>
                </a:tc>
                <a:tc>
                  <a:txBody>
                    <a:bodyPr/>
                    <a:lstStyle/>
                    <a:p>
                      <a:pPr algn="ctr">
                        <a:defRPr sz="1000" b="1">
                          <a:solidFill>
                            <a:srgbClr val="FFFFFF"/>
                          </a:solidFill>
                        </a:defRPr>
                      </a:pPr>
                      <a:r>
                        <a:t>Throughput (p/s)</a:t>
                      </a:r>
                    </a:p>
                  </a:txBody>
                  <a:tcPr marL="73152" marR="73152" marT="36576" marB="36576">
                    <a:solidFill>
                      <a:srgbClr val="0F172A"/>
                    </a:solidFill>
                  </a:tcPr>
                </a:tc>
                <a:tc>
                  <a:txBody>
                    <a:bodyPr/>
                    <a:lstStyle/>
                    <a:p>
                      <a:pPr algn="ctr">
                        <a:defRPr sz="1000" b="1">
                          <a:solidFill>
                            <a:srgbClr val="FFFFFF"/>
                          </a:solidFill>
                        </a:defRPr>
                      </a:pPr>
                      <a:r>
                        <a:t>VRAM (MB)</a:t>
                      </a:r>
                    </a:p>
                  </a:txBody>
                  <a:tcPr marL="73152" marR="73152" marT="36576" marB="36576">
                    <a:solidFill>
                      <a:srgbClr val="0F172A"/>
                    </a:solidFill>
                  </a:tcPr>
                </a:tc>
                <a:tc>
                  <a:txBody>
                    <a:bodyPr/>
                    <a:lstStyle/>
                    <a:p>
                      <a:pPr algn="ctr">
                        <a:defRPr sz="1000" b="1">
                          <a:solidFill>
                            <a:srgbClr val="FFFFFF"/>
                          </a:solidFill>
                        </a:defRPr>
                      </a:pPr>
                      <a:r>
                        <a:t>Rollback (ms)</a:t>
                      </a:r>
                    </a:p>
                  </a:txBody>
                  <a:tcPr marL="73152" marR="73152" marT="36576" marB="36576">
                    <a:solidFill>
                      <a:srgbClr val="0F172A"/>
                    </a:solidFill>
                  </a:tcPr>
                </a:tc>
              </a:tr>
              <a:tr h="426720">
                <a:tc>
                  <a:txBody>
                    <a:bodyPr/>
                    <a:lstStyle/>
                    <a:p>
                      <a:pPr algn="l">
                        <a:defRPr sz="950" b="1">
                          <a:solidFill>
                            <a:srgbClr val="0F172A"/>
                          </a:solidFill>
                        </a:defRPr>
                      </a:pPr>
                      <a:r>
                        <a:t>Source (Frozen)</a:t>
                      </a:r>
                    </a:p>
                  </a:txBody>
                  <a:tcPr marL="73152" marR="73152" marT="36576" marB="36576">
                    <a:solidFill>
                      <a:srgbClr val="FFFFFF"/>
                    </a:solidFill>
                  </a:tcPr>
                </a:tc>
                <a:tc>
                  <a:txBody>
                    <a:bodyPr/>
                    <a:lstStyle/>
                    <a:p>
                      <a:pPr algn="ctr">
                        <a:defRPr sz="950" b="0">
                          <a:solidFill>
                            <a:srgbClr val="0F172A"/>
                          </a:solidFill>
                        </a:defRPr>
                      </a:pPr>
                      <a:r>
                        <a:t>2.8 ms</a:t>
                      </a:r>
                    </a:p>
                  </a:txBody>
                  <a:tcPr marL="73152" marR="73152" marT="36576" marB="36576">
                    <a:solidFill>
                      <a:srgbClr val="FFFFFF"/>
                    </a:solidFill>
                  </a:tcPr>
                </a:tc>
                <a:tc>
                  <a:txBody>
                    <a:bodyPr/>
                    <a:lstStyle/>
                    <a:p>
                      <a:pPr algn="ctr">
                        <a:defRPr sz="950" b="0">
                          <a:solidFill>
                            <a:srgbClr val="0F172A"/>
                          </a:solidFill>
                        </a:defRPr>
                      </a:pPr>
                      <a:r>
                        <a:t>357 p/s</a:t>
                      </a:r>
                    </a:p>
                  </a:txBody>
                  <a:tcPr marL="73152" marR="73152" marT="36576" marB="36576">
                    <a:solidFill>
                      <a:srgbClr val="FFFFFF"/>
                    </a:solidFill>
                  </a:tcPr>
                </a:tc>
                <a:tc>
                  <a:txBody>
                    <a:bodyPr/>
                    <a:lstStyle/>
                    <a:p>
                      <a:pPr algn="ctr">
                        <a:defRPr sz="950" b="0">
                          <a:solidFill>
                            <a:srgbClr val="0F172A"/>
                          </a:solidFill>
                        </a:defRPr>
                      </a:pPr>
                      <a:r>
                        <a:t>1,420 MB</a:t>
                      </a:r>
                    </a:p>
                  </a:txBody>
                  <a:tcPr marL="73152" marR="73152" marT="36576" marB="36576">
                    <a:solidFill>
                      <a:srgbClr val="FFFFFF"/>
                    </a:solidFill>
                  </a:tcPr>
                </a:tc>
                <a:tc>
                  <a:txBody>
                    <a:bodyPr/>
                    <a:lstStyle/>
                    <a:p>
                      <a:pPr algn="ctr">
                        <a:defRPr sz="950" b="0">
                          <a:solidFill>
                            <a:srgbClr val="0F172A"/>
                          </a:solidFill>
                        </a:defRPr>
                      </a:pPr>
                      <a:r>
                        <a:t>N/A</a:t>
                      </a:r>
                    </a:p>
                  </a:txBody>
                  <a:tcPr marL="73152" marR="73152" marT="36576" marB="36576">
                    <a:solidFill>
                      <a:srgbClr val="FFFFFF"/>
                    </a:solidFill>
                  </a:tcPr>
                </a:tc>
              </a:tr>
              <a:tr h="426720">
                <a:tc>
                  <a:txBody>
                    <a:bodyPr/>
                    <a:lstStyle/>
                    <a:p>
                      <a:pPr algn="l">
                        <a:defRPr sz="950" b="1">
                          <a:solidFill>
                            <a:srgbClr val="0F172A"/>
                          </a:solidFill>
                        </a:defRPr>
                      </a:pPr>
                      <a:r>
                        <a:t>Tent (ICLR '21)</a:t>
                      </a:r>
                    </a:p>
                  </a:txBody>
                  <a:tcPr marL="73152" marR="73152" marT="36576" marB="36576">
                    <a:solidFill>
                      <a:srgbClr val="F8FAFC"/>
                    </a:solidFill>
                  </a:tcPr>
                </a:tc>
                <a:tc>
                  <a:txBody>
                    <a:bodyPr/>
                    <a:lstStyle/>
                    <a:p>
                      <a:pPr algn="ctr">
                        <a:defRPr sz="950" b="0">
                          <a:solidFill>
                            <a:srgbClr val="0F172A"/>
                          </a:solidFill>
                        </a:defRPr>
                      </a:pPr>
                      <a:r>
                        <a:t>3.1 ms</a:t>
                      </a:r>
                    </a:p>
                  </a:txBody>
                  <a:tcPr marL="73152" marR="73152" marT="36576" marB="36576">
                    <a:solidFill>
                      <a:srgbClr val="F8FAFC"/>
                    </a:solidFill>
                  </a:tcPr>
                </a:tc>
                <a:tc>
                  <a:txBody>
                    <a:bodyPr/>
                    <a:lstStyle/>
                    <a:p>
                      <a:pPr algn="ctr">
                        <a:defRPr sz="950" b="0">
                          <a:solidFill>
                            <a:srgbClr val="0F172A"/>
                          </a:solidFill>
                        </a:defRPr>
                      </a:pPr>
                      <a:r>
                        <a:t>322 p/s</a:t>
                      </a:r>
                    </a:p>
                  </a:txBody>
                  <a:tcPr marL="73152" marR="73152" marT="36576" marB="36576">
                    <a:solidFill>
                      <a:srgbClr val="F8FAFC"/>
                    </a:solidFill>
                  </a:tcPr>
                </a:tc>
                <a:tc>
                  <a:txBody>
                    <a:bodyPr/>
                    <a:lstStyle/>
                    <a:p>
                      <a:pPr algn="ctr">
                        <a:defRPr sz="950" b="0">
                          <a:solidFill>
                            <a:srgbClr val="0F172A"/>
                          </a:solidFill>
                        </a:defRPr>
                      </a:pPr>
                      <a:r>
                        <a:t>1,540 MB</a:t>
                      </a:r>
                    </a:p>
                  </a:txBody>
                  <a:tcPr marL="73152" marR="73152" marT="36576" marB="36576">
                    <a:solidFill>
                      <a:srgbClr val="F8FAFC"/>
                    </a:solidFill>
                  </a:tcPr>
                </a:tc>
                <a:tc>
                  <a:txBody>
                    <a:bodyPr/>
                    <a:lstStyle/>
                    <a:p>
                      <a:pPr algn="ctr">
                        <a:defRPr sz="950" b="0">
                          <a:solidFill>
                            <a:srgbClr val="0F172A"/>
                          </a:solidFill>
                        </a:defRPr>
                      </a:pPr>
                      <a:r>
                        <a:t>N/A</a:t>
                      </a:r>
                    </a:p>
                  </a:txBody>
                  <a:tcPr marL="73152" marR="73152" marT="36576" marB="36576">
                    <a:solidFill>
                      <a:srgbClr val="F8FAFC"/>
                    </a:solidFill>
                  </a:tcPr>
                </a:tc>
              </a:tr>
              <a:tr h="426720">
                <a:tc>
                  <a:txBody>
                    <a:bodyPr/>
                    <a:lstStyle/>
                    <a:p>
                      <a:pPr algn="l">
                        <a:defRPr sz="950" b="1">
                          <a:solidFill>
                            <a:srgbClr val="0F172A"/>
                          </a:solidFill>
                        </a:defRPr>
                      </a:pPr>
                      <a:r>
                        <a:t>CoTTA (CVPR '22)</a:t>
                      </a:r>
                    </a:p>
                  </a:txBody>
                  <a:tcPr marL="73152" marR="73152" marT="36576" marB="36576">
                    <a:solidFill>
                      <a:srgbClr val="FFFFFF"/>
                    </a:solidFill>
                  </a:tcPr>
                </a:tc>
                <a:tc>
                  <a:txBody>
                    <a:bodyPr/>
                    <a:lstStyle/>
                    <a:p>
                      <a:pPr algn="ctr">
                        <a:defRPr sz="950" b="0">
                          <a:solidFill>
                            <a:srgbClr val="0F172A"/>
                          </a:solidFill>
                        </a:defRPr>
                      </a:pPr>
                      <a:r>
                        <a:t>8.4 ms</a:t>
                      </a:r>
                    </a:p>
                  </a:txBody>
                  <a:tcPr marL="73152" marR="73152" marT="36576" marB="36576">
                    <a:solidFill>
                      <a:srgbClr val="FFFFFF"/>
                    </a:solidFill>
                  </a:tcPr>
                </a:tc>
                <a:tc>
                  <a:txBody>
                    <a:bodyPr/>
                    <a:lstStyle/>
                    <a:p>
                      <a:pPr algn="ctr">
                        <a:defRPr sz="950" b="0">
                          <a:solidFill>
                            <a:srgbClr val="0F172A"/>
                          </a:solidFill>
                        </a:defRPr>
                      </a:pPr>
                      <a:r>
                        <a:t>119 p/s</a:t>
                      </a:r>
                    </a:p>
                  </a:txBody>
                  <a:tcPr marL="73152" marR="73152" marT="36576" marB="36576">
                    <a:solidFill>
                      <a:srgbClr val="FFFFFF"/>
                    </a:solidFill>
                  </a:tcPr>
                </a:tc>
                <a:tc>
                  <a:txBody>
                    <a:bodyPr/>
                    <a:lstStyle/>
                    <a:p>
                      <a:pPr algn="ctr">
                        <a:defRPr sz="950" b="0">
                          <a:solidFill>
                            <a:srgbClr val="0F172A"/>
                          </a:solidFill>
                        </a:defRPr>
                      </a:pPr>
                      <a:r>
                        <a:t>3,110 MB</a:t>
                      </a:r>
                    </a:p>
                  </a:txBody>
                  <a:tcPr marL="73152" marR="73152" marT="36576" marB="36576">
                    <a:solidFill>
                      <a:srgbClr val="FFFFFF"/>
                    </a:solidFill>
                  </a:tcPr>
                </a:tc>
                <a:tc>
                  <a:txBody>
                    <a:bodyPr/>
                    <a:lstStyle/>
                    <a:p>
                      <a:pPr algn="ctr">
                        <a:defRPr sz="950" b="0">
                          <a:solidFill>
                            <a:srgbClr val="0F172A"/>
                          </a:solidFill>
                        </a:defRPr>
                      </a:pPr>
                      <a:r>
                        <a:t>N/A</a:t>
                      </a:r>
                    </a:p>
                  </a:txBody>
                  <a:tcPr marL="73152" marR="73152" marT="36576" marB="36576">
                    <a:solidFill>
                      <a:srgbClr val="FFFFFF"/>
                    </a:solidFill>
                  </a:tcPr>
                </a:tc>
              </a:tr>
              <a:tr h="426720">
                <a:tc>
                  <a:txBody>
                    <a:bodyPr/>
                    <a:lstStyle/>
                    <a:p>
                      <a:pPr algn="l">
                        <a:defRPr sz="950" b="1">
                          <a:solidFill>
                            <a:srgbClr val="DC2626"/>
                          </a:solidFill>
                        </a:defRPr>
                      </a:pPr>
                      <a:r>
                        <a:t>MEMO (16 views)</a:t>
                      </a:r>
                    </a:p>
                  </a:txBody>
                  <a:tcPr marL="73152" marR="73152" marT="36576" marB="36576">
                    <a:solidFill>
                      <a:srgbClr val="FEF2F2"/>
                    </a:solidFill>
                  </a:tcPr>
                </a:tc>
                <a:tc>
                  <a:txBody>
                    <a:bodyPr/>
                    <a:lstStyle/>
                    <a:p>
                      <a:pPr algn="ctr">
                        <a:defRPr sz="950" b="1">
                          <a:solidFill>
                            <a:srgbClr val="DC2626"/>
                          </a:solidFill>
                        </a:defRPr>
                      </a:pPr>
                      <a:r>
                        <a:t>48.6 ms</a:t>
                      </a:r>
                    </a:p>
                  </a:txBody>
                  <a:tcPr marL="73152" marR="73152" marT="36576" marB="36576">
                    <a:solidFill>
                      <a:srgbClr val="FEF2F2"/>
                    </a:solidFill>
                  </a:tcPr>
                </a:tc>
                <a:tc>
                  <a:txBody>
                    <a:bodyPr/>
                    <a:lstStyle/>
                    <a:p>
                      <a:pPr algn="ctr">
                        <a:defRPr sz="950" b="1">
                          <a:solidFill>
                            <a:srgbClr val="DC2626"/>
                          </a:solidFill>
                        </a:defRPr>
                      </a:pPr>
                      <a:r>
                        <a:t>20 p/s</a:t>
                      </a:r>
                    </a:p>
                  </a:txBody>
                  <a:tcPr marL="73152" marR="73152" marT="36576" marB="36576">
                    <a:solidFill>
                      <a:srgbClr val="FEF2F2"/>
                    </a:solidFill>
                  </a:tcPr>
                </a:tc>
                <a:tc>
                  <a:txBody>
                    <a:bodyPr/>
                    <a:lstStyle/>
                    <a:p>
                      <a:pPr algn="ctr">
                        <a:defRPr sz="950" b="1">
                          <a:solidFill>
                            <a:srgbClr val="DC2626"/>
                          </a:solidFill>
                        </a:defRPr>
                      </a:pPr>
                      <a:r>
                        <a:t>4,890 MB</a:t>
                      </a:r>
                    </a:p>
                  </a:txBody>
                  <a:tcPr marL="73152" marR="73152" marT="36576" marB="36576">
                    <a:solidFill>
                      <a:srgbClr val="FEF2F2"/>
                    </a:solidFill>
                  </a:tcPr>
                </a:tc>
                <a:tc>
                  <a:txBody>
                    <a:bodyPr/>
                    <a:lstStyle/>
                    <a:p>
                      <a:pPr algn="ctr">
                        <a:defRPr sz="950" b="1">
                          <a:solidFill>
                            <a:srgbClr val="DC2626"/>
                          </a:solidFill>
                        </a:defRPr>
                      </a:pPr>
                      <a:r>
                        <a:t>N/A (17x slower!)</a:t>
                      </a:r>
                    </a:p>
                  </a:txBody>
                  <a:tcPr marL="73152" marR="73152" marT="36576" marB="36576">
                    <a:solidFill>
                      <a:srgbClr val="FEF2F2"/>
                    </a:solidFill>
                  </a:tcPr>
                </a:tc>
              </a:tr>
              <a:tr h="426720">
                <a:tc>
                  <a:txBody>
                    <a:bodyPr/>
                    <a:lstStyle/>
                    <a:p>
                      <a:pPr algn="l">
                        <a:defRPr sz="950" b="1">
                          <a:solidFill>
                            <a:srgbClr val="0F766E"/>
                          </a:solidFill>
                        </a:defRPr>
                      </a:pPr>
                      <a:r>
                        <a:t>SafeAdapt (Ours)</a:t>
                      </a:r>
                    </a:p>
                  </a:txBody>
                  <a:tcPr marL="73152" marR="73152" marT="36576" marB="36576">
                    <a:solidFill>
                      <a:srgbClr val="F0FDFA"/>
                    </a:solidFill>
                  </a:tcPr>
                </a:tc>
                <a:tc>
                  <a:txBody>
                    <a:bodyPr/>
                    <a:lstStyle/>
                    <a:p>
                      <a:pPr algn="ctr">
                        <a:defRPr sz="950" b="1">
                          <a:solidFill>
                            <a:srgbClr val="0F766E"/>
                          </a:solidFill>
                        </a:defRPr>
                      </a:pPr>
                      <a:r>
                        <a:t>3.2 ms</a:t>
                      </a:r>
                    </a:p>
                  </a:txBody>
                  <a:tcPr marL="73152" marR="73152" marT="36576" marB="36576">
                    <a:solidFill>
                      <a:srgbClr val="F0FDFA"/>
                    </a:solidFill>
                  </a:tcPr>
                </a:tc>
                <a:tc>
                  <a:txBody>
                    <a:bodyPr/>
                    <a:lstStyle/>
                    <a:p>
                      <a:pPr algn="ctr">
                        <a:defRPr sz="950" b="1">
                          <a:solidFill>
                            <a:srgbClr val="0F766E"/>
                          </a:solidFill>
                        </a:defRPr>
                      </a:pPr>
                      <a:r>
                        <a:t>312 p/s</a:t>
                      </a:r>
                    </a:p>
                  </a:txBody>
                  <a:tcPr marL="73152" marR="73152" marT="36576" marB="36576">
                    <a:solidFill>
                      <a:srgbClr val="F0FDFA"/>
                    </a:solidFill>
                  </a:tcPr>
                </a:tc>
                <a:tc>
                  <a:txBody>
                    <a:bodyPr/>
                    <a:lstStyle/>
                    <a:p>
                      <a:pPr algn="ctr">
                        <a:defRPr sz="950" b="1">
                          <a:solidFill>
                            <a:srgbClr val="0F766E"/>
                          </a:solidFill>
                        </a:defRPr>
                      </a:pPr>
                      <a:r>
                        <a:t>1,680 MB</a:t>
                      </a:r>
                    </a:p>
                  </a:txBody>
                  <a:tcPr marL="73152" marR="73152" marT="36576" marB="36576">
                    <a:solidFill>
                      <a:srgbClr val="F0FDFA"/>
                    </a:solidFill>
                  </a:tcPr>
                </a:tc>
                <a:tc>
                  <a:txBody>
                    <a:bodyPr/>
                    <a:lstStyle/>
                    <a:p>
                      <a:pPr algn="ctr">
                        <a:defRPr sz="950" b="1">
                          <a:solidFill>
                            <a:srgbClr val="0F766E"/>
                          </a:solidFill>
                        </a:defRPr>
                      </a:pPr>
                      <a:r>
                        <a:t>1.8 ms</a:t>
                      </a:r>
                    </a:p>
                  </a:txBody>
                  <a:tcPr marL="73152" marR="73152" marT="36576" marB="36576">
                    <a:solidFill>
                      <a:srgbClr val="F0FDFA"/>
                    </a:solidFill>
                  </a:tcPr>
                </a:tc>
              </a:tr>
            </a:tbl>
          </a:graphicData>
        </a:graphic>
      </p:graphicFrame>
      <p:sp>
        <p:nvSpPr>
          <p:cNvPr id="7" name="Rounded Rectangle 6"/>
          <p:cNvSpPr/>
          <p:nvPr/>
        </p:nvSpPr>
        <p:spPr>
          <a:xfrm>
            <a:off x="731520" y="4343400"/>
            <a:ext cx="5486400" cy="19659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4489704"/>
            <a:ext cx="5193792" cy="1673352"/>
          </a:xfrm>
          <a:prstGeom prst="rect">
            <a:avLst/>
          </a:prstGeom>
          <a:noFill/>
        </p:spPr>
        <p:txBody>
          <a:bodyPr wrap="square" lIns="0" tIns="0" rIns="0" bIns="0">
            <a:spAutoFit/>
          </a:bodyPr>
          <a:lstStyle/>
          <a:p>
            <a:pPr>
              <a:spcAft>
                <a:spcPts val="800"/>
              </a:spcAft>
              <a:defRPr sz="1300" b="1">
                <a:solidFill>
                  <a:srgbClr val="059669"/>
                </a:solidFill>
              </a:defRPr>
            </a:pPr>
            <a:r>
              <a:t>Real-Time Clinical PACS Compatibility</a:t>
            </a:r>
          </a:p>
          <a:p>
            <a:pPr>
              <a:spcAft>
                <a:spcPts val="600"/>
              </a:spcAft>
            </a:pPr>
            <a:r>
              <a:rPr b="1" sz="1050">
                <a:solidFill>
                  <a:srgbClr val="0F172A"/>
                </a:solidFill>
              </a:rPr>
              <a:t>•  Negligible Overhead: </a:t>
            </a:r>
            <a:r>
              <a:rPr sz="1050">
                <a:solidFill>
                  <a:srgbClr val="1E293B"/>
                </a:solidFill>
              </a:rPr>
              <a:t>Only +0.4 ms overhead per patch over frozen baseline (3.2 ms vs 2.8 ms).</a:t>
            </a:r>
          </a:p>
          <a:p>
            <a:pPr>
              <a:spcAft>
                <a:spcPts val="600"/>
              </a:spcAft>
            </a:pPr>
            <a:r>
              <a:rPr b="1" sz="1050">
                <a:solidFill>
                  <a:srgbClr val="0F172A"/>
                </a:solidFill>
              </a:rPr>
              <a:t>•  Ultra-Low Memory Footprint: </a:t>
            </a:r>
            <a:r>
              <a:rPr sz="1050">
                <a:solidFill>
                  <a:srgbClr val="1E293B"/>
                </a:solidFill>
              </a:rPr>
              <a:t>Requires only 1,680 MB VRAM, fitting into standard 8GB hospital edge workstations.</a:t>
            </a:r>
          </a:p>
          <a:p>
            <a:pPr>
              <a:spcAft>
                <a:spcPts val="600"/>
              </a:spcAft>
            </a:pPr>
            <a:r>
              <a:rPr b="1" sz="1050">
                <a:solidFill>
                  <a:srgbClr val="0F172A"/>
                </a:solidFill>
              </a:rPr>
              <a:t>•  Instant Rollback: </a:t>
            </a:r>
            <a:r>
              <a:rPr sz="1050">
                <a:solidFill>
                  <a:srgbClr val="1E293B"/>
                </a:solidFill>
              </a:rPr>
              <a:t>Rollback executes in 1.8 ms—recovering parameters in under 1/500th of a second without pipeline stall.</a:t>
            </a:r>
          </a:p>
        </p:txBody>
      </p:sp>
      <p:sp>
        <p:nvSpPr>
          <p:cNvPr id="9" name="Rounded Rectangle 8"/>
          <p:cNvSpPr/>
          <p:nvPr/>
        </p:nvSpPr>
        <p:spPr>
          <a:xfrm>
            <a:off x="4572000" y="445312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312 PATCHES/SEC</a:t>
            </a:r>
          </a:p>
        </p:txBody>
      </p:sp>
      <p:sp>
        <p:nvSpPr>
          <p:cNvPr id="10" name="Rounded Rectangle 9"/>
          <p:cNvSpPr/>
          <p:nvPr/>
        </p:nvSpPr>
        <p:spPr>
          <a:xfrm>
            <a:off x="6345936" y="3126787"/>
            <a:ext cx="5138928" cy="1976024"/>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_v2_gpu_training_convergence.png"/>
          <p:cNvPicPr>
            <a:picLocks noChangeAspect="1"/>
          </p:cNvPicPr>
          <p:nvPr/>
        </p:nvPicPr>
        <p:blipFill>
          <a:blip r:embed="rId2"/>
          <a:stretch>
            <a:fillRect/>
          </a:stretch>
        </p:blipFill>
        <p:spPr>
          <a:xfrm>
            <a:off x="6400800" y="3181651"/>
            <a:ext cx="5029200" cy="1591976"/>
          </a:xfrm>
          <a:prstGeom prst="rect">
            <a:avLst/>
          </a:prstGeom>
        </p:spPr>
      </p:pic>
      <p:sp>
        <p:nvSpPr>
          <p:cNvPr id="12" name="TextBox 11"/>
          <p:cNvSpPr txBox="1"/>
          <p:nvPr/>
        </p:nvSpPr>
        <p:spPr>
          <a:xfrm>
            <a:off x="6400800" y="4819348"/>
            <a:ext cx="5029200" cy="228600"/>
          </a:xfrm>
          <a:prstGeom prst="rect">
            <a:avLst/>
          </a:prstGeom>
          <a:noFill/>
        </p:spPr>
        <p:txBody>
          <a:bodyPr wrap="square" lIns="0" tIns="0" rIns="0" bIns="0">
            <a:spAutoFit/>
          </a:bodyPr>
          <a:lstStyle/>
          <a:p>
            <a:pPr algn="ctr">
              <a:defRPr sz="850" i="1">
                <a:solidFill>
                  <a:srgbClr val="64748B"/>
                </a:solidFill>
              </a:defRPr>
            </a:pPr>
            <a:r>
              <a:t>GPU Inference Latency &amp; Parameter Convergence: SafeAdapt converges in &lt;= 5 steps with minimal latency overhead.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GOVERNANCE</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Regulatory Compliance, Patient Privacy &amp; DICOM Standards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Engineered for hospital deployment: HIPAA/GDPR compliance with zero cross-patient data leakage.</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Deterministic Episodic Resets</a:t>
            </a:r>
          </a:p>
          <a:p>
            <a:pPr>
              <a:spcAft>
                <a:spcPts val="600"/>
              </a:spcAft>
            </a:pPr>
            <a:r>
              <a:rPr b="1" sz="1050">
                <a:solidFill>
                  <a:srgbClr val="0F172A"/>
                </a:solidFill>
              </a:rPr>
              <a:t>•  The Clinical Dilemma: </a:t>
            </a:r>
            <a:r>
              <a:rPr sz="1050">
                <a:solidFill>
                  <a:srgbClr val="1E293B"/>
                </a:solidFill>
              </a:rPr>
              <a:t>In a hospital queue, slide processing order is random. Continual learning algorithms (CoTTA, RoTTA) allow Patient A's tissue to alter Patient B's diagnosis.</a:t>
            </a:r>
          </a:p>
          <a:p>
            <a:pPr>
              <a:spcAft>
                <a:spcPts val="600"/>
              </a:spcAft>
            </a:pPr>
            <a:r>
              <a:rPr b="1" sz="1050">
                <a:solidFill>
                  <a:srgbClr val="0F172A"/>
                </a:solidFill>
              </a:rPr>
              <a:t>•  Regulatory Hazard: </a:t>
            </a:r>
            <a:r>
              <a:rPr sz="1050">
                <a:solidFill>
                  <a:srgbClr val="1E293B"/>
                </a:solidFill>
              </a:rPr>
              <a:t>Violates FDA non-leakage standards and EU AI Act reproducibility requirements.</a:t>
            </a:r>
          </a:p>
          <a:p>
            <a:pPr>
              <a:spcAft>
                <a:spcPts val="600"/>
              </a:spcAft>
            </a:pPr>
            <a:r>
              <a:rPr b="1" sz="1050">
                <a:solidFill>
                  <a:srgbClr val="0F172A"/>
                </a:solidFill>
              </a:rPr>
              <a:t>•  SafeAdapt Guarantee: </a:t>
            </a:r>
            <a:r>
              <a:rPr sz="1050">
                <a:solidFill>
                  <a:srgbClr val="1E293B"/>
                </a:solidFill>
              </a:rPr>
              <a:t>Enforces mathematical parameter resets to theta_0 upon slide completion, guaranteeing deterministic, order-independent diagnosis.</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HIPAA / GDPR</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Native DICOM Integration</a:t>
            </a:r>
          </a:p>
          <a:p>
            <a:pPr>
              <a:spcAft>
                <a:spcPts val="600"/>
              </a:spcAft>
            </a:pPr>
            <a:r>
              <a:rPr b="1" sz="1050">
                <a:solidFill>
                  <a:srgbClr val="0F172A"/>
                </a:solidFill>
              </a:rPr>
              <a:t>•  Standard Header Parsing: </a:t>
            </a:r>
            <a:r>
              <a:rPr sz="1050">
                <a:solidFill>
                  <a:srgbClr val="1E293B"/>
                </a:solidFill>
              </a:rPr>
              <a:t>Directly interfaces with DICOM Whole Slide Imaging metadata standards.</a:t>
            </a:r>
          </a:p>
          <a:p>
            <a:pPr>
              <a:spcAft>
                <a:spcPts val="600"/>
              </a:spcAft>
            </a:pPr>
            <a:r>
              <a:rPr b="1" sz="1050">
                <a:solidFill>
                  <a:srgbClr val="0F172A"/>
                </a:solidFill>
              </a:rPr>
              <a:t>•  Automatic Triggering: </a:t>
            </a:r>
            <a:r>
              <a:rPr sz="1050">
                <a:solidFill>
                  <a:srgbClr val="1E293B"/>
                </a:solidFill>
              </a:rPr>
              <a:t>DICOM Accession Number (0008,0050) and Study Instance UID (0020,000D) automatically trigger FIFO buffer purges and parameter resets.</a:t>
            </a:r>
          </a:p>
          <a:p>
            <a:pPr>
              <a:spcAft>
                <a:spcPts val="600"/>
              </a:spcAft>
            </a:pPr>
            <a:r>
              <a:rPr b="1" sz="1050">
                <a:solidFill>
                  <a:srgbClr val="0F172A"/>
                </a:solidFill>
              </a:rPr>
              <a:t>•  Audit Logging: </a:t>
            </a:r>
            <a:r>
              <a:rPr sz="1050">
                <a:solidFill>
                  <a:srgbClr val="1E293B"/>
                </a:solidFill>
              </a:rPr>
              <a:t>Outputs cryptographically hashed adaptation logs for every slide, fulfilling hospital QA requirements.</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DICOM WSI TAGS</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Fail-Closed Safety Philosophy</a:t>
            </a:r>
          </a:p>
          <a:p>
            <a:pPr>
              <a:spcAft>
                <a:spcPts val="600"/>
              </a:spcAft>
            </a:pPr>
            <a:r>
              <a:rPr b="1" sz="1050">
                <a:solidFill>
                  <a:srgbClr val="0F172A"/>
                </a:solidFill>
              </a:rPr>
              <a:t>•  Medical Device Principles: </a:t>
            </a:r>
            <a:r>
              <a:rPr sz="1050">
                <a:solidFill>
                  <a:srgbClr val="1E293B"/>
                </a:solidFill>
              </a:rPr>
              <a:t>Engineered in accordance with IEC 62304 medical device software lifecycle standards.</a:t>
            </a:r>
          </a:p>
          <a:p>
            <a:pPr>
              <a:spcAft>
                <a:spcPts val="600"/>
              </a:spcAft>
            </a:pPr>
            <a:r>
              <a:rPr b="1" sz="1050">
                <a:solidFill>
                  <a:srgbClr val="0F172A"/>
                </a:solidFill>
              </a:rPr>
              <a:t>•  Safe Fallback State: </a:t>
            </a:r>
            <a:r>
              <a:rPr sz="1050">
                <a:solidFill>
                  <a:srgbClr val="1E293B"/>
                </a:solidFill>
              </a:rPr>
              <a:t>If an extreme out-of-distribution artifact occurs, the system defaults to the certified source model rather than risking erratic adapted outputs.</a:t>
            </a:r>
          </a:p>
          <a:p>
            <a:pPr>
              <a:spcAft>
                <a:spcPts val="600"/>
              </a:spcAft>
            </a:pPr>
            <a:r>
              <a:rPr b="1" sz="1050">
                <a:solidFill>
                  <a:srgbClr val="0F172A"/>
                </a:solidFill>
              </a:rPr>
              <a:t>•  Pathologist Trust: </a:t>
            </a:r>
            <a:r>
              <a:rPr sz="1050">
                <a:solidFill>
                  <a:srgbClr val="1E293B"/>
                </a:solidFill>
              </a:rPr>
              <a:t>Provides pathologists with transparent safety indicators on every generated diagnostic report.</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IEC 62304 ALIGNED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ABLATION &amp; SENSITIVITY ANALYSIS</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Dissecting SafeAdapt: Component-by-Component Impact</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Every architectural safeguard provides measurable value: removing any module degrades accuracy or re-introduces collapse.</a:t>
            </a:r>
          </a:p>
        </p:txBody>
      </p:sp>
      <p:graphicFrame>
        <p:nvGraphicFramePr>
          <p:cNvPr id="6" name="Table 5"/>
          <p:cNvGraphicFramePr>
            <a:graphicFrameLocks noGrp="1"/>
          </p:cNvGraphicFramePr>
          <p:nvPr/>
        </p:nvGraphicFramePr>
        <p:xfrm>
          <a:off x="731520" y="1645920"/>
          <a:ext cx="6309360" cy="2926080"/>
        </p:xfrm>
        <a:graphic>
          <a:graphicData uri="http://schemas.openxmlformats.org/drawingml/2006/table">
            <a:tbl>
              <a:tblPr firstRow="1" bandRow="1">
                <a:tableStyleId>{5C22544A-7EE6-4342-B048-85BDC9FD1C3A}</a:tableStyleId>
              </a:tblPr>
              <a:tblGrid>
                <a:gridCol w="2011680"/>
                <a:gridCol w="822960"/>
                <a:gridCol w="822960"/>
                <a:gridCol w="1005840"/>
                <a:gridCol w="1645920"/>
              </a:tblGrid>
              <a:tr h="487680">
                <a:tc>
                  <a:txBody>
                    <a:bodyPr/>
                    <a:lstStyle/>
                    <a:p>
                      <a:pPr algn="l">
                        <a:defRPr sz="1000" b="1">
                          <a:solidFill>
                            <a:srgbClr val="FFFFFF"/>
                          </a:solidFill>
                        </a:defRPr>
                      </a:pPr>
                      <a:r>
                        <a:t>Configuration</a:t>
                      </a:r>
                    </a:p>
                  </a:txBody>
                  <a:tcPr marL="73152" marR="73152" marT="36576" marB="36576">
                    <a:solidFill>
                      <a:srgbClr val="0F172A"/>
                    </a:solidFill>
                  </a:tcPr>
                </a:tc>
                <a:tc>
                  <a:txBody>
                    <a:bodyPr/>
                    <a:lstStyle/>
                    <a:p>
                      <a:pPr algn="ctr">
                        <a:defRPr sz="1000" b="1">
                          <a:solidFill>
                            <a:srgbClr val="FFFFFF"/>
                          </a:solidFill>
                        </a:defRPr>
                      </a:pPr>
                      <a:r>
                        <a:t>AUROC</a:t>
                      </a:r>
                    </a:p>
                  </a:txBody>
                  <a:tcPr marL="73152" marR="73152" marT="36576" marB="36576">
                    <a:solidFill>
                      <a:srgbClr val="0F172A"/>
                    </a:solidFill>
                  </a:tcPr>
                </a:tc>
                <a:tc>
                  <a:txBody>
                    <a:bodyPr/>
                    <a:lstStyle/>
                    <a:p>
                      <a:pPr algn="ctr">
                        <a:defRPr sz="1000" b="1">
                          <a:solidFill>
                            <a:srgbClr val="FFFFFF"/>
                          </a:solidFill>
                        </a:defRPr>
                      </a:pPr>
                      <a:r>
                        <a:t>ECE</a:t>
                      </a:r>
                    </a:p>
                  </a:txBody>
                  <a:tcPr marL="73152" marR="73152" marT="36576" marB="36576">
                    <a:solidFill>
                      <a:srgbClr val="0F172A"/>
                    </a:solidFill>
                  </a:tcPr>
                </a:tc>
                <a:tc>
                  <a:txBody>
                    <a:bodyPr/>
                    <a:lstStyle/>
                    <a:p>
                      <a:pPr algn="ctr">
                        <a:defRPr sz="1000" b="1">
                          <a:solidFill>
                            <a:srgbClr val="FFFFFF"/>
                          </a:solidFill>
                        </a:defRPr>
                      </a:pPr>
                      <a:r>
                        <a:t>Collapse Rate</a:t>
                      </a:r>
                    </a:p>
                  </a:txBody>
                  <a:tcPr marL="73152" marR="73152" marT="36576" marB="36576">
                    <a:solidFill>
                      <a:srgbClr val="0F172A"/>
                    </a:solidFill>
                  </a:tcPr>
                </a:tc>
                <a:tc>
                  <a:txBody>
                    <a:bodyPr/>
                    <a:lstStyle/>
                    <a:p>
                      <a:pPr algn="ctr">
                        <a:defRPr sz="1000" b="1">
                          <a:solidFill>
                            <a:srgbClr val="FFFFFF"/>
                          </a:solidFill>
                        </a:defRPr>
                      </a:pPr>
                      <a:r>
                        <a:t>Contribution</a:t>
                      </a:r>
                    </a:p>
                  </a:txBody>
                  <a:tcPr marL="73152" marR="73152" marT="36576" marB="36576">
                    <a:solidFill>
                      <a:srgbClr val="0F172A"/>
                    </a:solidFill>
                  </a:tcPr>
                </a:tc>
              </a:tr>
              <a:tr h="487680">
                <a:tc>
                  <a:txBody>
                    <a:bodyPr/>
                    <a:lstStyle/>
                    <a:p>
                      <a:pPr algn="l">
                        <a:defRPr sz="950" b="1">
                          <a:solidFill>
                            <a:srgbClr val="0F172A"/>
                          </a:solidFill>
                        </a:defRPr>
                      </a:pPr>
                      <a:r>
                        <a:t>Frozen Source Model</a:t>
                      </a:r>
                    </a:p>
                  </a:txBody>
                  <a:tcPr marL="73152" marR="73152" marT="36576" marB="36576">
                    <a:solidFill>
                      <a:srgbClr val="FFFFFF"/>
                    </a:solidFill>
                  </a:tcPr>
                </a:tc>
                <a:tc>
                  <a:txBody>
                    <a:bodyPr/>
                    <a:lstStyle/>
                    <a:p>
                      <a:pPr algn="ctr">
                        <a:defRPr sz="950" b="0">
                          <a:solidFill>
                            <a:srgbClr val="0F172A"/>
                          </a:solidFill>
                        </a:defRPr>
                      </a:pPr>
                      <a:r>
                        <a:t>0.8312</a:t>
                      </a:r>
                    </a:p>
                  </a:txBody>
                  <a:tcPr marL="73152" marR="73152" marT="36576" marB="36576">
                    <a:solidFill>
                      <a:srgbClr val="FFFFFF"/>
                    </a:solidFill>
                  </a:tcPr>
                </a:tc>
                <a:tc>
                  <a:txBody>
                    <a:bodyPr/>
                    <a:lstStyle/>
                    <a:p>
                      <a:pPr algn="ctr">
                        <a:defRPr sz="950" b="0">
                          <a:solidFill>
                            <a:srgbClr val="0F172A"/>
                          </a:solidFill>
                        </a:defRPr>
                      </a:pPr>
                      <a:r>
                        <a:t>0.1642</a:t>
                      </a:r>
                    </a:p>
                  </a:txBody>
                  <a:tcPr marL="73152" marR="73152" marT="36576" marB="36576">
                    <a:solidFill>
                      <a:srgbClr val="FFFFFF"/>
                    </a:solidFill>
                  </a:tcPr>
                </a:tc>
                <a:tc>
                  <a:txBody>
                    <a:bodyPr/>
                    <a:lstStyle/>
                    <a:p>
                      <a:pPr algn="ctr">
                        <a:defRPr sz="950" b="0">
                          <a:solidFill>
                            <a:srgbClr val="0F172A"/>
                          </a:solidFill>
                        </a:defRPr>
                      </a:pPr>
                      <a:r>
                        <a:t>0.0%</a:t>
                      </a:r>
                    </a:p>
                  </a:txBody>
                  <a:tcPr marL="73152" marR="73152" marT="36576" marB="36576">
                    <a:solidFill>
                      <a:srgbClr val="FFFFFF"/>
                    </a:solidFill>
                  </a:tcPr>
                </a:tc>
                <a:tc>
                  <a:txBody>
                    <a:bodyPr/>
                    <a:lstStyle/>
                    <a:p>
                      <a:pPr algn="ctr">
                        <a:defRPr sz="950" b="0">
                          <a:solidFill>
                            <a:srgbClr val="0F172A"/>
                          </a:solidFill>
                        </a:defRPr>
                      </a:pPr>
                      <a:r>
                        <a:t>Reference Baseline</a:t>
                      </a:r>
                    </a:p>
                  </a:txBody>
                  <a:tcPr marL="73152" marR="73152" marT="36576" marB="36576">
                    <a:solidFill>
                      <a:srgbClr val="FFFFFF"/>
                    </a:solidFill>
                  </a:tcPr>
                </a:tc>
              </a:tr>
              <a:tr h="487680">
                <a:tc>
                  <a:txBody>
                    <a:bodyPr/>
                    <a:lstStyle/>
                    <a:p>
                      <a:pPr algn="l">
                        <a:defRPr sz="950" b="1">
                          <a:solidFill>
                            <a:srgbClr val="DC2626"/>
                          </a:solidFill>
                        </a:defRPr>
                      </a:pPr>
                      <a:r>
                        <a:t>+ Standard Tent (Entropy Min)</a:t>
                      </a:r>
                    </a:p>
                  </a:txBody>
                  <a:tcPr marL="73152" marR="73152" marT="36576" marB="36576">
                    <a:solidFill>
                      <a:srgbClr val="FEF2F2"/>
                    </a:solidFill>
                  </a:tcPr>
                </a:tc>
                <a:tc>
                  <a:txBody>
                    <a:bodyPr/>
                    <a:lstStyle/>
                    <a:p>
                      <a:pPr algn="ctr">
                        <a:defRPr sz="950" b="1">
                          <a:solidFill>
                            <a:srgbClr val="DC2626"/>
                          </a:solidFill>
                        </a:defRPr>
                      </a:pPr>
                      <a:r>
                        <a:t>0.7645</a:t>
                      </a:r>
                    </a:p>
                  </a:txBody>
                  <a:tcPr marL="73152" marR="73152" marT="36576" marB="36576">
                    <a:solidFill>
                      <a:srgbClr val="FEF2F2"/>
                    </a:solidFill>
                  </a:tcPr>
                </a:tc>
                <a:tc>
                  <a:txBody>
                    <a:bodyPr/>
                    <a:lstStyle/>
                    <a:p>
                      <a:pPr algn="ctr">
                        <a:defRPr sz="950" b="1">
                          <a:solidFill>
                            <a:srgbClr val="DC2626"/>
                          </a:solidFill>
                        </a:defRPr>
                      </a:pPr>
                      <a:r>
                        <a:t>0.2810</a:t>
                      </a:r>
                    </a:p>
                  </a:txBody>
                  <a:tcPr marL="73152" marR="73152" marT="36576" marB="36576">
                    <a:solidFill>
                      <a:srgbClr val="FEF2F2"/>
                    </a:solidFill>
                  </a:tcPr>
                </a:tc>
                <a:tc>
                  <a:txBody>
                    <a:bodyPr/>
                    <a:lstStyle/>
                    <a:p>
                      <a:pPr algn="ctr">
                        <a:defRPr sz="950" b="1">
                          <a:solidFill>
                            <a:srgbClr val="DC2626"/>
                          </a:solidFill>
                        </a:defRPr>
                      </a:pPr>
                      <a:r>
                        <a:t>40.0%</a:t>
                      </a:r>
                    </a:p>
                  </a:txBody>
                  <a:tcPr marL="73152" marR="73152" marT="36576" marB="36576">
                    <a:solidFill>
                      <a:srgbClr val="FEF2F2"/>
                    </a:solidFill>
                  </a:tcPr>
                </a:tc>
                <a:tc>
                  <a:txBody>
                    <a:bodyPr/>
                    <a:lstStyle/>
                    <a:p>
                      <a:pPr algn="ctr">
                        <a:defRPr sz="950" b="1">
                          <a:solidFill>
                            <a:srgbClr val="DC2626"/>
                          </a:solidFill>
                        </a:defRPr>
                      </a:pPr>
                      <a:r>
                        <a:t>Collapse Failure (-0.0667)</a:t>
                      </a:r>
                    </a:p>
                  </a:txBody>
                  <a:tcPr marL="73152" marR="73152" marT="36576" marB="36576">
                    <a:solidFill>
                      <a:srgbClr val="FEF2F2"/>
                    </a:solidFill>
                  </a:tcPr>
                </a:tc>
              </a:tr>
              <a:tr h="487680">
                <a:tc>
                  <a:txBody>
                    <a:bodyPr/>
                    <a:lstStyle/>
                    <a:p>
                      <a:pPr algn="l">
                        <a:defRPr sz="950" b="1">
                          <a:solidFill>
                            <a:srgbClr val="0F172A"/>
                          </a:solidFill>
                        </a:defRPr>
                      </a:pPr>
                      <a:r>
                        <a:t>+ Sinkhorn Optimal Transport</a:t>
                      </a:r>
                    </a:p>
                  </a:txBody>
                  <a:tcPr marL="73152" marR="73152" marT="36576" marB="36576">
                    <a:solidFill>
                      <a:srgbClr val="FFFFFF"/>
                    </a:solidFill>
                  </a:tcPr>
                </a:tc>
                <a:tc>
                  <a:txBody>
                    <a:bodyPr/>
                    <a:lstStyle/>
                    <a:p>
                      <a:pPr algn="ctr">
                        <a:defRPr sz="950" b="0">
                          <a:solidFill>
                            <a:srgbClr val="0F172A"/>
                          </a:solidFill>
                        </a:defRPr>
                      </a:pPr>
                      <a:r>
                        <a:t>0.9124</a:t>
                      </a:r>
                    </a:p>
                  </a:txBody>
                  <a:tcPr marL="73152" marR="73152" marT="36576" marB="36576">
                    <a:solidFill>
                      <a:srgbClr val="FFFFFF"/>
                    </a:solidFill>
                  </a:tcPr>
                </a:tc>
                <a:tc>
                  <a:txBody>
                    <a:bodyPr/>
                    <a:lstStyle/>
                    <a:p>
                      <a:pPr algn="ctr">
                        <a:defRPr sz="950" b="0">
                          <a:solidFill>
                            <a:srgbClr val="0F172A"/>
                          </a:solidFill>
                        </a:defRPr>
                      </a:pPr>
                      <a:r>
                        <a:t>0.0890</a:t>
                      </a:r>
                    </a:p>
                  </a:txBody>
                  <a:tcPr marL="73152" marR="73152" marT="36576" marB="36576">
                    <a:solidFill>
                      <a:srgbClr val="FFFFFF"/>
                    </a:solidFill>
                  </a:tcPr>
                </a:tc>
                <a:tc>
                  <a:txBody>
                    <a:bodyPr/>
                    <a:lstStyle/>
                    <a:p>
                      <a:pPr algn="ctr">
                        <a:defRPr sz="950" b="0">
                          <a:solidFill>
                            <a:srgbClr val="0F172A"/>
                          </a:solidFill>
                        </a:defRPr>
                      </a:pPr>
                      <a:r>
                        <a:t>8.0%</a:t>
                      </a:r>
                    </a:p>
                  </a:txBody>
                  <a:tcPr marL="73152" marR="73152" marT="36576" marB="36576">
                    <a:solidFill>
                      <a:srgbClr val="FFFFFF"/>
                    </a:solidFill>
                  </a:tcPr>
                </a:tc>
                <a:tc>
                  <a:txBody>
                    <a:bodyPr/>
                    <a:lstStyle/>
                    <a:p>
                      <a:pPr algn="ctr">
                        <a:defRPr sz="950" b="0">
                          <a:solidFill>
                            <a:srgbClr val="0F172A"/>
                          </a:solidFill>
                        </a:defRPr>
                      </a:pPr>
                      <a:r>
                        <a:t>Primary Alignment (+0.0812)</a:t>
                      </a:r>
                    </a:p>
                  </a:txBody>
                  <a:tcPr marL="73152" marR="73152" marT="36576" marB="36576">
                    <a:solidFill>
                      <a:srgbClr val="FFFFFF"/>
                    </a:solidFill>
                  </a:tcPr>
                </a:tc>
              </a:tr>
              <a:tr h="487680">
                <a:tc>
                  <a:txBody>
                    <a:bodyPr/>
                    <a:lstStyle/>
                    <a:p>
                      <a:pPr algn="l">
                        <a:defRPr sz="950" b="1">
                          <a:solidFill>
                            <a:srgbClr val="0F172A"/>
                          </a:solidFill>
                        </a:defRPr>
                      </a:pPr>
                      <a:r>
                        <a:t>+ Cross-Attention Memory (CMR)</a:t>
                      </a:r>
                    </a:p>
                  </a:txBody>
                  <a:tcPr marL="73152" marR="73152" marT="36576" marB="36576">
                    <a:solidFill>
                      <a:srgbClr val="F8FAFC"/>
                    </a:solidFill>
                  </a:tcPr>
                </a:tc>
                <a:tc>
                  <a:txBody>
                    <a:bodyPr/>
                    <a:lstStyle/>
                    <a:p>
                      <a:pPr algn="ctr">
                        <a:defRPr sz="950" b="0">
                          <a:solidFill>
                            <a:srgbClr val="0F172A"/>
                          </a:solidFill>
                        </a:defRPr>
                      </a:pPr>
                      <a:r>
                        <a:t>0.9348</a:t>
                      </a:r>
                    </a:p>
                  </a:txBody>
                  <a:tcPr marL="73152" marR="73152" marT="36576" marB="36576">
                    <a:solidFill>
                      <a:srgbClr val="F8FAFC"/>
                    </a:solidFill>
                  </a:tcPr>
                </a:tc>
                <a:tc>
                  <a:txBody>
                    <a:bodyPr/>
                    <a:lstStyle/>
                    <a:p>
                      <a:pPr algn="ctr">
                        <a:defRPr sz="950" b="0">
                          <a:solidFill>
                            <a:srgbClr val="0F172A"/>
                          </a:solidFill>
                        </a:defRPr>
                      </a:pPr>
                      <a:r>
                        <a:t>0.0610</a:t>
                      </a:r>
                    </a:p>
                  </a:txBody>
                  <a:tcPr marL="73152" marR="73152" marT="36576" marB="36576">
                    <a:solidFill>
                      <a:srgbClr val="F8FAFC"/>
                    </a:solidFill>
                  </a:tcPr>
                </a:tc>
                <a:tc>
                  <a:txBody>
                    <a:bodyPr/>
                    <a:lstStyle/>
                    <a:p>
                      <a:pPr algn="ctr">
                        <a:defRPr sz="950" b="0">
                          <a:solidFill>
                            <a:srgbClr val="0F172A"/>
                          </a:solidFill>
                        </a:defRPr>
                      </a:pPr>
                      <a:r>
                        <a:t>4.0%</a:t>
                      </a:r>
                    </a:p>
                  </a:txBody>
                  <a:tcPr marL="73152" marR="73152" marT="36576" marB="36576">
                    <a:solidFill>
                      <a:srgbClr val="F8FAFC"/>
                    </a:solidFill>
                  </a:tcPr>
                </a:tc>
                <a:tc>
                  <a:txBody>
                    <a:bodyPr/>
                    <a:lstStyle/>
                    <a:p>
                      <a:pPr algn="ctr">
                        <a:defRPr sz="950" b="0">
                          <a:solidFill>
                            <a:srgbClr val="0F172A"/>
                          </a:solidFill>
                        </a:defRPr>
                      </a:pPr>
                      <a:r>
                        <a:t>Artifact Rejection (+0.0224)</a:t>
                      </a:r>
                    </a:p>
                  </a:txBody>
                  <a:tcPr marL="73152" marR="73152" marT="36576" marB="36576">
                    <a:solidFill>
                      <a:srgbClr val="F8FAFC"/>
                    </a:solidFill>
                  </a:tcPr>
                </a:tc>
              </a:tr>
              <a:tr h="487680">
                <a:tc>
                  <a:txBody>
                    <a:bodyPr/>
                    <a:lstStyle/>
                    <a:p>
                      <a:pPr algn="l">
                        <a:defRPr sz="950" b="1">
                          <a:solidFill>
                            <a:srgbClr val="0F766E"/>
                          </a:solidFill>
                        </a:defRPr>
                      </a:pPr>
                      <a:r>
                        <a:t>+ Full SafeAdapt (with Conformal)</a:t>
                      </a:r>
                    </a:p>
                  </a:txBody>
                  <a:tcPr marL="73152" marR="73152" marT="36576" marB="36576">
                    <a:solidFill>
                      <a:srgbClr val="F0FDFA"/>
                    </a:solidFill>
                  </a:tcPr>
                </a:tc>
                <a:tc>
                  <a:txBody>
                    <a:bodyPr/>
                    <a:lstStyle/>
                    <a:p>
                      <a:pPr algn="ctr">
                        <a:defRPr sz="950" b="1">
                          <a:solidFill>
                            <a:srgbClr val="0F766E"/>
                          </a:solidFill>
                        </a:defRPr>
                      </a:pPr>
                      <a:r>
                        <a:t>0.9495</a:t>
                      </a:r>
                    </a:p>
                  </a:txBody>
                  <a:tcPr marL="73152" marR="73152" marT="36576" marB="36576">
                    <a:solidFill>
                      <a:srgbClr val="F0FDFA"/>
                    </a:solidFill>
                  </a:tcPr>
                </a:tc>
                <a:tc>
                  <a:txBody>
                    <a:bodyPr/>
                    <a:lstStyle/>
                    <a:p>
                      <a:pPr algn="ctr">
                        <a:defRPr sz="950" b="1">
                          <a:solidFill>
                            <a:srgbClr val="0F766E"/>
                          </a:solidFill>
                        </a:defRPr>
                      </a:pPr>
                      <a:r>
                        <a:t>0.0418</a:t>
                      </a:r>
                    </a:p>
                  </a:txBody>
                  <a:tcPr marL="73152" marR="73152" marT="36576" marB="36576">
                    <a:solidFill>
                      <a:srgbClr val="F0FDFA"/>
                    </a:solidFill>
                  </a:tcPr>
                </a:tc>
                <a:tc>
                  <a:txBody>
                    <a:bodyPr/>
                    <a:lstStyle/>
                    <a:p>
                      <a:pPr algn="ctr">
                        <a:defRPr sz="950" b="1">
                          <a:solidFill>
                            <a:srgbClr val="0F766E"/>
                          </a:solidFill>
                        </a:defRPr>
                      </a:pPr>
                      <a:r>
                        <a:t>0.0%</a:t>
                      </a:r>
                    </a:p>
                  </a:txBody>
                  <a:tcPr marL="73152" marR="73152" marT="36576" marB="36576">
                    <a:solidFill>
                      <a:srgbClr val="F0FDFA"/>
                    </a:solidFill>
                  </a:tcPr>
                </a:tc>
                <a:tc>
                  <a:txBody>
                    <a:bodyPr/>
                    <a:lstStyle/>
                    <a:p>
                      <a:pPr algn="ctr">
                        <a:defRPr sz="950" b="1">
                          <a:solidFill>
                            <a:srgbClr val="0F766E"/>
                          </a:solidFill>
                        </a:defRPr>
                      </a:pPr>
                      <a:r>
                        <a:t>Complete Safety (+0.0147)</a:t>
                      </a:r>
                    </a:p>
                  </a:txBody>
                  <a:tcPr marL="73152" marR="73152" marT="36576" marB="36576">
                    <a:solidFill>
                      <a:srgbClr val="F0FDFA"/>
                    </a:solidFill>
                  </a:tcPr>
                </a:tc>
              </a:tr>
            </a:tbl>
          </a:graphicData>
        </a:graphic>
      </p:graphicFrame>
      <p:sp>
        <p:nvSpPr>
          <p:cNvPr id="7" name="Rounded Rectangle 6"/>
          <p:cNvSpPr/>
          <p:nvPr/>
        </p:nvSpPr>
        <p:spPr>
          <a:xfrm>
            <a:off x="731520" y="4709160"/>
            <a:ext cx="6309360" cy="16002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37160" rIns="137160" tIns="109728"/>
          <a:lstStyle/>
          <a:p>
            <a:pPr algn="ctr">
              <a:defRPr sz="1100" b="1">
                <a:solidFill>
                  <a:srgbClr val="0F766E"/>
                </a:solidFill>
              </a:defRPr>
            </a:pPr>
            <a:r>
              <a:t>KEY ABLATION INSIGHTS:</a:t>
            </a:r>
          </a:p>
          <a:p>
            <a:r>
              <a:rPr b="1" sz="950">
                <a:solidFill>
                  <a:srgbClr val="0F172A"/>
                </a:solidFill>
              </a:rPr>
              <a:t>• Sinkhorn OT is the primary engine: </a:t>
            </a:r>
            <a:r>
              <a:rPr sz="950">
                <a:solidFill>
                  <a:srgbClr val="1E293B"/>
                </a:solidFill>
              </a:rPr>
              <a:t>Drives a +0.0812 AUROC jump by preserving semantic category geometry.</a:t>
            </a:r>
          </a:p>
          <a:p>
            <a:r>
              <a:rPr b="1" sz="950">
                <a:solidFill>
                  <a:srgbClr val="0F172A"/>
                </a:solidFill>
              </a:rPr>
              <a:t>• CMR provides artifact shielding: </a:t>
            </a:r>
            <a:r>
              <a:rPr sz="950">
                <a:solidFill>
                  <a:srgbClr val="1E293B"/>
                </a:solidFill>
              </a:rPr>
              <a:t>Adds +0.0224 AUROC and halves remaining collapse risk by absorbing debris.</a:t>
            </a:r>
          </a:p>
          <a:p>
            <a:r>
              <a:rPr b="1" sz="950">
                <a:solidFill>
                  <a:srgbClr val="0F172A"/>
                </a:solidFill>
              </a:rPr>
              <a:t>• Conformal Rollback provides total safety: </a:t>
            </a:r>
            <a:r>
              <a:rPr sz="950">
                <a:solidFill>
                  <a:srgbClr val="1E293B"/>
                </a:solidFill>
              </a:rPr>
              <a:t>Provides the final +0.0147 gain and drives catastrophic collapse to exactly 0.0%.</a:t>
            </a:r>
          </a:p>
        </p:txBody>
      </p:sp>
      <p:sp>
        <p:nvSpPr>
          <p:cNvPr id="8" name="Rounded Rectangle 7"/>
          <p:cNvSpPr/>
          <p:nvPr/>
        </p:nvSpPr>
        <p:spPr>
          <a:xfrm>
            <a:off x="7223760" y="1645920"/>
            <a:ext cx="4236415"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70064" y="1792224"/>
            <a:ext cx="3943807" cy="1901952"/>
          </a:xfrm>
          <a:prstGeom prst="rect">
            <a:avLst/>
          </a:prstGeom>
          <a:noFill/>
        </p:spPr>
        <p:txBody>
          <a:bodyPr wrap="square" lIns="0" tIns="0" rIns="0" bIns="0">
            <a:spAutoFit/>
          </a:bodyPr>
          <a:lstStyle/>
          <a:p>
            <a:pPr>
              <a:spcAft>
                <a:spcPts val="800"/>
              </a:spcAft>
              <a:defRPr sz="1300" b="1">
                <a:solidFill>
                  <a:srgbClr val="0F172A"/>
                </a:solidFill>
              </a:defRPr>
            </a:pPr>
            <a:r>
              <a:t>Sensitivity to Epsilon &amp; Tau</a:t>
            </a:r>
          </a:p>
          <a:p>
            <a:pPr>
              <a:spcAft>
                <a:spcPts val="600"/>
              </a:spcAft>
            </a:pPr>
            <a:r>
              <a:rPr b="1" sz="1050">
                <a:solidFill>
                  <a:srgbClr val="0F172A"/>
                </a:solidFill>
              </a:rPr>
              <a:t>•  Sinkhorn Regularizer epsilon: </a:t>
            </a:r>
            <a:r>
              <a:rPr sz="1050">
                <a:solidFill>
                  <a:srgbClr val="1E293B"/>
                </a:solidFill>
              </a:rPr>
              <a:t>Stable across 3 orders of magnitude (0.01 to 0.5); optimal at epsilon = 0.05.</a:t>
            </a:r>
          </a:p>
          <a:p>
            <a:pPr>
              <a:spcAft>
                <a:spcPts val="600"/>
              </a:spcAft>
            </a:pPr>
            <a:r>
              <a:rPr b="1" sz="1050">
                <a:solidFill>
                  <a:srgbClr val="0F172A"/>
                </a:solidFill>
              </a:rPr>
              <a:t>•  Temperature tau: </a:t>
            </a:r>
            <a:r>
              <a:rPr sz="1050">
                <a:solidFill>
                  <a:srgbClr val="1E293B"/>
                </a:solidFill>
              </a:rPr>
              <a:t>Maintains high AUROC (&gt;0.94) across tau in [0.05, 0.20], demonstrating hyperparameter robustness.</a:t>
            </a:r>
          </a:p>
        </p:txBody>
      </p:sp>
      <p:sp>
        <p:nvSpPr>
          <p:cNvPr id="10" name="Rounded Rectangle 9"/>
          <p:cNvSpPr/>
          <p:nvPr/>
        </p:nvSpPr>
        <p:spPr>
          <a:xfrm>
            <a:off x="9814255"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ROBUST HYPERPARAMETERS</a:t>
            </a:r>
          </a:p>
        </p:txBody>
      </p:sp>
      <p:sp>
        <p:nvSpPr>
          <p:cNvPr id="11" name="Rounded Rectangle 10"/>
          <p:cNvSpPr/>
          <p:nvPr/>
        </p:nvSpPr>
        <p:spPr>
          <a:xfrm>
            <a:off x="7223760" y="4023360"/>
            <a:ext cx="4236415" cy="2286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70064" y="4169664"/>
            <a:ext cx="3943807" cy="1993392"/>
          </a:xfrm>
          <a:prstGeom prst="rect">
            <a:avLst/>
          </a:prstGeom>
          <a:noFill/>
        </p:spPr>
        <p:txBody>
          <a:bodyPr wrap="square" lIns="0" tIns="0" rIns="0" bIns="0">
            <a:spAutoFit/>
          </a:bodyPr>
          <a:lstStyle/>
          <a:p>
            <a:pPr>
              <a:spcAft>
                <a:spcPts val="800"/>
              </a:spcAft>
              <a:defRPr sz="1300" b="1">
                <a:solidFill>
                  <a:srgbClr val="0D9488"/>
                </a:solidFill>
              </a:defRPr>
            </a:pPr>
            <a:r>
              <a:t>Sensitivity to Conformal Alpha</a:t>
            </a:r>
          </a:p>
          <a:p>
            <a:pPr>
              <a:spcAft>
                <a:spcPts val="600"/>
              </a:spcAft>
            </a:pPr>
            <a:r>
              <a:rPr b="1" sz="1050">
                <a:solidFill>
                  <a:srgbClr val="0F172A"/>
                </a:solidFill>
              </a:rPr>
              <a:t>•  Safety Bound alpha = 0.05: </a:t>
            </a:r>
            <a:r>
              <a:rPr sz="1050">
                <a:solidFill>
                  <a:srgbClr val="1E293B"/>
                </a:solidFill>
              </a:rPr>
              <a:t>Strikes optimal balance between positive adaptation and proactive rollback.</a:t>
            </a:r>
          </a:p>
          <a:p>
            <a:pPr>
              <a:spcAft>
                <a:spcPts val="600"/>
              </a:spcAft>
            </a:pPr>
            <a:r>
              <a:rPr b="1" sz="1050">
                <a:solidFill>
                  <a:srgbClr val="0F172A"/>
                </a:solidFill>
              </a:rPr>
              <a:t>•  Overly Strict (alpha = 0.01): </a:t>
            </a:r>
            <a:r>
              <a:rPr sz="1050">
                <a:solidFill>
                  <a:srgbClr val="1E293B"/>
                </a:solidFill>
              </a:rPr>
              <a:t>Triggers premature rollbacks, preserving safety but limiting adaptation gain to 0.8920.</a:t>
            </a:r>
          </a:p>
          <a:p>
            <a:pPr>
              <a:spcAft>
                <a:spcPts val="600"/>
              </a:spcAft>
            </a:pPr>
            <a:r>
              <a:rPr b="1" sz="1050">
                <a:solidFill>
                  <a:srgbClr val="0F172A"/>
                </a:solidFill>
              </a:rPr>
              <a:t>•  Overly Permissive (alpha = 0.10): </a:t>
            </a:r>
            <a:r>
              <a:rPr sz="1050">
                <a:solidFill>
                  <a:srgbClr val="1E293B"/>
                </a:solidFill>
              </a:rPr>
              <a:t>Allows 2% edge-case drift; confirms alpha = 0.05 as the ideal clinical setting.</a:t>
            </a:r>
          </a:p>
        </p:txBody>
      </p:sp>
      <p:sp>
        <p:nvSpPr>
          <p:cNvPr id="13" name="Rounded Rectangle 12"/>
          <p:cNvSpPr/>
          <p:nvPr/>
        </p:nvSpPr>
        <p:spPr>
          <a:xfrm>
            <a:off x="9814255" y="413308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CALIBRATED ALPHA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ADVANCED BENCHMARKING</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SafeAdapt vs. Recent Continual Paradigms (SAR, CoTTA, RoTTA)</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Continual methods suffer from error accumulation across slides; SafeAdapt guarantees deterministic safety and superior accuracy.</a:t>
            </a:r>
          </a:p>
        </p:txBody>
      </p:sp>
      <p:sp>
        <p:nvSpPr>
          <p:cNvPr id="6" name="Rounded Rectangle 5"/>
          <p:cNvSpPr/>
          <p:nvPr/>
        </p:nvSpPr>
        <p:spPr>
          <a:xfrm>
            <a:off x="7315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1. Error Accumulation in Continual TTA</a:t>
            </a:r>
          </a:p>
          <a:p>
            <a:pPr>
              <a:spcAft>
                <a:spcPts val="600"/>
              </a:spcAft>
            </a:pPr>
            <a:r>
              <a:rPr b="1" sz="1050">
                <a:solidFill>
                  <a:srgbClr val="0F172A"/>
                </a:solidFill>
              </a:rPr>
              <a:t>•  The Continual Paradigm: </a:t>
            </a:r>
            <a:r>
              <a:rPr sz="1050">
                <a:solidFill>
                  <a:srgbClr val="1E293B"/>
                </a:solidFill>
              </a:rPr>
              <a:t>Methods like CoTTA (CVPR '22) and RoTTA (CVPR '23) maintain memory banks and EMA teachers across multiple patient slides.</a:t>
            </a:r>
          </a:p>
          <a:p>
            <a:pPr>
              <a:spcAft>
                <a:spcPts val="600"/>
              </a:spcAft>
            </a:pPr>
            <a:r>
              <a:rPr b="1" sz="1050">
                <a:solidFill>
                  <a:srgbClr val="0F172A"/>
                </a:solidFill>
              </a:rPr>
              <a:t>•  The Pathology Failure: </a:t>
            </a:r>
            <a:r>
              <a:rPr sz="1050">
                <a:solidFill>
                  <a:srgbClr val="1E293B"/>
                </a:solidFill>
              </a:rPr>
              <a:t>When an extreme outlier slide enters the stream, corrupted features permanently poison the memory bank, contaminating subsequent patient slides.</a:t>
            </a:r>
          </a:p>
          <a:p>
            <a:pPr>
              <a:spcAft>
                <a:spcPts val="600"/>
              </a:spcAft>
            </a:pPr>
            <a:r>
              <a:rPr b="1" sz="1050">
                <a:solidFill>
                  <a:srgbClr val="0F172A"/>
                </a:solidFill>
              </a:rPr>
              <a:t>•  SafeAdapt Resolution: </a:t>
            </a:r>
            <a:r>
              <a:rPr sz="1050">
                <a:solidFill>
                  <a:srgbClr val="1E293B"/>
                </a:solidFill>
              </a:rPr>
              <a:t>Deterministic episodic resets completely prevent cross-slide error propagation.</a:t>
            </a:r>
          </a:p>
        </p:txBody>
      </p:sp>
      <p:sp>
        <p:nvSpPr>
          <p:cNvPr id="8" name="Rounded Rectangle 7"/>
          <p:cNvSpPr/>
          <p:nvPr/>
        </p:nvSpPr>
        <p:spPr>
          <a:xfrm>
            <a:off x="25146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CONTINUAL POISONING</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Gradient-Norm Pitfall in SAR</a:t>
            </a:r>
          </a:p>
          <a:p>
            <a:pPr>
              <a:spcAft>
                <a:spcPts val="600"/>
              </a:spcAft>
            </a:pPr>
            <a:r>
              <a:rPr b="1" sz="1050">
                <a:solidFill>
                  <a:srgbClr val="0F172A"/>
                </a:solidFill>
              </a:rPr>
              <a:t>•  SAR Mechanism: </a:t>
            </a:r>
            <a:r>
              <a:rPr sz="1050">
                <a:solidFill>
                  <a:srgbClr val="1E293B"/>
                </a:solidFill>
              </a:rPr>
              <a:t>Sharpness-Aware Minimization filters updates by checking for sudden gradient norm spikes.</a:t>
            </a:r>
          </a:p>
          <a:p>
            <a:pPr>
              <a:spcAft>
                <a:spcPts val="600"/>
              </a:spcAft>
            </a:pPr>
            <a:r>
              <a:rPr b="1" sz="1050">
                <a:solidFill>
                  <a:srgbClr val="0F172A"/>
                </a:solidFill>
              </a:rPr>
              <a:t>•  The Pathology Reality: </a:t>
            </a:r>
            <a:r>
              <a:rPr sz="1050">
                <a:solidFill>
                  <a:srgbClr val="1E293B"/>
                </a:solidFill>
              </a:rPr>
              <a:t>Stain drift between scanners is smooth and continuous. Gradients remain low-norm but point in completely wrong directions.</a:t>
            </a:r>
          </a:p>
          <a:p>
            <a:pPr>
              <a:spcAft>
                <a:spcPts val="600"/>
              </a:spcAft>
            </a:pPr>
            <a:r>
              <a:rPr b="1" sz="1050">
                <a:solidFill>
                  <a:srgbClr val="0F172A"/>
                </a:solidFill>
              </a:rPr>
              <a:t>•  Silent Drift: </a:t>
            </a:r>
            <a:r>
              <a:rPr sz="1050">
                <a:solidFill>
                  <a:srgbClr val="1E293B"/>
                </a:solidFill>
              </a:rPr>
              <a:t>SAR silently drifts into collapsed attractors on 15% of slides because its gradient threshold is never triggered.</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THRESHOLD BLINDNESS</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Empirical Dominance</a:t>
            </a:r>
          </a:p>
          <a:p>
            <a:pPr>
              <a:spcAft>
                <a:spcPts val="600"/>
              </a:spcAft>
            </a:pPr>
            <a:r>
              <a:rPr b="1" sz="1050">
                <a:solidFill>
                  <a:srgbClr val="0F172A"/>
                </a:solidFill>
              </a:rPr>
              <a:t>•  AUROC Superiority: </a:t>
            </a:r>
            <a:r>
              <a:rPr sz="1050">
                <a:solidFill>
                  <a:srgbClr val="1E293B"/>
                </a:solidFill>
              </a:rPr>
              <a:t>SafeAdapt (0.9495) outperforms RoTTA (0.8715) by +0.078 and CoTTA (0.8210) by +0.128 AUROC.</a:t>
            </a:r>
          </a:p>
          <a:p>
            <a:pPr>
              <a:spcAft>
                <a:spcPts val="600"/>
              </a:spcAft>
            </a:pPr>
            <a:r>
              <a:rPr b="1" sz="1050">
                <a:solidFill>
                  <a:srgbClr val="0F172A"/>
                </a:solidFill>
              </a:rPr>
              <a:t>•  Calibration Superiority: </a:t>
            </a:r>
            <a:r>
              <a:rPr sz="1050">
                <a:solidFill>
                  <a:srgbClr val="1E293B"/>
                </a:solidFill>
              </a:rPr>
              <a:t>ECE of 0.0418 vs 0.1150 (RoTTA) and 0.1890 (CoTTA)—a 64% reduction in miscalibration.</a:t>
            </a:r>
          </a:p>
          <a:p>
            <a:pPr>
              <a:spcAft>
                <a:spcPts val="600"/>
              </a:spcAft>
            </a:pPr>
            <a:r>
              <a:rPr b="1" sz="1050">
                <a:solidFill>
                  <a:srgbClr val="0F172A"/>
                </a:solidFill>
              </a:rPr>
              <a:t>•  System Efficiency: </a:t>
            </a:r>
            <a:r>
              <a:rPr sz="1050">
                <a:solidFill>
                  <a:srgbClr val="1E293B"/>
                </a:solidFill>
              </a:rPr>
              <a:t>Requires 46% less GPU memory than RoTTA and 62% less than CoTTA.</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CLEAR SUPERIORITY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RESEARCH SUMMARY</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Summary of Four Foundational Contributions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A complete theoretical, algorithmic, empirical, and clinical framework for safe test-time adaptation.</a:t>
            </a:r>
          </a:p>
        </p:txBody>
      </p:sp>
      <p:sp>
        <p:nvSpPr>
          <p:cNvPr id="6" name="Rounded Rectangle 5"/>
          <p:cNvSpPr/>
          <p:nvPr/>
        </p:nvSpPr>
        <p:spPr>
          <a:xfrm>
            <a:off x="731520" y="1645920"/>
            <a:ext cx="5212080"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4919472" cy="1901952"/>
          </a:xfrm>
          <a:prstGeom prst="rect">
            <a:avLst/>
          </a:prstGeom>
          <a:noFill/>
        </p:spPr>
        <p:txBody>
          <a:bodyPr wrap="square" lIns="0" tIns="0" rIns="0" bIns="0">
            <a:spAutoFit/>
          </a:bodyPr>
          <a:lstStyle/>
          <a:p>
            <a:pPr>
              <a:spcAft>
                <a:spcPts val="800"/>
              </a:spcAft>
              <a:defRPr sz="1300" b="1">
                <a:solidFill>
                  <a:srgbClr val="0F172A"/>
                </a:solidFill>
              </a:defRPr>
            </a:pPr>
            <a:r>
              <a:t>1. Theoretical Foundation</a:t>
            </a:r>
          </a:p>
          <a:p>
            <a:pPr>
              <a:spcAft>
                <a:spcPts val="600"/>
              </a:spcAft>
            </a:pPr>
            <a:r>
              <a:rPr b="1" sz="1050">
                <a:solidFill>
                  <a:srgbClr val="0F172A"/>
                </a:solidFill>
              </a:rPr>
              <a:t>•  Proposition 1 Proof: </a:t>
            </a:r>
            <a:r>
              <a:rPr sz="1050">
                <a:solidFill>
                  <a:srgbClr val="1E293B"/>
                </a:solidFill>
              </a:rPr>
              <a:t>Proved via Taylor expansion why entropy minimization causes representation collapse in pathology.</a:t>
            </a:r>
          </a:p>
          <a:p>
            <a:pPr>
              <a:spcAft>
                <a:spcPts val="600"/>
              </a:spcAft>
            </a:pPr>
            <a:r>
              <a:rPr b="1" sz="1050">
                <a:solidFill>
                  <a:srgbClr val="0F172A"/>
                </a:solidFill>
              </a:rPr>
              <a:t>•  Rank Equivalence (rho = -0.9917): </a:t>
            </a:r>
            <a:r>
              <a:rPr sz="1050">
                <a:solidFill>
                  <a:srgbClr val="1E293B"/>
                </a:solidFill>
              </a:rPr>
              <a:t>Demonstrated asymptotic inverse rank equivalence between epistemic variance and predictive confidence.</a:t>
            </a:r>
          </a:p>
          <a:p>
            <a:pPr>
              <a:spcAft>
                <a:spcPts val="600"/>
              </a:spcAft>
            </a:pPr>
            <a:r>
              <a:rPr b="1" sz="1050">
                <a:solidFill>
                  <a:srgbClr val="0F172A"/>
                </a:solidFill>
              </a:rPr>
              <a:t>•  Mathematical Discovery: </a:t>
            </a:r>
            <a:r>
              <a:rPr sz="1050">
                <a:solidFill>
                  <a:srgbClr val="1E293B"/>
                </a:solidFill>
              </a:rPr>
              <a:t>Explained why scalar gating mechanisms in EATA and SAR fail to detect catastrophic collapse.</a:t>
            </a:r>
          </a:p>
        </p:txBody>
      </p:sp>
      <p:sp>
        <p:nvSpPr>
          <p:cNvPr id="8" name="Rounded Rectangle 7"/>
          <p:cNvSpPr/>
          <p:nvPr/>
        </p:nvSpPr>
        <p:spPr>
          <a:xfrm>
            <a:off x="429768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THEORETICAL RIGOR</a:t>
            </a:r>
          </a:p>
        </p:txBody>
      </p:sp>
      <p:sp>
        <p:nvSpPr>
          <p:cNvPr id="9" name="Rounded Rectangle 8"/>
          <p:cNvSpPr/>
          <p:nvPr/>
        </p:nvSpPr>
        <p:spPr>
          <a:xfrm>
            <a:off x="6217920" y="164592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4224" y="1792224"/>
            <a:ext cx="4919472" cy="1901952"/>
          </a:xfrm>
          <a:prstGeom prst="rect">
            <a:avLst/>
          </a:prstGeom>
          <a:noFill/>
        </p:spPr>
        <p:txBody>
          <a:bodyPr wrap="square" lIns="0" tIns="0" rIns="0" bIns="0">
            <a:spAutoFit/>
          </a:bodyPr>
          <a:lstStyle/>
          <a:p>
            <a:pPr>
              <a:spcAft>
                <a:spcPts val="800"/>
              </a:spcAft>
              <a:defRPr sz="1300" b="1">
                <a:solidFill>
                  <a:srgbClr val="0D9488"/>
                </a:solidFill>
              </a:defRPr>
            </a:pPr>
            <a:r>
              <a:t>2. Algorithmic Innovation</a:t>
            </a:r>
          </a:p>
          <a:p>
            <a:pPr>
              <a:spcAft>
                <a:spcPts val="600"/>
              </a:spcAft>
            </a:pPr>
            <a:r>
              <a:rPr b="1" sz="1050">
                <a:solidFill>
                  <a:srgbClr val="0F172A"/>
                </a:solidFill>
              </a:rPr>
              <a:t>•  Dual-Stream Sinkhorn OT: </a:t>
            </a:r>
            <a:r>
              <a:rPr sz="1050">
                <a:solidFill>
                  <a:srgbClr val="1E293B"/>
                </a:solidFill>
              </a:rPr>
              <a:t>Formulated exact marginal optimal transport to align streaming features without label-dependent collapse.</a:t>
            </a:r>
          </a:p>
          <a:p>
            <a:pPr>
              <a:spcAft>
                <a:spcPts val="600"/>
              </a:spcAft>
            </a:pPr>
            <a:r>
              <a:rPr b="1" sz="1050">
                <a:solidFill>
                  <a:srgbClr val="0F172A"/>
                </a:solidFill>
              </a:rPr>
              <a:t>•  Cross-Attention Memory (CMR): </a:t>
            </a:r>
            <a:r>
              <a:rPr sz="1050">
                <a:solidFill>
                  <a:srgbClr val="1E293B"/>
                </a:solidFill>
              </a:rPr>
              <a:t>Introduced dynamic episodic memory with an explicit slack channel to absorb staining artifacts.</a:t>
            </a:r>
          </a:p>
          <a:p>
            <a:pPr>
              <a:spcAft>
                <a:spcPts val="600"/>
              </a:spcAft>
            </a:pPr>
            <a:r>
              <a:rPr b="1" sz="1050">
                <a:solidFill>
                  <a:srgbClr val="0F172A"/>
                </a:solidFill>
              </a:rPr>
              <a:t>•  Geometry Preservation: </a:t>
            </a:r>
            <a:r>
              <a:rPr sz="1050">
                <a:solidFill>
                  <a:srgbClr val="1E293B"/>
                </a:solidFill>
              </a:rPr>
              <a:t>Maintains category balance regardless of slide tumor burden.</a:t>
            </a:r>
          </a:p>
        </p:txBody>
      </p:sp>
      <p:sp>
        <p:nvSpPr>
          <p:cNvPr id="11" name="Rounded Rectangle 10"/>
          <p:cNvSpPr/>
          <p:nvPr/>
        </p:nvSpPr>
        <p:spPr>
          <a:xfrm>
            <a:off x="978408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ALGORITHMIC NOVELTY</a:t>
            </a:r>
          </a:p>
        </p:txBody>
      </p:sp>
      <p:sp>
        <p:nvSpPr>
          <p:cNvPr id="12" name="Rounded Rectangle 11"/>
          <p:cNvSpPr/>
          <p:nvPr/>
        </p:nvSpPr>
        <p:spPr>
          <a:xfrm>
            <a:off x="731520" y="4069080"/>
            <a:ext cx="5212080" cy="21945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4215384"/>
            <a:ext cx="4919472" cy="1901952"/>
          </a:xfrm>
          <a:prstGeom prst="rect">
            <a:avLst/>
          </a:prstGeom>
          <a:noFill/>
        </p:spPr>
        <p:txBody>
          <a:bodyPr wrap="square" lIns="0" tIns="0" rIns="0" bIns="0">
            <a:spAutoFit/>
          </a:bodyPr>
          <a:lstStyle/>
          <a:p>
            <a:pPr>
              <a:spcAft>
                <a:spcPts val="800"/>
              </a:spcAft>
              <a:defRPr sz="1300" b="1">
                <a:solidFill>
                  <a:srgbClr val="059669"/>
                </a:solidFill>
              </a:defRPr>
            </a:pPr>
            <a:r>
              <a:t>3. Provable Safety Guarantees</a:t>
            </a:r>
          </a:p>
          <a:p>
            <a:pPr>
              <a:spcAft>
                <a:spcPts val="600"/>
              </a:spcAft>
            </a:pPr>
            <a:r>
              <a:rPr b="1" sz="1050">
                <a:solidFill>
                  <a:srgbClr val="0F172A"/>
                </a:solidFill>
              </a:rPr>
              <a:t>•  Theorem 1 Conformal Bounds: </a:t>
            </a:r>
            <a:r>
              <a:rPr sz="1050">
                <a:solidFill>
                  <a:srgbClr val="1E293B"/>
                </a:solidFill>
              </a:rPr>
              <a:t>Derived distribution-free finite-sample clinical risk bounds bounding error at significance level alpha.</a:t>
            </a:r>
          </a:p>
          <a:p>
            <a:pPr>
              <a:spcAft>
                <a:spcPts val="600"/>
              </a:spcAft>
            </a:pPr>
            <a:r>
              <a:rPr b="1" sz="1050">
                <a:solidFill>
                  <a:srgbClr val="0F172A"/>
                </a:solidFill>
              </a:rPr>
              <a:t>•  Sub-2ms Deterministic Rollback: </a:t>
            </a:r>
            <a:r>
              <a:rPr sz="1050">
                <a:solidFill>
                  <a:srgbClr val="1E293B"/>
                </a:solidFill>
              </a:rPr>
              <a:t>Engineered an in-memory GPU parameter cache executing state recovery in exactly 1.8 ms.</a:t>
            </a:r>
          </a:p>
          <a:p>
            <a:pPr>
              <a:spcAft>
                <a:spcPts val="600"/>
              </a:spcAft>
            </a:pPr>
            <a:r>
              <a:rPr b="1" sz="1050">
                <a:solidFill>
                  <a:srgbClr val="0F172A"/>
                </a:solidFill>
              </a:rPr>
              <a:t>•  Zero Catastrophic Collapse: </a:t>
            </a:r>
            <a:r>
              <a:rPr sz="1050">
                <a:solidFill>
                  <a:srgbClr val="1E293B"/>
                </a:solidFill>
              </a:rPr>
              <a:t>Completely eliminated catastrophic collapse across all 50 multicenter patient slides (0.0%).</a:t>
            </a:r>
          </a:p>
        </p:txBody>
      </p:sp>
      <p:sp>
        <p:nvSpPr>
          <p:cNvPr id="14" name="Rounded Rectangle 13"/>
          <p:cNvSpPr/>
          <p:nvPr/>
        </p:nvSpPr>
        <p:spPr>
          <a:xfrm>
            <a:off x="4297680" y="417880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PROVABLE SAFETY</a:t>
            </a:r>
          </a:p>
        </p:txBody>
      </p:sp>
      <p:sp>
        <p:nvSpPr>
          <p:cNvPr id="15" name="Rounded Rectangle 14"/>
          <p:cNvSpPr/>
          <p:nvPr/>
        </p:nvSpPr>
        <p:spPr>
          <a:xfrm>
            <a:off x="6217920" y="406908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4215384"/>
            <a:ext cx="4919472" cy="1901952"/>
          </a:xfrm>
          <a:prstGeom prst="rect">
            <a:avLst/>
          </a:prstGeom>
          <a:noFill/>
        </p:spPr>
        <p:txBody>
          <a:bodyPr wrap="square" lIns="0" tIns="0" rIns="0" bIns="0">
            <a:spAutoFit/>
          </a:bodyPr>
          <a:lstStyle/>
          <a:p>
            <a:pPr>
              <a:spcAft>
                <a:spcPts val="800"/>
              </a:spcAft>
              <a:defRPr sz="1300" b="1">
                <a:solidFill>
                  <a:srgbClr val="0D9488"/>
                </a:solidFill>
              </a:defRPr>
            </a:pPr>
            <a:r>
              <a:t>4. SOTA Empirical Performance</a:t>
            </a:r>
          </a:p>
          <a:p>
            <a:pPr>
              <a:spcAft>
                <a:spcPts val="600"/>
              </a:spcAft>
            </a:pPr>
            <a:r>
              <a:rPr b="1" sz="1050">
                <a:solidFill>
                  <a:srgbClr val="0F172A"/>
                </a:solidFill>
              </a:rPr>
              <a:t>•  CAMELYON17 Benchmark: </a:t>
            </a:r>
            <a:r>
              <a:rPr sz="1050">
                <a:solidFill>
                  <a:srgbClr val="1E293B"/>
                </a:solidFill>
              </a:rPr>
              <a:t>0.9495 AUROC (+14.2% over source) and 0.0418 ECE across 5 university medical centers.</a:t>
            </a:r>
          </a:p>
          <a:p>
            <a:pPr>
              <a:spcAft>
                <a:spcPts val="600"/>
              </a:spcAft>
            </a:pPr>
            <a:r>
              <a:rPr b="1" sz="1050">
                <a:solidFill>
                  <a:srgbClr val="0F172A"/>
                </a:solidFill>
              </a:rPr>
              <a:t>•  MIDOG 2021 Mitosis: </a:t>
            </a:r>
            <a:r>
              <a:rPr sz="1050">
                <a:solidFill>
                  <a:srgbClr val="1E293B"/>
                </a:solidFill>
              </a:rPr>
              <a:t>0.5172 F1-score (+25.5% over source) with 38.7% reduction in false-positive detections.</a:t>
            </a:r>
          </a:p>
          <a:p>
            <a:pPr>
              <a:spcAft>
                <a:spcPts val="600"/>
              </a:spcAft>
            </a:pPr>
            <a:r>
              <a:rPr b="1" sz="1050">
                <a:solidFill>
                  <a:srgbClr val="0F172A"/>
                </a:solidFill>
              </a:rPr>
              <a:t>•  Clinical Edge Deployment: </a:t>
            </a:r>
            <a:r>
              <a:rPr sz="1050">
                <a:solidFill>
                  <a:srgbClr val="1E293B"/>
                </a:solidFill>
              </a:rPr>
              <a:t>312 patches/sec throughput with only 1,680 MB VRAM footprint.</a:t>
            </a:r>
          </a:p>
        </p:txBody>
      </p:sp>
      <p:sp>
        <p:nvSpPr>
          <p:cNvPr id="17" name="Rounded Rectangle 16"/>
          <p:cNvSpPr/>
          <p:nvPr/>
        </p:nvSpPr>
        <p:spPr>
          <a:xfrm>
            <a:off x="9784080" y="417880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EMPIRICAL SOTA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CONCLUSION &amp; TRANSLATION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Clinical Impact, Open-Source Release &amp; Future Directions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bridges the gap between academic TTA research and real-world clinical whole-slide pathology deployment.</a:t>
            </a:r>
          </a:p>
        </p:txBody>
      </p:sp>
      <p:sp>
        <p:nvSpPr>
          <p:cNvPr id="6" name="Rounded Rectangle 5"/>
          <p:cNvSpPr/>
          <p:nvPr/>
        </p:nvSpPr>
        <p:spPr>
          <a:xfrm>
            <a:off x="731520" y="1645920"/>
            <a:ext cx="3429000" cy="36576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3364992"/>
          </a:xfrm>
          <a:prstGeom prst="rect">
            <a:avLst/>
          </a:prstGeom>
          <a:noFill/>
        </p:spPr>
        <p:txBody>
          <a:bodyPr wrap="square" lIns="0" tIns="0" rIns="0" bIns="0">
            <a:spAutoFit/>
          </a:bodyPr>
          <a:lstStyle/>
          <a:p>
            <a:pPr>
              <a:spcAft>
                <a:spcPts val="800"/>
              </a:spcAft>
              <a:defRPr sz="1300" b="1">
                <a:solidFill>
                  <a:srgbClr val="0D9488"/>
                </a:solidFill>
              </a:defRPr>
            </a:pPr>
            <a:r>
              <a:t>1. Open-Source Reproducibility</a:t>
            </a:r>
          </a:p>
          <a:p>
            <a:pPr>
              <a:spcAft>
                <a:spcPts val="600"/>
              </a:spcAft>
            </a:pPr>
            <a:r>
              <a:rPr b="1" sz="1050">
                <a:solidFill>
                  <a:srgbClr val="0F172A"/>
                </a:solidFill>
              </a:rPr>
              <a:t>•  Complete Codebase: </a:t>
            </a:r>
            <a:r>
              <a:rPr sz="1050">
                <a:solidFill>
                  <a:srgbClr val="1E293B"/>
                </a:solidFill>
              </a:rPr>
              <a:t>Fully documented PyTorch implementation with automated reproduction scripts.</a:t>
            </a:r>
          </a:p>
          <a:p>
            <a:pPr>
              <a:spcAft>
                <a:spcPts val="600"/>
              </a:spcAft>
            </a:pPr>
            <a:r>
              <a:rPr b="1" sz="1050">
                <a:solidFill>
                  <a:srgbClr val="0F172A"/>
                </a:solidFill>
              </a:rPr>
              <a:t>•  Pretrained Checkpoints: </a:t>
            </a:r>
            <a:r>
              <a:rPr sz="1050">
                <a:solidFill>
                  <a:srgbClr val="1E293B"/>
                </a:solidFill>
              </a:rPr>
              <a:t>Source anchors and adaptation weights published under permissive academic open-source license.</a:t>
            </a:r>
          </a:p>
          <a:p>
            <a:pPr>
              <a:spcAft>
                <a:spcPts val="600"/>
              </a:spcAft>
            </a:pPr>
            <a:r>
              <a:rPr b="1" sz="1050">
                <a:solidFill>
                  <a:srgbClr val="0F172A"/>
                </a:solidFill>
              </a:rPr>
              <a:t>•  Audit Verification: </a:t>
            </a:r>
            <a:r>
              <a:rPr sz="1050">
                <a:solidFill>
                  <a:srgbClr val="1E293B"/>
                </a:solidFill>
              </a:rPr>
              <a:t>100% reproducible across CAMELYON17 and MIDOG benchmarks with fixed seeds.</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FULLY REPRODUCIBLE</a:t>
            </a:r>
          </a:p>
        </p:txBody>
      </p:sp>
      <p:sp>
        <p:nvSpPr>
          <p:cNvPr id="9" name="Rounded Rectangle 8"/>
          <p:cNvSpPr/>
          <p:nvPr/>
        </p:nvSpPr>
        <p:spPr>
          <a:xfrm>
            <a:off x="4389120" y="1645920"/>
            <a:ext cx="3429000" cy="365760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3364992"/>
          </a:xfrm>
          <a:prstGeom prst="rect">
            <a:avLst/>
          </a:prstGeom>
          <a:noFill/>
        </p:spPr>
        <p:txBody>
          <a:bodyPr wrap="square" lIns="0" tIns="0" rIns="0" bIns="0">
            <a:spAutoFit/>
          </a:bodyPr>
          <a:lstStyle/>
          <a:p>
            <a:pPr>
              <a:spcAft>
                <a:spcPts val="800"/>
              </a:spcAft>
              <a:defRPr sz="1300" b="1">
                <a:solidFill>
                  <a:srgbClr val="0F172A"/>
                </a:solidFill>
              </a:defRPr>
            </a:pPr>
            <a:r>
              <a:t>2. Prospective Clinical Deployment</a:t>
            </a:r>
          </a:p>
          <a:p>
            <a:pPr>
              <a:spcAft>
                <a:spcPts val="600"/>
              </a:spcAft>
            </a:pPr>
            <a:r>
              <a:rPr b="1" sz="1050">
                <a:solidFill>
                  <a:srgbClr val="0F172A"/>
                </a:solidFill>
              </a:rPr>
              <a:t>•  Digital Pathology Integration: </a:t>
            </a:r>
            <a:r>
              <a:rPr sz="1050">
                <a:solidFill>
                  <a:srgbClr val="1E293B"/>
                </a:solidFill>
              </a:rPr>
              <a:t>Active integration with open-source pathology viewers (QuPath) and hospital PACS (Orthanc).</a:t>
            </a:r>
          </a:p>
          <a:p>
            <a:pPr>
              <a:spcAft>
                <a:spcPts val="600"/>
              </a:spcAft>
            </a:pPr>
            <a:r>
              <a:rPr b="1" sz="1050">
                <a:solidFill>
                  <a:srgbClr val="0F172A"/>
                </a:solidFill>
              </a:rPr>
              <a:t>•  Live Multi-Scanner Trials: </a:t>
            </a:r>
            <a:r>
              <a:rPr sz="1050">
                <a:solidFill>
                  <a:srgbClr val="1E293B"/>
                </a:solidFill>
              </a:rPr>
              <a:t>Prospective validation planned across 3 hospital centers to evaluate real-world oncologist turnaround times.</a:t>
            </a:r>
          </a:p>
          <a:p>
            <a:pPr>
              <a:spcAft>
                <a:spcPts val="600"/>
              </a:spcAft>
            </a:pPr>
            <a:r>
              <a:rPr b="1" sz="1050">
                <a:solidFill>
                  <a:srgbClr val="0F172A"/>
                </a:solidFill>
              </a:rPr>
              <a:t>•  Pathologist Trust: </a:t>
            </a:r>
            <a:r>
              <a:rPr sz="1050">
                <a:solidFill>
                  <a:srgbClr val="1E293B"/>
                </a:solidFill>
              </a:rPr>
              <a:t>Provides transparent confidence metrics alongside whole-slide heatmaps.</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CLINICAL TRIALS</a:t>
            </a:r>
          </a:p>
        </p:txBody>
      </p:sp>
      <p:sp>
        <p:nvSpPr>
          <p:cNvPr id="12" name="Rounded Rectangle 11"/>
          <p:cNvSpPr/>
          <p:nvPr/>
        </p:nvSpPr>
        <p:spPr>
          <a:xfrm>
            <a:off x="8046720" y="1645920"/>
            <a:ext cx="3429000" cy="36576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3364992"/>
          </a:xfrm>
          <a:prstGeom prst="rect">
            <a:avLst/>
          </a:prstGeom>
          <a:noFill/>
        </p:spPr>
        <p:txBody>
          <a:bodyPr wrap="square" lIns="0" tIns="0" rIns="0" bIns="0">
            <a:spAutoFit/>
          </a:bodyPr>
          <a:lstStyle/>
          <a:p>
            <a:pPr>
              <a:spcAft>
                <a:spcPts val="800"/>
              </a:spcAft>
              <a:defRPr sz="1300" b="1">
                <a:solidFill>
                  <a:srgbClr val="059669"/>
                </a:solidFill>
              </a:defRPr>
            </a:pPr>
            <a:r>
              <a:t>3. Future Research Frontiers</a:t>
            </a:r>
          </a:p>
          <a:p>
            <a:pPr>
              <a:spcAft>
                <a:spcPts val="600"/>
              </a:spcAft>
            </a:pPr>
            <a:r>
              <a:rPr b="1" sz="1050">
                <a:solidFill>
                  <a:srgbClr val="0F172A"/>
                </a:solidFill>
              </a:rPr>
              <a:t>•  Pathology Foundation Models: </a:t>
            </a:r>
            <a:r>
              <a:rPr sz="1050">
                <a:solidFill>
                  <a:srgbClr val="1E293B"/>
                </a:solidFill>
              </a:rPr>
              <a:t>Extending SafeAdapt to self-supervised vision-language foundation models (CONCH, UNI, Virchow).</a:t>
            </a:r>
          </a:p>
          <a:p>
            <a:pPr>
              <a:spcAft>
                <a:spcPts val="600"/>
              </a:spcAft>
            </a:pPr>
            <a:r>
              <a:rPr b="1" sz="1050">
                <a:solidFill>
                  <a:srgbClr val="0F172A"/>
                </a:solidFill>
              </a:rPr>
              <a:t>•  Intraoperative Diagnostics: </a:t>
            </a:r>
            <a:r>
              <a:rPr sz="1050">
                <a:solidFill>
                  <a:srgbClr val="1E293B"/>
                </a:solidFill>
              </a:rPr>
              <a:t>Adapting SafeAdapt to rapid intraoperative frozen section analysis under extreme time constraints.</a:t>
            </a:r>
          </a:p>
          <a:p>
            <a:pPr>
              <a:spcAft>
                <a:spcPts val="600"/>
              </a:spcAft>
            </a:pPr>
            <a:r>
              <a:rPr b="1" sz="1050">
                <a:solidFill>
                  <a:srgbClr val="0F172A"/>
                </a:solidFill>
              </a:rPr>
              <a:t>•  3D Volumetric Pathology: </a:t>
            </a:r>
            <a:r>
              <a:rPr sz="1050">
                <a:solidFill>
                  <a:srgbClr val="1E293B"/>
                </a:solidFill>
              </a:rPr>
              <a:t>Extending optimal transport alignment to multi-slice 3D spatial histopathology.</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FUTURE HORIZONS</a:t>
            </a:r>
          </a:p>
        </p:txBody>
      </p:sp>
      <p:sp>
        <p:nvSpPr>
          <p:cNvPr id="15" name="Rounded Rectangle 14"/>
          <p:cNvSpPr/>
          <p:nvPr/>
        </p:nvSpPr>
        <p:spPr>
          <a:xfrm>
            <a:off x="731520" y="5486400"/>
            <a:ext cx="10728655" cy="822960"/>
          </a:xfrm>
          <a:prstGeom prst="round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82880" rIns="182880" tIns="109728"/>
          <a:lstStyle/>
          <a:p>
            <a:pPr algn="ctr">
              <a:defRPr sz="1400" b="1">
                <a:solidFill>
                  <a:srgbClr val="FFFFFF"/>
                </a:solidFill>
              </a:defRPr>
            </a:pPr>
            <a:r>
              <a:t>Thank you to the respected committee members and faculty reviewers.</a:t>
            </a:r>
          </a:p>
          <a:p>
            <a:pPr algn="ctr">
              <a:spcBef>
                <a:spcPts val="400"/>
              </a:spcBef>
              <a:defRPr sz="1200">
                <a:solidFill>
                  <a:srgbClr val="0D9488"/>
                </a:solidFill>
              </a:defRPr>
            </a:pPr>
            <a:r>
              <a:t>Open for questions, technical discussion, and viva voce examination.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