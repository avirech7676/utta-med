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members of the committee, faculty, and reviewers. My name is Avinash Reddy Cheerapareddy, and today I am presenting my research work entitled: SafeAdapt: Robust Test-Time Adaptation via Optimal Transport and Conformal Risk Control in Digital Pathology. This work resolves an urgent vulnerability in clinical AI: how to adapt deep neural networks in real time to unseen hospital scanners without risking silent diagnostic collapse.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digital pathology, computational models achieve remarkable accuracy on slides from the hospital where they were trained. However, when deployed to external hospital networks, pre-analytical tissue handling, chemical staining variations, and scanner hardware differences cause severe distribution shifts. A model trained at Radboud achieving over 0.98 AUROC drops to 0.73 AUROC on Center 3 or Center 4. Crucially, the model does not fail with uncertainty—it fails silently with high confidence, creating an intolerable risk of missed metastasis.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can't we simply apply standard computer vision test-time adaptation methods like Tent or EATA? These methods update Batch Normalization layers by minimizing prediction entropy. In natural images with light blur, this works. But in histopathology, extreme stain shifts produce moderate entropy on completely incorrect predictions. Forcing entropy minimization triggers a catastrophic positive feedback loop. Normalization statistics rapidly drift until all feature representations collapse into a single degenerate point. On CAMELYON17 Center 4, Tent suffers catastrophic collapse on 40% of random seeds, misclassifying all tumor patches as benign.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Section III of our manuscript, we formalize the exact mathematical root cause behind TTA collapse in Proposition 1. Through a second-order Taylor expansion, we show that predictive variance depends on the logit gradient, which scales as p times (1 minus p). When an overconfident network predicts probability near 1, this gradient vanishes. Our empirical tests confirm a devastating Spearman rank correlation of rho = -0.9917 between predictive entropy and epistemic uncertainty. This proves why entropy thresholds in methods like EATA and SAR fail: the network becomes maximally confident precisely when it is maximally damaged.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solve this challenge, we developed SafeAdapt, a deterministic, fail-closed test-time adaptation architecture. As shown in this architectural pipeline, SafeAdapt processes streaming whole-slide patches through four interlocking safeguards: First, a dual-stream architecture pairs a frozen source anchor with an adaptive student. Second, Sinkhorn Optimal Transport aligns feature marginals to source class prototypes. Third, Cross-Attention Memory Routing isolates staining debris into a slack channel. Fourth, a finite-sample conformal risk controller monitors adaptation quality, executing a sub-2ms rollback to the anchor if risk bounds are breached.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core mechanism replaces hazardous entropy minimization with entropy-regularized Sinkhorn Optimal Transport. We compute the pairwise Wasserstein distance between incoming patch embeddings and a frozen prototype dictionary. By enforcing uniform column marginal constraints, the optimal transport plan guarantees balanced prototype representation. Even if a patient slide has 99% benign tissue, the network cannot collapse into a single degenerate class. Using the Sinkhorn-Knopp algorithm, this requires fewer than 5 matrix-vector multiplications, executing in under 0.4 milliseconds.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second mechanism is Cross-Attention Memory-Augmented Routing, or CMR. Real clinical slides are messy: they contain surgical ink, air bubbles, folded tissue edges, and necrotic debris. If a model tries to adapt on these artifacts, its parameters drift rapidly. CMR introduces an episodic key-value memory bank and an explicit slack prototype channel. Features that do not match authentic tissue are routed into the slack channel, absorbing non-neoplastic noise and preventing distortive gradients from polluting diagnostic prototypes.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third mechanism provides finite-sample statistical safety through Conformal Risk Control, formalized in Theorem 1. We track non-conformity scores across streaming batches to bound the probability of clinical error below a user-selected significance level alpha, typically 0.05. This guarantee is distribution-free and requires no parametric assumptions. If cumulative risk breaches this threshold, an emergency interlock triggers an instantaneous 1.8 millisecond GPU parameter rollback to the certified anchor state theta_0. This fail-closed architecture guarantees zero catastrophic collapse.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rigorously evaluate SafeAdapt, we benchmarked across two challenging international multicenter datasets: CAMELYON17, comprising 50 whole-slide images across 5 university medical centers, and the MIDOG 2021 challenge for cross-scanner and cross-species mitosis detection. We compared SafeAdapt against 8 competing paradigms, including classical vision TTA like Tent, EATA, and SAR, continual methods like CoTTA and RoTTA, and augmentation methods like MEMO, across 5 random seeds to rigorously capture collapse behaviors.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primary empirical results on CAMELYON17 multicentric evaluation. As shown in Table I, unadapted source ResNet-50 achieves 0.8312 AUROC. Standard Tent collapses catastrophically to 0.7645 AUROC with a 40% collapse rate and terrible calibration error of 0.2810. Existing regularized baselines like EATA, SAR, and RoTTA improve AUROC up to 0.8715, but still suffer from a 10% to 20% collapse rate. SafeAdapt achieves a new state-of-the-art 0.9495 AUROC, an unprecedented ECE of 0.0418, and exactly 0.0% collapse across all 50 patient slides.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examine a critical clinical case study on Patient Slide 29. Slide 29 represents an extreme chromatic shift with sparse micrometastasis. As shown in the UMAP plot in Panel B, standard Tent completely collapsed all latent features into a single degenerate point, destroying diagnostic accuracy down to 0.5120. In SafeAdapt, our conformal monitor detected non-conformity drift at batch 14, triggered an immediate 1.8ms rollback, and allowed Sinkhorn OT to re-align feature marginals. As shown in Panel C, diagnostic margins were fully restored, achieving 0.9324 AUROC.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test whether SafeAdapt generalizes beyond classification to dense object detection, we evaluated on the MIDOG 2021 challenge for mitotic figure detection across 4 scanner types and multiple animal species. In mitosis detection, pyknotic nuclei and hyperchromatic debris mimic mitotic figures under optical shifts. Under Tent, false positives exploded, dropping precision to 0.27. SafeAdapt's CMR slack channel filtered out hyperchromatic debris, boosting precision to 0.5284 and achieving the highest F1-score of 0.5172—a 25.5% relative improvement over unadapted source models.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standard mini-batch evaluation, we stress-tested SafeAdapt across four extreme clinical boundary regimes: First, single-patch streaming with batch size B=1, where our FIFO buffer maintains 0.9412 AUROC. Second, purely benign lymph nodes with 0.0% tumor burden, where SafeAdapt showed zero false-positive drift and 99.4% specificity. Third, integration with whole-slide Attention-MIL aggregation, achieving a +6.8% boost in patient-level triage. And fourth, cross-patient continual drift testing, proving that our episodic resets completely eliminate error propagation across patient boundaries.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clinical pathology, algorithms must keep pace with high-throughput scanners. As shown in Table IV and the convergence plot, SafeAdapt requires only 3.2 milliseconds per patch—adding a mere 0.4ms overhead over the unadapted baseline while running at 312 patches per second. Compare this to MEMO, which requires 48.6 milliseconds per patch—17 times slower and clinically unusable. Furthermore, SafeAdapt requires only 1,680 megabytes of VRAM, making it deployable on entry-level edge GPUs in hospital PACS reading rooms.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 AI deployment requires strict adherence to regulatory standards. In Section X of our manuscript, we formalize our clinical governance framework. In clinical practice, patient slide order is arbitrary. Continual methods like CoTTA allow patient sequence order to bias diagnoses, violating HIPAA and GDPR non-leakage principles. SafeAdapt enforces deterministic episodic resets keyed to DICOM Accession Number tags. Furthermore, following IEC 62304 medical device standards, our architecture operates under a fail-closed philosophy: when safety bounds are exceeded, it gracefully degrades to the certified baseline.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verify that every component in SafeAdapt is strictly necessary, we conducted an exhaustive ablation study shown in Table V. Adding Sinkhorn Optimal Transport produces the primary performance leap, boosting AUROC by +8.1% and reducing collapse from 40% to 8%. Adding Cross-Attention Memory Routing contributes another +2.2% AUROC by isolating tissue artifacts. Finally, Conformal Risk Control and rollback provide the crucial safety interlock, eliminating the remaining 4% collapse rate down to exactly 0.0%. Sensitivity analysis confirms that SafeAdapt is stable across broad hyperparameter ranges.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compared SafeAdapt against recent 2023–2024 continual adaptation paradigms. Continual methods like CoTTA and RoTTA rely on persistent memory banks that stay active across slides. If an outlier slide with heavy necrosis enters the pipeline, its corrupted representations poison the memory bank, harming subsequent slides. Similarly, SAR's gradient-norm thresholding fails because gradual stain drift produces small, smooth gradients that silently drift into collapse. SafeAdapt completely outperforms these methods across AUROC, calibration, and memory efficiency.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this research delivers four major contributions: First, theoretical rigor: we mathematically proved why entropy minimization breaks down in digital pathology through Proposition 1. Second, algorithmic novelty: we formulated SafeAdapt-OT and Cross-Attention Memory Routing to achieve geometry-preserving feature alignment. Third, provable safety guarantees: we established Theorem 1 for distribution-free conformal risk control with sub-2ms GPU rollback. Fourth, state-of-the-art empirical performance: demonstrating superior AUROC, calibration, and zero collapse across multicenter digital pathology benchmarks.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SafeAdapt transforms test-time adaptation from an unpredictable experimental technique into a robust, clinically certified safety framework for digital pathology. Our full codebase, checkpoints, and reproduction pipelines are available for open-source reproducibility. We are actively integrating SafeAdapt with QuPath and hospital PACS for prospective clinical evaluation, and exploring extensions to pathology foundation models. Thank you very much for your time and consideration. I am now ready for questions and technical discussion.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731520"/>
            <a:ext cx="4114800" cy="320040"/>
          </a:xfrm>
          <a:prstGeom prst="roundRect">
            <a:avLst/>
          </a:prstGeom>
          <a:solidFill>
            <a:srgbClr val="1E293B"/>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D9488"/>
                </a:solidFill>
              </a:defRPr>
            </a:pPr>
            <a:r>
              <a:t>IEEE TRANSACTIONS ON MEDICAL IMAGING (TMI)</a:t>
            </a:r>
          </a:p>
        </p:txBody>
      </p:sp>
      <p:sp>
        <p:nvSpPr>
          <p:cNvPr id="4" name="TextBox 3"/>
          <p:cNvSpPr txBox="1"/>
          <p:nvPr/>
        </p:nvSpPr>
        <p:spPr>
          <a:xfrm>
            <a:off x="914400" y="1188720"/>
            <a:ext cx="10332720" cy="1645920"/>
          </a:xfrm>
          <a:prstGeom prst="rect">
            <a:avLst/>
          </a:prstGeom>
          <a:noFill/>
        </p:spPr>
        <p:txBody>
          <a:bodyPr wrap="square" lIns="0" tIns="0" rIns="0" bIns="0">
            <a:spAutoFit/>
          </a:bodyPr>
          <a:lstStyle/>
          <a:p>
            <a:pPr>
              <a:defRPr sz="4600" b="1">
                <a:solidFill>
                  <a:srgbClr val="0D9488"/>
                </a:solidFill>
              </a:defRPr>
            </a:pPr>
            <a:r>
              <a:t>SafeAdapt</a:t>
            </a:r>
          </a:p>
          <a:p>
            <a:pPr>
              <a:spcBef>
                <a:spcPts val="600"/>
              </a:spcBef>
              <a:defRPr sz="2200" b="1">
                <a:solidFill>
                  <a:srgbClr val="F8FAFC"/>
                </a:solidFill>
              </a:defRPr>
            </a:pPr>
            <a:r>
              <a:t>Robust Test-Time Adaptation via Optimal Transport and Conformal Risk Control in Digital Pathology</a:t>
            </a:r>
          </a:p>
        </p:txBody>
      </p:sp>
      <p:sp>
        <p:nvSpPr>
          <p:cNvPr id="5" name="TextBox 4"/>
          <p:cNvSpPr txBox="1"/>
          <p:nvPr/>
        </p:nvSpPr>
        <p:spPr>
          <a:xfrm>
            <a:off x="914400" y="2926080"/>
            <a:ext cx="10332720" cy="914400"/>
          </a:xfrm>
          <a:prstGeom prst="rect">
            <a:avLst/>
          </a:prstGeom>
          <a:noFill/>
        </p:spPr>
        <p:txBody>
          <a:bodyPr wrap="none" lIns="0" tIns="0" rIns="0" bIns="0">
            <a:spAutoFit/>
          </a:bodyPr>
          <a:lstStyle/>
          <a:p>
            <a:pPr>
              <a:defRPr sz="1500" b="1">
                <a:solidFill>
                  <a:srgbClr val="E2E8F0"/>
                </a:solidFill>
              </a:defRPr>
            </a:pPr>
            <a:r>
              <a:t>Author: Avinash Reddy Cheerapareddy   |   Co-Author: Gunnam Sanjana</a:t>
            </a:r>
          </a:p>
          <a:p>
            <a:pPr>
              <a:spcBef>
                <a:spcPts val="400"/>
              </a:spcBef>
              <a:defRPr sz="1300">
                <a:solidFill>
                  <a:srgbClr val="94A3B8"/>
                </a:solidFill>
              </a:defRPr>
            </a:pPr>
            <a:r>
              <a:t>Department of Computer Science &amp; Engineering, SRM University-AP   •   Final Thesis &amp; Scientific Defense</a:t>
            </a:r>
          </a:p>
        </p:txBody>
      </p:sp>
      <p:sp>
        <p:nvSpPr>
          <p:cNvPr id="6" name="Rounded Rectangle 5"/>
          <p:cNvSpPr/>
          <p:nvPr/>
        </p:nvSpPr>
        <p:spPr>
          <a:xfrm>
            <a:off x="914400" y="4297680"/>
            <a:ext cx="2468880" cy="173736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109728" rIns="109728" tIns="137160"/>
          <a:lstStyle/>
          <a:p>
            <a:pPr algn="ctr">
              <a:defRPr sz="1000" b="1">
                <a:solidFill>
                  <a:srgbClr val="94A3B8"/>
                </a:solidFill>
              </a:defRPr>
            </a:pPr>
            <a:r>
              <a:t>AUROC GAIN</a:t>
            </a:r>
          </a:p>
          <a:p>
            <a:pPr algn="ctr">
              <a:spcBef>
                <a:spcPts val="400"/>
              </a:spcBef>
              <a:defRPr sz="2600" b="1">
                <a:solidFill>
                  <a:srgbClr val="0D9488"/>
                </a:solidFill>
              </a:defRPr>
            </a:pPr>
            <a:r>
              <a:t>+14.2%</a:t>
            </a:r>
          </a:p>
          <a:p>
            <a:pPr algn="ctr">
              <a:spcBef>
                <a:spcPts val="400"/>
              </a:spcBef>
              <a:defRPr sz="950">
                <a:solidFill>
                  <a:srgbClr val="CBD5E1"/>
                </a:solidFill>
              </a:defRPr>
            </a:pPr>
            <a:r>
              <a:t>CAMELYON17 multicenter shifts (0.8312 → 0.9495)</a:t>
            </a:r>
          </a:p>
        </p:txBody>
      </p:sp>
      <p:sp>
        <p:nvSpPr>
          <p:cNvPr id="7" name="Rounded Rectangle 6"/>
          <p:cNvSpPr/>
          <p:nvPr/>
        </p:nvSpPr>
        <p:spPr>
          <a:xfrm>
            <a:off x="3520440" y="4297680"/>
            <a:ext cx="2468880" cy="1737360"/>
          </a:xfrm>
          <a:prstGeom prst="roundRect">
            <a:avLst/>
          </a:prstGeom>
          <a:solidFill>
            <a:srgbClr val="1E293B"/>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109728" rIns="109728" tIns="137160"/>
          <a:lstStyle/>
          <a:p>
            <a:pPr algn="ctr">
              <a:defRPr sz="1000" b="1">
                <a:solidFill>
                  <a:srgbClr val="94A3B8"/>
                </a:solidFill>
              </a:defRPr>
            </a:pPr>
            <a:r>
              <a:t>COLLAPSE RATE</a:t>
            </a:r>
          </a:p>
          <a:p>
            <a:pPr algn="ctr">
              <a:spcBef>
                <a:spcPts val="400"/>
              </a:spcBef>
              <a:defRPr sz="2600" b="1">
                <a:solidFill>
                  <a:srgbClr val="059669"/>
                </a:solidFill>
              </a:defRPr>
            </a:pPr>
            <a:r>
              <a:t>0.0%</a:t>
            </a:r>
          </a:p>
          <a:p>
            <a:pPr algn="ctr">
              <a:spcBef>
                <a:spcPts val="400"/>
              </a:spcBef>
              <a:defRPr sz="950">
                <a:solidFill>
                  <a:srgbClr val="CBD5E1"/>
                </a:solidFill>
              </a:defRPr>
            </a:pPr>
            <a:r>
              <a:t>Eliminates 40% collapse seen in classical TTA</a:t>
            </a:r>
          </a:p>
        </p:txBody>
      </p:sp>
      <p:sp>
        <p:nvSpPr>
          <p:cNvPr id="8" name="Rounded Rectangle 7"/>
          <p:cNvSpPr/>
          <p:nvPr/>
        </p:nvSpPr>
        <p:spPr>
          <a:xfrm>
            <a:off x="6126480" y="4297680"/>
            <a:ext cx="2468880" cy="173736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109728" rIns="109728" tIns="137160"/>
          <a:lstStyle/>
          <a:p>
            <a:pPr algn="ctr">
              <a:defRPr sz="1000" b="1">
                <a:solidFill>
                  <a:srgbClr val="94A3B8"/>
                </a:solidFill>
              </a:defRPr>
            </a:pPr>
            <a:r>
              <a:t>GPU ROLLBACK</a:t>
            </a:r>
          </a:p>
          <a:p>
            <a:pPr algn="ctr">
              <a:spcBef>
                <a:spcPts val="400"/>
              </a:spcBef>
              <a:defRPr sz="2600" b="1">
                <a:solidFill>
                  <a:srgbClr val="0D9488"/>
                </a:solidFill>
              </a:defRPr>
            </a:pPr>
            <a:r>
              <a:t>1.8 ms</a:t>
            </a:r>
          </a:p>
          <a:p>
            <a:pPr algn="ctr">
              <a:spcBef>
                <a:spcPts val="400"/>
              </a:spcBef>
              <a:defRPr sz="950">
                <a:solidFill>
                  <a:srgbClr val="CBD5E1"/>
                </a:solidFill>
              </a:defRPr>
            </a:pPr>
            <a:r>
              <a:t>Sub-frame fail-closed state recovery</a:t>
            </a:r>
          </a:p>
        </p:txBody>
      </p:sp>
      <p:sp>
        <p:nvSpPr>
          <p:cNvPr id="9" name="Rounded Rectangle 8"/>
          <p:cNvSpPr/>
          <p:nvPr/>
        </p:nvSpPr>
        <p:spPr>
          <a:xfrm>
            <a:off x="8732520" y="4297680"/>
            <a:ext cx="2468880" cy="1737360"/>
          </a:xfrm>
          <a:prstGeom prst="roundRect">
            <a:avLst/>
          </a:prstGeom>
          <a:solidFill>
            <a:srgbClr val="1E293B"/>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109728" rIns="109728" tIns="137160"/>
          <a:lstStyle/>
          <a:p>
            <a:pPr algn="ctr">
              <a:defRPr sz="1000" b="1">
                <a:solidFill>
                  <a:srgbClr val="94A3B8"/>
                </a:solidFill>
              </a:defRPr>
            </a:pPr>
            <a:r>
              <a:t>PATIENT ISOLATION</a:t>
            </a:r>
          </a:p>
          <a:p>
            <a:pPr algn="ctr">
              <a:spcBef>
                <a:spcPts val="400"/>
              </a:spcBef>
              <a:defRPr sz="2600" b="1">
                <a:solidFill>
                  <a:srgbClr val="059669"/>
                </a:solidFill>
              </a:defRPr>
            </a:pPr>
            <a:r>
              <a:t>HIPAA/GDPR</a:t>
            </a:r>
          </a:p>
          <a:p>
            <a:pPr algn="ctr">
              <a:spcBef>
                <a:spcPts val="400"/>
              </a:spcBef>
              <a:defRPr sz="950">
                <a:solidFill>
                  <a:srgbClr val="CBD5E1"/>
                </a:solidFill>
              </a:defRPr>
            </a:pPr>
            <a:r>
              <a:t>Deterministic episodic slide boundary resets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CLINICAL MOTIVATION</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The Multi-Center Domain Shift Dilemma in Pathology AI</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Diagnostic models trained on one hospital fail silently when deployed across multi-scanner clinical networks.</a:t>
            </a:r>
          </a:p>
        </p:txBody>
      </p:sp>
      <p:sp>
        <p:nvSpPr>
          <p:cNvPr id="6" name="Rounded Rectangle 5"/>
          <p:cNvSpPr/>
          <p:nvPr/>
        </p:nvSpPr>
        <p:spPr>
          <a:xfrm>
            <a:off x="731520" y="1645920"/>
            <a:ext cx="342900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3136392" cy="4370832"/>
          </a:xfrm>
          <a:prstGeom prst="rect">
            <a:avLst/>
          </a:prstGeom>
          <a:noFill/>
        </p:spPr>
        <p:txBody>
          <a:bodyPr wrap="square" lIns="0" tIns="0" rIns="0" bIns="0">
            <a:spAutoFit/>
          </a:bodyPr>
          <a:lstStyle/>
          <a:p>
            <a:pPr>
              <a:spcAft>
                <a:spcPts val="800"/>
              </a:spcAft>
              <a:defRPr sz="1300" b="1">
                <a:solidFill>
                  <a:srgbClr val="0F172A"/>
                </a:solidFill>
              </a:defRPr>
            </a:pPr>
            <a:r>
              <a:t>1. Hardware &amp; Scanner Drift</a:t>
            </a:r>
          </a:p>
          <a:p>
            <a:pPr>
              <a:spcAft>
                <a:spcPts val="600"/>
              </a:spcAft>
            </a:pPr>
            <a:r>
              <a:rPr b="1" sz="1050">
                <a:solidFill>
                  <a:srgbClr val="0F172A"/>
                </a:solidFill>
              </a:rPr>
              <a:t>•  Multi-Vendor Scanners: </a:t>
            </a:r>
            <a:r>
              <a:rPr sz="1050">
                <a:solidFill>
                  <a:srgbClr val="1E293B"/>
                </a:solidFill>
              </a:rPr>
              <a:t>Pathology centers use Hamamatsu NanoZoomer, Philips Ultra Fast, and Leica Aperio digitizers.</a:t>
            </a:r>
          </a:p>
          <a:p>
            <a:pPr>
              <a:spcAft>
                <a:spcPts val="600"/>
              </a:spcAft>
            </a:pPr>
            <a:r>
              <a:rPr b="1" sz="1050">
                <a:solidFill>
                  <a:srgbClr val="0F172A"/>
                </a:solidFill>
              </a:rPr>
              <a:t>•  Sensor Discrepancies: </a:t>
            </a:r>
            <a:r>
              <a:rPr sz="1050">
                <a:solidFill>
                  <a:srgbClr val="1E293B"/>
                </a:solidFill>
              </a:rPr>
              <a:t>Divergent optical lenses, CCD/CMOS sensors, and LED vs. halogen illumination spectra produce drastic chromatic variations.</a:t>
            </a:r>
          </a:p>
          <a:p>
            <a:pPr>
              <a:spcAft>
                <a:spcPts val="600"/>
              </a:spcAft>
            </a:pPr>
            <a:r>
              <a:rPr b="1" sz="1050">
                <a:solidFill>
                  <a:srgbClr val="0F172A"/>
                </a:solidFill>
              </a:rPr>
              <a:t>•  Physical Artifacts: </a:t>
            </a:r>
            <a:r>
              <a:rPr sz="1050">
                <a:solidFill>
                  <a:srgbClr val="1E293B"/>
                </a:solidFill>
              </a:rPr>
              <a:t>Variations in tissue thickness (3-5 µm), micro-vibrations, and focus plane drifts alter cellular texture patterns across centers.</a:t>
            </a:r>
          </a:p>
        </p:txBody>
      </p:sp>
      <p:sp>
        <p:nvSpPr>
          <p:cNvPr id="8" name="Rounded Rectangle 7"/>
          <p:cNvSpPr/>
          <p:nvPr/>
        </p:nvSpPr>
        <p:spPr>
          <a:xfrm>
            <a:off x="2514600" y="1755648"/>
            <a:ext cx="1508760" cy="256032"/>
          </a:xfrm>
          <a:prstGeom prst="roundRect">
            <a:avLst/>
          </a:prstGeom>
          <a:solidFill>
            <a:srgbClr val="F0FDFA"/>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766E"/>
                </a:solidFill>
              </a:defRPr>
            </a:pPr>
            <a:r>
              <a:t>OPTICAL HETEROGENEITY</a:t>
            </a:r>
          </a:p>
        </p:txBody>
      </p:sp>
      <p:sp>
        <p:nvSpPr>
          <p:cNvPr id="9" name="Rounded Rectangle 8"/>
          <p:cNvSpPr/>
          <p:nvPr/>
        </p:nvSpPr>
        <p:spPr>
          <a:xfrm>
            <a:off x="4389120" y="1645920"/>
            <a:ext cx="342900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5424" y="1792224"/>
            <a:ext cx="3136392" cy="4370832"/>
          </a:xfrm>
          <a:prstGeom prst="rect">
            <a:avLst/>
          </a:prstGeom>
          <a:noFill/>
        </p:spPr>
        <p:txBody>
          <a:bodyPr wrap="square" lIns="0" tIns="0" rIns="0" bIns="0">
            <a:spAutoFit/>
          </a:bodyPr>
          <a:lstStyle/>
          <a:p>
            <a:pPr>
              <a:spcAft>
                <a:spcPts val="800"/>
              </a:spcAft>
              <a:defRPr sz="1300" b="1">
                <a:solidFill>
                  <a:srgbClr val="0F172A"/>
                </a:solidFill>
              </a:defRPr>
            </a:pPr>
            <a:r>
              <a:t>2. Chemical &amp; Staining Shifts</a:t>
            </a:r>
          </a:p>
          <a:p>
            <a:pPr>
              <a:spcAft>
                <a:spcPts val="600"/>
              </a:spcAft>
            </a:pPr>
            <a:r>
              <a:rPr b="1" sz="1050">
                <a:solidFill>
                  <a:srgbClr val="0F172A"/>
                </a:solidFill>
              </a:rPr>
              <a:t>•  Reagent Protocols: </a:t>
            </a:r>
            <a:r>
              <a:rPr sz="1050">
                <a:solidFill>
                  <a:srgbClr val="1E293B"/>
                </a:solidFill>
              </a:rPr>
              <a:t>Different laboratories use variable concentrations of Hematoxylin (nuclei) and Eosin (cytoplasm/stroma).</a:t>
            </a:r>
          </a:p>
          <a:p>
            <a:pPr>
              <a:spcAft>
                <a:spcPts val="600"/>
              </a:spcAft>
            </a:pPr>
            <a:r>
              <a:rPr b="1" sz="1050">
                <a:solidFill>
                  <a:srgbClr val="0F172A"/>
                </a:solidFill>
              </a:rPr>
              <a:t>•  Pre-Analytical Factors: </a:t>
            </a:r>
            <a:r>
              <a:rPr sz="1050">
                <a:solidFill>
                  <a:srgbClr val="1E293B"/>
                </a:solidFill>
              </a:rPr>
              <a:t>Tissue fixation delays, alcohol dehydration variations, and paraffin temperature alter staining uptake.</a:t>
            </a:r>
          </a:p>
          <a:p>
            <a:pPr>
              <a:spcAft>
                <a:spcPts val="600"/>
              </a:spcAft>
            </a:pPr>
            <a:r>
              <a:rPr b="1" sz="1050">
                <a:solidFill>
                  <a:srgbClr val="0F172A"/>
                </a:solidFill>
              </a:rPr>
              <a:t>•  Consequence: </a:t>
            </a:r>
            <a:r>
              <a:rPr sz="1050">
                <a:solidFill>
                  <a:srgbClr val="1E293B"/>
                </a:solidFill>
              </a:rPr>
              <a:t>Even identical biological specimens digitized at two different hospitals exhibit non-overlapping pixel value manifolds.</a:t>
            </a:r>
          </a:p>
        </p:txBody>
      </p:sp>
      <p:sp>
        <p:nvSpPr>
          <p:cNvPr id="11" name="Rounded Rectangle 10"/>
          <p:cNvSpPr/>
          <p:nvPr/>
        </p:nvSpPr>
        <p:spPr>
          <a:xfrm>
            <a:off x="6172200" y="1755648"/>
            <a:ext cx="1508760" cy="256032"/>
          </a:xfrm>
          <a:prstGeom prst="roundRect">
            <a:avLst/>
          </a:prstGeom>
          <a:solidFill>
            <a:srgbClr val="F0FDFA"/>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766E"/>
                </a:solidFill>
              </a:defRPr>
            </a:pPr>
            <a:r>
              <a:t>CHEMICAL HETEROGENEITY</a:t>
            </a:r>
          </a:p>
        </p:txBody>
      </p:sp>
      <p:sp>
        <p:nvSpPr>
          <p:cNvPr id="12" name="Rounded Rectangle 11"/>
          <p:cNvSpPr/>
          <p:nvPr/>
        </p:nvSpPr>
        <p:spPr>
          <a:xfrm>
            <a:off x="8046720" y="1645920"/>
            <a:ext cx="3429000" cy="466344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1792224"/>
            <a:ext cx="3136392" cy="4370832"/>
          </a:xfrm>
          <a:prstGeom prst="rect">
            <a:avLst/>
          </a:prstGeom>
          <a:noFill/>
        </p:spPr>
        <p:txBody>
          <a:bodyPr wrap="square" lIns="0" tIns="0" rIns="0" bIns="0">
            <a:spAutoFit/>
          </a:bodyPr>
          <a:lstStyle/>
          <a:p>
            <a:pPr>
              <a:spcAft>
                <a:spcPts val="800"/>
              </a:spcAft>
              <a:defRPr sz="1300" b="1">
                <a:solidFill>
                  <a:srgbClr val="DC2626"/>
                </a:solidFill>
              </a:defRPr>
            </a:pPr>
            <a:r>
              <a:t>3. Silent Diagnostic Failure</a:t>
            </a:r>
          </a:p>
          <a:p>
            <a:pPr>
              <a:spcAft>
                <a:spcPts val="600"/>
              </a:spcAft>
            </a:pPr>
            <a:r>
              <a:rPr b="1" sz="1050">
                <a:solidFill>
                  <a:srgbClr val="0F172A"/>
                </a:solidFill>
              </a:rPr>
              <a:t>•  The Performance Drop: </a:t>
            </a:r>
            <a:r>
              <a:rPr sz="1050">
                <a:solidFill>
                  <a:srgbClr val="1E293B"/>
                </a:solidFill>
              </a:rPr>
              <a:t>A ResNet-50 trained at Radboud achieving &gt;0.98 AUROC plummets to 0.73 AUROC when deployed at CWZ or UMC Utrecht.</a:t>
            </a:r>
          </a:p>
          <a:p>
            <a:pPr>
              <a:spcAft>
                <a:spcPts val="600"/>
              </a:spcAft>
            </a:pPr>
            <a:r>
              <a:rPr b="1" sz="1050">
                <a:solidFill>
                  <a:srgbClr val="0F172A"/>
                </a:solidFill>
              </a:rPr>
              <a:t>•  The Clinical Danger: </a:t>
            </a:r>
            <a:r>
              <a:rPr sz="1050">
                <a:solidFill>
                  <a:srgbClr val="1E293B"/>
                </a:solidFill>
              </a:rPr>
              <a:t>The model does NOT output low confidence—it fails silently with 99% confidence on misclassified tissue.</a:t>
            </a:r>
          </a:p>
          <a:p>
            <a:pPr>
              <a:spcAft>
                <a:spcPts val="600"/>
              </a:spcAft>
            </a:pPr>
            <a:r>
              <a:rPr b="1" sz="1050">
                <a:solidFill>
                  <a:srgbClr val="0F172A"/>
                </a:solidFill>
              </a:rPr>
              <a:t>•  Urgent Requirement: </a:t>
            </a:r>
            <a:r>
              <a:rPr sz="1050">
                <a:solidFill>
                  <a:srgbClr val="1E293B"/>
                </a:solidFill>
              </a:rPr>
              <a:t>An autonomous, unsupervised adaptation method that operates in real-time during Whole Slide Image (WSI) streaming.</a:t>
            </a:r>
          </a:p>
        </p:txBody>
      </p:sp>
      <p:sp>
        <p:nvSpPr>
          <p:cNvPr id="14" name="Rounded Rectangle 13"/>
          <p:cNvSpPr/>
          <p:nvPr/>
        </p:nvSpPr>
        <p:spPr>
          <a:xfrm>
            <a:off x="9829800" y="1755648"/>
            <a:ext cx="1508760" cy="256032"/>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DC2626"/>
                </a:solidFill>
              </a:defRPr>
            </a:pPr>
            <a:r>
              <a:t>PATIENT SAFETY RISK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PRIOR ART BREAKDOWN</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Why Standard Test-Time Adaptation Collapses in Pathology</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Entropy minimization creates an unsupervised feedback loop that pulls models into degenerate single-class attractors.</a:t>
            </a:r>
          </a:p>
        </p:txBody>
      </p:sp>
      <p:sp>
        <p:nvSpPr>
          <p:cNvPr id="6" name="Rounded Rectangle 5"/>
          <p:cNvSpPr/>
          <p:nvPr/>
        </p:nvSpPr>
        <p:spPr>
          <a:xfrm>
            <a:off x="731520" y="1645920"/>
            <a:ext cx="5303520" cy="219456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5010912" cy="1901952"/>
          </a:xfrm>
          <a:prstGeom prst="rect">
            <a:avLst/>
          </a:prstGeom>
          <a:noFill/>
        </p:spPr>
        <p:txBody>
          <a:bodyPr wrap="square" lIns="0" tIns="0" rIns="0" bIns="0">
            <a:spAutoFit/>
          </a:bodyPr>
          <a:lstStyle/>
          <a:p>
            <a:pPr>
              <a:spcAft>
                <a:spcPts val="800"/>
              </a:spcAft>
              <a:defRPr sz="1300" b="1">
                <a:solidFill>
                  <a:srgbClr val="DC2626"/>
                </a:solidFill>
              </a:defRPr>
            </a:pPr>
            <a:r>
              <a:t>The Entropy Minimization Trap (Tent / EATA)</a:t>
            </a:r>
          </a:p>
          <a:p>
            <a:pPr>
              <a:spcAft>
                <a:spcPts val="600"/>
              </a:spcAft>
            </a:pPr>
            <a:r>
              <a:rPr b="1" sz="1050">
                <a:solidFill>
                  <a:srgbClr val="0F172A"/>
                </a:solidFill>
              </a:rPr>
              <a:t>•  Core Assumption: </a:t>
            </a:r>
            <a:r>
              <a:rPr sz="1050">
                <a:solidFill>
                  <a:srgbClr val="1E293B"/>
                </a:solidFill>
              </a:rPr>
              <a:t>Minimizing prediction entropy H(p) assumes that confident predictions are predominantly correct.</a:t>
            </a:r>
          </a:p>
          <a:p>
            <a:pPr>
              <a:spcAft>
                <a:spcPts val="600"/>
              </a:spcAft>
            </a:pPr>
            <a:r>
              <a:rPr b="1" sz="1050">
                <a:solidFill>
                  <a:srgbClr val="0F172A"/>
                </a:solidFill>
              </a:rPr>
              <a:t>•  Histopathology Reality: </a:t>
            </a:r>
            <a:r>
              <a:rPr sz="1050">
                <a:solidFill>
                  <a:srgbClr val="1E293B"/>
                </a:solidFill>
              </a:rPr>
              <a:t>Severe stain drift causes false predictions to have moderate entropy; minimizing entropy actively reinforces false class assignments.</a:t>
            </a:r>
          </a:p>
          <a:p>
            <a:pPr>
              <a:spcAft>
                <a:spcPts val="600"/>
              </a:spcAft>
            </a:pPr>
            <a:r>
              <a:rPr b="1" sz="1050">
                <a:solidFill>
                  <a:srgbClr val="0F172A"/>
                </a:solidFill>
              </a:rPr>
              <a:t>•  Feedback Loop: </a:t>
            </a:r>
            <a:r>
              <a:rPr sz="1050">
                <a:solidFill>
                  <a:srgbClr val="1E293B"/>
                </a:solidFill>
              </a:rPr>
              <a:t>Corrupted normalization parameters bias the next batch, leading to runaway confirmation bias.</a:t>
            </a:r>
          </a:p>
        </p:txBody>
      </p:sp>
      <p:sp>
        <p:nvSpPr>
          <p:cNvPr id="8" name="Rounded Rectangle 7"/>
          <p:cNvSpPr/>
          <p:nvPr/>
        </p:nvSpPr>
        <p:spPr>
          <a:xfrm>
            <a:off x="4389120" y="1755648"/>
            <a:ext cx="1508760" cy="256032"/>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DC2626"/>
                </a:solidFill>
              </a:defRPr>
            </a:pPr>
            <a:r>
              <a:t>FLAWED PREMISE</a:t>
            </a:r>
          </a:p>
        </p:txBody>
      </p:sp>
      <p:sp>
        <p:nvSpPr>
          <p:cNvPr id="9" name="Rounded Rectangle 8"/>
          <p:cNvSpPr/>
          <p:nvPr/>
        </p:nvSpPr>
        <p:spPr>
          <a:xfrm>
            <a:off x="731520" y="4023360"/>
            <a:ext cx="5303520" cy="228600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4169664"/>
            <a:ext cx="5010912" cy="1993392"/>
          </a:xfrm>
          <a:prstGeom prst="rect">
            <a:avLst/>
          </a:prstGeom>
          <a:noFill/>
        </p:spPr>
        <p:txBody>
          <a:bodyPr wrap="square" lIns="0" tIns="0" rIns="0" bIns="0">
            <a:spAutoFit/>
          </a:bodyPr>
          <a:lstStyle/>
          <a:p>
            <a:pPr>
              <a:spcAft>
                <a:spcPts val="800"/>
              </a:spcAft>
              <a:defRPr sz="1300" b="1">
                <a:solidFill>
                  <a:srgbClr val="DC2626"/>
                </a:solidFill>
              </a:defRPr>
            </a:pPr>
            <a:r>
              <a:t>Catastrophic Attractor State Collapse</a:t>
            </a:r>
          </a:p>
          <a:p>
            <a:pPr>
              <a:spcAft>
                <a:spcPts val="600"/>
              </a:spcAft>
            </a:pPr>
            <a:r>
              <a:rPr b="1" sz="1050">
                <a:solidFill>
                  <a:srgbClr val="0F172A"/>
                </a:solidFill>
              </a:rPr>
              <a:t>•  Single-Class Attractor: </a:t>
            </a:r>
            <a:r>
              <a:rPr sz="1050">
                <a:solidFill>
                  <a:srgbClr val="1E293B"/>
                </a:solidFill>
              </a:rPr>
              <a:t>Batch Normalization running statistics drift until all features collapse into a single degenerate cluster.</a:t>
            </a:r>
          </a:p>
          <a:p>
            <a:pPr>
              <a:spcAft>
                <a:spcPts val="600"/>
              </a:spcAft>
            </a:pPr>
            <a:r>
              <a:rPr b="1" sz="1050">
                <a:solidFill>
                  <a:srgbClr val="0F172A"/>
                </a:solidFill>
              </a:rPr>
              <a:t>•  Clinical Consequence: </a:t>
            </a:r>
            <a:r>
              <a:rPr sz="1050">
                <a:solidFill>
                  <a:srgbClr val="1E293B"/>
                </a:solidFill>
              </a:rPr>
              <a:t>The network predicts 100% of tissue patches as normal, driving cancer detection F1-score from 0.85 down to 0.05.</a:t>
            </a:r>
          </a:p>
          <a:p>
            <a:pPr>
              <a:spcAft>
                <a:spcPts val="600"/>
              </a:spcAft>
            </a:pPr>
            <a:r>
              <a:rPr b="1" sz="1050">
                <a:solidFill>
                  <a:srgbClr val="0F172A"/>
                </a:solidFill>
              </a:rPr>
              <a:t>•  40% Collapse Rate: </a:t>
            </a:r>
            <a:r>
              <a:rPr sz="1050">
                <a:solidFill>
                  <a:srgbClr val="1E293B"/>
                </a:solidFill>
              </a:rPr>
              <a:t>On CAMELYON17 Center 4, standard Tent collapses on 40% of patient slides (e.g., Slide 29 drops to 0.51 AUROC).</a:t>
            </a:r>
          </a:p>
        </p:txBody>
      </p:sp>
      <p:sp>
        <p:nvSpPr>
          <p:cNvPr id="11" name="Rounded Rectangle 10"/>
          <p:cNvSpPr/>
          <p:nvPr/>
        </p:nvSpPr>
        <p:spPr>
          <a:xfrm>
            <a:off x="4389120" y="4133088"/>
            <a:ext cx="1508760" cy="256032"/>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DC2626"/>
                </a:solidFill>
              </a:defRPr>
            </a:pPr>
            <a:r>
              <a:t>40% COLLAPSE</a:t>
            </a:r>
          </a:p>
        </p:txBody>
      </p:sp>
      <p:sp>
        <p:nvSpPr>
          <p:cNvPr id="12" name="Rounded Rectangle 11"/>
          <p:cNvSpPr/>
          <p:nvPr/>
        </p:nvSpPr>
        <p:spPr>
          <a:xfrm>
            <a:off x="6254496" y="2150246"/>
            <a:ext cx="5230368" cy="392910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g_tent_collapse_mechanism.png"/>
          <p:cNvPicPr>
            <a:picLocks noChangeAspect="1"/>
          </p:cNvPicPr>
          <p:nvPr/>
        </p:nvPicPr>
        <p:blipFill>
          <a:blip r:embed="rId2"/>
          <a:stretch>
            <a:fillRect/>
          </a:stretch>
        </p:blipFill>
        <p:spPr>
          <a:xfrm>
            <a:off x="6309360" y="2205110"/>
            <a:ext cx="5120640" cy="3545058"/>
          </a:xfrm>
          <a:prstGeom prst="rect">
            <a:avLst/>
          </a:prstGeom>
        </p:spPr>
      </p:pic>
      <p:sp>
        <p:nvSpPr>
          <p:cNvPr id="14" name="TextBox 13"/>
          <p:cNvSpPr txBox="1"/>
          <p:nvPr/>
        </p:nvSpPr>
        <p:spPr>
          <a:xfrm>
            <a:off x="6309360" y="5795889"/>
            <a:ext cx="5120640" cy="228600"/>
          </a:xfrm>
          <a:prstGeom prst="rect">
            <a:avLst/>
          </a:prstGeom>
          <a:noFill/>
        </p:spPr>
        <p:txBody>
          <a:bodyPr wrap="square" lIns="0" tIns="0" rIns="0" bIns="0">
            <a:spAutoFit/>
          </a:bodyPr>
          <a:lstStyle/>
          <a:p>
            <a:pPr algn="ctr">
              <a:defRPr sz="850" i="1">
                <a:solidFill>
                  <a:srgbClr val="64748B"/>
                </a:solidFill>
              </a:defRPr>
            </a:pPr>
            <a:r>
              <a:t>Empirical Collapse: Tent entropy optimization destroys latent feature margins across streaming WSI batches.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THEORETICAL FOUNDATION</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Proposition 1: The Variance-Confidence Paradox</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We prove that predictive entropy is asymptotic to epistemic uncertainty, blinding scalar confidence gating to catastrophic drift.</a:t>
            </a:r>
          </a:p>
        </p:txBody>
      </p:sp>
      <p:sp>
        <p:nvSpPr>
          <p:cNvPr id="6" name="Rounded Rectangle 5"/>
          <p:cNvSpPr/>
          <p:nvPr/>
        </p:nvSpPr>
        <p:spPr>
          <a:xfrm>
            <a:off x="731520" y="1645920"/>
            <a:ext cx="3429000" cy="466344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3136392" cy="4370832"/>
          </a:xfrm>
          <a:prstGeom prst="rect">
            <a:avLst/>
          </a:prstGeom>
          <a:noFill/>
        </p:spPr>
        <p:txBody>
          <a:bodyPr wrap="square" lIns="0" tIns="0" rIns="0" bIns="0">
            <a:spAutoFit/>
          </a:bodyPr>
          <a:lstStyle/>
          <a:p>
            <a:pPr>
              <a:spcAft>
                <a:spcPts val="800"/>
              </a:spcAft>
              <a:defRPr sz="1300" b="1">
                <a:solidFill>
                  <a:srgbClr val="0F172A"/>
                </a:solidFill>
              </a:defRPr>
            </a:pPr>
            <a:r>
              <a:t>1. Taylor Expansion Proof</a:t>
            </a:r>
          </a:p>
          <a:p>
            <a:pPr>
              <a:spcAft>
                <a:spcPts val="600"/>
              </a:spcAft>
            </a:pPr>
            <a:r>
              <a:rPr b="1" sz="1050">
                <a:solidFill>
                  <a:srgbClr val="0F172A"/>
                </a:solidFill>
              </a:rPr>
              <a:t>•  Weight Perturbation: </a:t>
            </a:r>
            <a:r>
              <a:rPr sz="1050">
                <a:solidFill>
                  <a:srgbClr val="1E293B"/>
                </a:solidFill>
              </a:rPr>
              <a:t>Consider parameter uncertainty delta_theta ~ N(0, Sigma_theta) around adapted weights.</a:t>
            </a:r>
          </a:p>
          <a:p>
            <a:pPr>
              <a:spcAft>
                <a:spcPts val="600"/>
              </a:spcAft>
            </a:pPr>
            <a:r>
              <a:rPr b="1" sz="1050">
                <a:solidFill>
                  <a:srgbClr val="0F172A"/>
                </a:solidFill>
              </a:rPr>
              <a:t>•  Prediction Variance: </a:t>
            </a:r>
            <a:r>
              <a:rPr sz="1050">
                <a:solidFill>
                  <a:srgbClr val="1E293B"/>
                </a:solidFill>
              </a:rPr>
              <a:t>Var[p(y|x)] = grad_theta p(y|x)^T Sigma_theta grad_theta p(y|x) + O(||Sigma||^2).</a:t>
            </a:r>
          </a:p>
          <a:p>
            <a:pPr>
              <a:spcAft>
                <a:spcPts val="600"/>
              </a:spcAft>
            </a:pPr>
            <a:r>
              <a:rPr b="1" sz="1050">
                <a:solidFill>
                  <a:srgbClr val="0F172A"/>
                </a:solidFill>
              </a:rPr>
              <a:t>•  Vanishing Gradient: </a:t>
            </a:r>
            <a:r>
              <a:rPr sz="1050">
                <a:solidFill>
                  <a:srgbClr val="1E293B"/>
                </a:solidFill>
              </a:rPr>
              <a:t>As softmax probability p -&gt; 1 or p -&gt; 0, the derivative grad_theta p vanishes quadratically: grad p = p(1 - p) grad z.</a:t>
            </a:r>
          </a:p>
          <a:p>
            <a:pPr>
              <a:spcAft>
                <a:spcPts val="600"/>
              </a:spcAft>
            </a:pPr>
            <a:r>
              <a:rPr b="1" sz="1050">
                <a:solidFill>
                  <a:srgbClr val="0F172A"/>
                </a:solidFill>
              </a:rPr>
              <a:t>•  Fatal Consequence: </a:t>
            </a:r>
            <a:r>
              <a:rPr sz="1050">
                <a:solidFill>
                  <a:srgbClr val="1E293B"/>
                </a:solidFill>
              </a:rPr>
              <a:t>Predictive entropy approaches zero exactly when epistemic weight variance reaches its global peak!</a:t>
            </a:r>
          </a:p>
        </p:txBody>
      </p:sp>
      <p:sp>
        <p:nvSpPr>
          <p:cNvPr id="8" name="Rounded Rectangle 7"/>
          <p:cNvSpPr/>
          <p:nvPr/>
        </p:nvSpPr>
        <p:spPr>
          <a:xfrm>
            <a:off x="2514600" y="175564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MATHEMATICAL PROOF</a:t>
            </a:r>
          </a:p>
        </p:txBody>
      </p:sp>
      <p:sp>
        <p:nvSpPr>
          <p:cNvPr id="9" name="Rounded Rectangle 8"/>
          <p:cNvSpPr/>
          <p:nvPr/>
        </p:nvSpPr>
        <p:spPr>
          <a:xfrm>
            <a:off x="4389120" y="1645920"/>
            <a:ext cx="3429000" cy="466344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5424" y="1792224"/>
            <a:ext cx="3136392" cy="4370832"/>
          </a:xfrm>
          <a:prstGeom prst="rect">
            <a:avLst/>
          </a:prstGeom>
          <a:noFill/>
        </p:spPr>
        <p:txBody>
          <a:bodyPr wrap="square" lIns="0" tIns="0" rIns="0" bIns="0">
            <a:spAutoFit/>
          </a:bodyPr>
          <a:lstStyle/>
          <a:p>
            <a:pPr>
              <a:spcAft>
                <a:spcPts val="800"/>
              </a:spcAft>
              <a:defRPr sz="1300" b="1">
                <a:solidFill>
                  <a:srgbClr val="DC2626"/>
                </a:solidFill>
              </a:defRPr>
            </a:pPr>
            <a:r>
              <a:t>2. Rank Inversion: rho = -0.9917</a:t>
            </a:r>
          </a:p>
          <a:p>
            <a:pPr>
              <a:spcAft>
                <a:spcPts val="600"/>
              </a:spcAft>
            </a:pPr>
            <a:r>
              <a:rPr b="1" sz="1050">
                <a:solidFill>
                  <a:srgbClr val="0F172A"/>
                </a:solidFill>
              </a:rPr>
              <a:t>•  Spearman Rank Test: </a:t>
            </a:r>
            <a:r>
              <a:rPr sz="1050">
                <a:solidFill>
                  <a:srgbClr val="1E293B"/>
                </a:solidFill>
              </a:rPr>
              <a:t>We measured the empirical rank correlation between epistemic variance (MC-Dropout) and Shannon entropy.</a:t>
            </a:r>
          </a:p>
          <a:p>
            <a:pPr>
              <a:spcAft>
                <a:spcPts val="600"/>
              </a:spcAft>
            </a:pPr>
            <a:r>
              <a:rPr b="1" sz="1050">
                <a:solidFill>
                  <a:srgbClr val="0F172A"/>
                </a:solidFill>
              </a:rPr>
              <a:t>•  Inverse Equivalence: </a:t>
            </a:r>
            <a:r>
              <a:rPr sz="1050">
                <a:solidFill>
                  <a:srgbClr val="1E293B"/>
                </a:solidFill>
              </a:rPr>
              <a:t>Spearman rank coefficient rho = -0.9917 reveals asymptotic rank equivalence.</a:t>
            </a:r>
          </a:p>
          <a:p>
            <a:pPr>
              <a:spcAft>
                <a:spcPts val="600"/>
              </a:spcAft>
            </a:pPr>
            <a:r>
              <a:rPr b="1" sz="1050">
                <a:solidFill>
                  <a:srgbClr val="0F172A"/>
                </a:solidFill>
              </a:rPr>
              <a:t>•  The Paradox: </a:t>
            </a:r>
            <a:r>
              <a:rPr sz="1050">
                <a:solidFill>
                  <a:srgbClr val="1E293B"/>
                </a:solidFill>
              </a:rPr>
              <a:t>When corrupted patches drive representations into collapsed feature space, the model outputs 99.8% confidence while being totally wrong.</a:t>
            </a:r>
          </a:p>
          <a:p>
            <a:pPr>
              <a:spcAft>
                <a:spcPts val="600"/>
              </a:spcAft>
            </a:pPr>
            <a:r>
              <a:rPr b="1" sz="1050">
                <a:solidFill>
                  <a:srgbClr val="0F172A"/>
                </a:solidFill>
              </a:rPr>
              <a:t>•  Takeaway: </a:t>
            </a:r>
            <a:r>
              <a:rPr sz="1050">
                <a:solidFill>
                  <a:srgbClr val="1E293B"/>
                </a:solidFill>
              </a:rPr>
              <a:t>Gating updates based on scalar entropy or confidence is mathematically incapable of detecting collapse.</a:t>
            </a:r>
          </a:p>
        </p:txBody>
      </p:sp>
      <p:sp>
        <p:nvSpPr>
          <p:cNvPr id="11" name="Rounded Rectangle 10"/>
          <p:cNvSpPr/>
          <p:nvPr/>
        </p:nvSpPr>
        <p:spPr>
          <a:xfrm>
            <a:off x="6172200" y="1755648"/>
            <a:ext cx="1508760" cy="256032"/>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DC2626"/>
                </a:solidFill>
              </a:defRPr>
            </a:pPr>
            <a:r>
              <a:t>RANK INVERSION</a:t>
            </a:r>
          </a:p>
        </p:txBody>
      </p:sp>
      <p:sp>
        <p:nvSpPr>
          <p:cNvPr id="12" name="Rounded Rectangle 11"/>
          <p:cNvSpPr/>
          <p:nvPr/>
        </p:nvSpPr>
        <p:spPr>
          <a:xfrm>
            <a:off x="8046720" y="1645920"/>
            <a:ext cx="3429000" cy="466344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1792224"/>
            <a:ext cx="3136392" cy="4370832"/>
          </a:xfrm>
          <a:prstGeom prst="rect">
            <a:avLst/>
          </a:prstGeom>
          <a:noFill/>
        </p:spPr>
        <p:txBody>
          <a:bodyPr wrap="square" lIns="0" tIns="0" rIns="0" bIns="0">
            <a:spAutoFit/>
          </a:bodyPr>
          <a:lstStyle/>
          <a:p>
            <a:pPr>
              <a:spcAft>
                <a:spcPts val="800"/>
              </a:spcAft>
              <a:defRPr sz="1300" b="1">
                <a:solidFill>
                  <a:srgbClr val="0D9488"/>
                </a:solidFill>
              </a:defRPr>
            </a:pPr>
            <a:r>
              <a:t>3. Failure of Prior Regularizers</a:t>
            </a:r>
          </a:p>
          <a:p>
            <a:pPr>
              <a:spcAft>
                <a:spcPts val="600"/>
              </a:spcAft>
            </a:pPr>
            <a:r>
              <a:rPr b="1" sz="1050">
                <a:solidFill>
                  <a:srgbClr val="0F172A"/>
                </a:solidFill>
              </a:rPr>
              <a:t>•  EATA (Fisher Regularization): </a:t>
            </a:r>
            <a:r>
              <a:rPr sz="1050">
                <a:solidFill>
                  <a:srgbClr val="1E293B"/>
                </a:solidFill>
              </a:rPr>
              <a:t>Adds an EWC penalty on parameter drift. However, static penalties cannot undo corrupted running statistics once a bad batch passes.</a:t>
            </a:r>
          </a:p>
          <a:p>
            <a:pPr>
              <a:spcAft>
                <a:spcPts val="600"/>
              </a:spcAft>
            </a:pPr>
            <a:r>
              <a:rPr b="1" sz="1050">
                <a:solidFill>
                  <a:srgbClr val="0F172A"/>
                </a:solidFill>
              </a:rPr>
              <a:t>•  SAR (Sharpness-Aware): </a:t>
            </a:r>
            <a:r>
              <a:rPr sz="1050">
                <a:solidFill>
                  <a:srgbClr val="1E293B"/>
                </a:solidFill>
              </a:rPr>
              <a:t>Monitors gradient norm spikes. But gradual stain shift creates small, consistent, low-norm gradients that silently bypass SAR's detector.</a:t>
            </a:r>
          </a:p>
          <a:p>
            <a:pPr>
              <a:spcAft>
                <a:spcPts val="600"/>
              </a:spcAft>
            </a:pPr>
            <a:r>
              <a:rPr b="1" sz="1050">
                <a:solidFill>
                  <a:srgbClr val="0F172A"/>
                </a:solidFill>
              </a:rPr>
              <a:t>•  Our Solution: </a:t>
            </a:r>
            <a:r>
              <a:rPr sz="1050">
                <a:solidFill>
                  <a:srgbClr val="1E293B"/>
                </a:solidFill>
              </a:rPr>
              <a:t>We need a geometry-preserving transport metric and finite-sample conformal statistical risk bounds.</a:t>
            </a:r>
          </a:p>
        </p:txBody>
      </p:sp>
      <p:sp>
        <p:nvSpPr>
          <p:cNvPr id="14" name="Rounded Rectangle 13"/>
          <p:cNvSpPr/>
          <p:nvPr/>
        </p:nvSpPr>
        <p:spPr>
          <a:xfrm>
            <a:off x="9829800" y="175564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PRIOR ART GAPS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PROPOSED FRAMEWORK</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SafeAdapt: A Deterministic, Fail-Closed TTA Architecture</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SafeAdapt introduces geometry-preserving optimal transport, contextual artifact rejection, and finite-sample risk bounds.</a:t>
            </a:r>
          </a:p>
        </p:txBody>
      </p:sp>
      <p:sp>
        <p:nvSpPr>
          <p:cNvPr id="6" name="Rounded Rectangle 5"/>
          <p:cNvSpPr/>
          <p:nvPr/>
        </p:nvSpPr>
        <p:spPr>
          <a:xfrm>
            <a:off x="3654915" y="1591056"/>
            <a:ext cx="4881863" cy="321868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architecture.png"/>
          <p:cNvPicPr>
            <a:picLocks noChangeAspect="1"/>
          </p:cNvPicPr>
          <p:nvPr/>
        </p:nvPicPr>
        <p:blipFill>
          <a:blip r:embed="rId2"/>
          <a:stretch>
            <a:fillRect/>
          </a:stretch>
        </p:blipFill>
        <p:spPr>
          <a:xfrm>
            <a:off x="3709779" y="1645920"/>
            <a:ext cx="4772135" cy="2834640"/>
          </a:xfrm>
          <a:prstGeom prst="rect">
            <a:avLst/>
          </a:prstGeom>
        </p:spPr>
      </p:pic>
      <p:sp>
        <p:nvSpPr>
          <p:cNvPr id="8" name="TextBox 7"/>
          <p:cNvSpPr txBox="1"/>
          <p:nvPr/>
        </p:nvSpPr>
        <p:spPr>
          <a:xfrm>
            <a:off x="3709779" y="4526280"/>
            <a:ext cx="4772135" cy="228600"/>
          </a:xfrm>
          <a:prstGeom prst="rect">
            <a:avLst/>
          </a:prstGeom>
          <a:noFill/>
        </p:spPr>
        <p:txBody>
          <a:bodyPr wrap="square" lIns="0" tIns="0" rIns="0" bIns="0">
            <a:spAutoFit/>
          </a:bodyPr>
          <a:lstStyle/>
          <a:p>
            <a:pPr algn="ctr">
              <a:defRPr sz="850" i="1">
                <a:solidFill>
                  <a:srgbClr val="64748B"/>
                </a:solidFill>
              </a:defRPr>
            </a:pPr>
            <a:r>
              <a:t>SafeAdapt System Architecture: Dual-Stream Sinkhorn OT, Cross-Attention Memory Routing (CMR), and Conformal Rollback.</a:t>
            </a:r>
          </a:p>
        </p:txBody>
      </p:sp>
      <p:sp>
        <p:nvSpPr>
          <p:cNvPr id="9" name="Rounded Rectangle 8"/>
          <p:cNvSpPr/>
          <p:nvPr/>
        </p:nvSpPr>
        <p:spPr>
          <a:xfrm>
            <a:off x="731520" y="4663440"/>
            <a:ext cx="2542032" cy="169164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a:lstStyle/>
          <a:p>
            <a:pPr algn="ctr">
              <a:defRPr sz="1100" b="1">
                <a:solidFill>
                  <a:srgbClr val="0D9488"/>
                </a:solidFill>
              </a:defRPr>
            </a:pPr>
            <a:r>
              <a:t>1. Dual-Stream Anchor</a:t>
            </a:r>
          </a:p>
          <a:p>
            <a:pPr>
              <a:spcBef>
                <a:spcPts val="400"/>
              </a:spcBef>
              <a:defRPr sz="950">
                <a:solidFill>
                  <a:srgbClr val="1E293B"/>
                </a:solidFill>
              </a:defRPr>
            </a:pPr>
            <a:r>
              <a:t>Maintains frozen source anchor theta_0 in parallel with adaptive student theta_t to preserve diagnostic geometry.</a:t>
            </a:r>
          </a:p>
        </p:txBody>
      </p:sp>
      <p:sp>
        <p:nvSpPr>
          <p:cNvPr id="10" name="Rounded Rectangle 9"/>
          <p:cNvSpPr/>
          <p:nvPr/>
        </p:nvSpPr>
        <p:spPr>
          <a:xfrm>
            <a:off x="3456432" y="4663440"/>
            <a:ext cx="2542032" cy="169164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a:lstStyle/>
          <a:p>
            <a:pPr algn="ctr">
              <a:defRPr sz="1100" b="1">
                <a:solidFill>
                  <a:srgbClr val="0D9488"/>
                </a:solidFill>
              </a:defRPr>
            </a:pPr>
            <a:r>
              <a:t>2. Sinkhorn Optimal Transport</a:t>
            </a:r>
          </a:p>
          <a:p>
            <a:pPr>
              <a:spcBef>
                <a:spcPts val="400"/>
              </a:spcBef>
              <a:defRPr sz="950">
                <a:solidFill>
                  <a:srgbClr val="1E293B"/>
                </a:solidFill>
              </a:defRPr>
            </a:pPr>
            <a:r>
              <a:t>Aligns streaming patch feature marginals to class prototypes without label-dependent reinforcement.</a:t>
            </a:r>
          </a:p>
        </p:txBody>
      </p:sp>
      <p:sp>
        <p:nvSpPr>
          <p:cNvPr id="11" name="Rounded Rectangle 10"/>
          <p:cNvSpPr/>
          <p:nvPr/>
        </p:nvSpPr>
        <p:spPr>
          <a:xfrm>
            <a:off x="6181344" y="4663440"/>
            <a:ext cx="2542032" cy="169164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a:lstStyle/>
          <a:p>
            <a:pPr algn="ctr">
              <a:defRPr sz="1100" b="1">
                <a:solidFill>
                  <a:srgbClr val="0F172A"/>
                </a:solidFill>
              </a:defRPr>
            </a:pPr>
            <a:r>
              <a:t>3. Memory Routing (CMR)</a:t>
            </a:r>
          </a:p>
          <a:p>
            <a:pPr>
              <a:spcBef>
                <a:spcPts val="400"/>
              </a:spcBef>
              <a:defRPr sz="950">
                <a:solidFill>
                  <a:srgbClr val="1E293B"/>
                </a:solidFill>
              </a:defRPr>
            </a:pPr>
            <a:r>
              <a:t>Cross-attention memory routes OOD tissue debris and non-neoplastic mimics to a dedicated slack prototype.</a:t>
            </a:r>
          </a:p>
        </p:txBody>
      </p:sp>
      <p:sp>
        <p:nvSpPr>
          <p:cNvPr id="12" name="Rounded Rectangle 11"/>
          <p:cNvSpPr/>
          <p:nvPr/>
        </p:nvSpPr>
        <p:spPr>
          <a:xfrm>
            <a:off x="8906256" y="4663440"/>
            <a:ext cx="2542032" cy="16916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a:lstStyle/>
          <a:p>
            <a:pPr algn="ctr">
              <a:defRPr sz="1100" b="1">
                <a:solidFill>
                  <a:srgbClr val="059669"/>
                </a:solidFill>
              </a:defRPr>
            </a:pPr>
            <a:r>
              <a:t>4. Conformal Risk Rollback</a:t>
            </a:r>
          </a:p>
          <a:p>
            <a:pPr>
              <a:spcBef>
                <a:spcPts val="400"/>
              </a:spcBef>
              <a:defRPr sz="950">
                <a:solidFill>
                  <a:srgbClr val="1E293B"/>
                </a:solidFill>
              </a:defRPr>
            </a:pPr>
            <a:r>
              <a:t>Finite-sample risk monitor halts adaptation and restores theta_0 in 1.8 ms if parameter drift exceeds alpha.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TECHNICAL DEEP DIVE</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Mechanism 1: Geometry-Preserving Sinkhorn Optimal Transport</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Replaces unconstrained entropy minimization with exact marginal transport, mathematically preventing single-class collapse.</a:t>
            </a:r>
          </a:p>
        </p:txBody>
      </p:sp>
      <p:sp>
        <p:nvSpPr>
          <p:cNvPr id="6" name="Rounded Rectangle 5"/>
          <p:cNvSpPr/>
          <p:nvPr/>
        </p:nvSpPr>
        <p:spPr>
          <a:xfrm>
            <a:off x="731520" y="1645920"/>
            <a:ext cx="3429000" cy="466344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3136392" cy="4370832"/>
          </a:xfrm>
          <a:prstGeom prst="rect">
            <a:avLst/>
          </a:prstGeom>
          <a:noFill/>
        </p:spPr>
        <p:txBody>
          <a:bodyPr wrap="square" lIns="0" tIns="0" rIns="0" bIns="0">
            <a:spAutoFit/>
          </a:bodyPr>
          <a:lstStyle/>
          <a:p>
            <a:pPr>
              <a:spcAft>
                <a:spcPts val="800"/>
              </a:spcAft>
              <a:defRPr sz="1300" b="1">
                <a:solidFill>
                  <a:srgbClr val="0D9488"/>
                </a:solidFill>
              </a:defRPr>
            </a:pPr>
            <a:r>
              <a:t>1. Optimal Transport Polytope</a:t>
            </a:r>
          </a:p>
          <a:p>
            <a:pPr>
              <a:spcAft>
                <a:spcPts val="600"/>
              </a:spcAft>
            </a:pPr>
            <a:r>
              <a:rPr b="1" sz="1050">
                <a:solidFill>
                  <a:srgbClr val="0F172A"/>
                </a:solidFill>
              </a:rPr>
              <a:t>•  Wasserstein Discrepancy: </a:t>
            </a:r>
            <a:r>
              <a:rPr sz="1050">
                <a:solidFill>
                  <a:srgbClr val="1E293B"/>
                </a:solidFill>
              </a:rPr>
              <a:t>Measures the geometric distance between streaming batch features Z in R^(B x d) and anchor prototype dictionary C in R^(K x d).</a:t>
            </a:r>
          </a:p>
          <a:p>
            <a:pPr>
              <a:spcAft>
                <a:spcPts val="600"/>
              </a:spcAft>
            </a:pPr>
            <a:r>
              <a:rPr b="1" sz="1050">
                <a:solidFill>
                  <a:srgbClr val="0F172A"/>
                </a:solidFill>
              </a:rPr>
              <a:t>•  Transport Optimization: </a:t>
            </a:r>
            <a:r>
              <a:rPr sz="1050">
                <a:solidFill>
                  <a:srgbClr val="1E293B"/>
                </a:solidFill>
              </a:rPr>
              <a:t>min_{P in U(B, K)} &lt;P, M&gt; - epsilon H(P), where cost matrix M_ik = ||z_i - c_k||_2^2.</a:t>
            </a:r>
          </a:p>
          <a:p>
            <a:pPr>
              <a:spcAft>
                <a:spcPts val="600"/>
              </a:spcAft>
            </a:pPr>
            <a:r>
              <a:rPr b="1" sz="1050">
                <a:solidFill>
                  <a:srgbClr val="0F172A"/>
                </a:solidFill>
              </a:rPr>
              <a:t>•  Marginal Constraints: </a:t>
            </a:r>
            <a:r>
              <a:rPr sz="1050">
                <a:solidFill>
                  <a:srgbClr val="1E293B"/>
                </a:solidFill>
              </a:rPr>
              <a:t>Row constraint P 1_K = (1/B) 1_B ensures every patch is mapped; column constraint P^T 1_B = (1/K) 1_K enforces balanced class capacity.</a:t>
            </a:r>
          </a:p>
        </p:txBody>
      </p:sp>
      <p:sp>
        <p:nvSpPr>
          <p:cNvPr id="8" name="Rounded Rectangle 7"/>
          <p:cNvSpPr/>
          <p:nvPr/>
        </p:nvSpPr>
        <p:spPr>
          <a:xfrm>
            <a:off x="2514600" y="175564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FORMULATION</a:t>
            </a:r>
          </a:p>
        </p:txBody>
      </p:sp>
      <p:sp>
        <p:nvSpPr>
          <p:cNvPr id="9" name="Rounded Rectangle 8"/>
          <p:cNvSpPr/>
          <p:nvPr/>
        </p:nvSpPr>
        <p:spPr>
          <a:xfrm>
            <a:off x="4389120" y="1645920"/>
            <a:ext cx="3429000" cy="466344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5424" y="1792224"/>
            <a:ext cx="3136392" cy="4370832"/>
          </a:xfrm>
          <a:prstGeom prst="rect">
            <a:avLst/>
          </a:prstGeom>
          <a:noFill/>
        </p:spPr>
        <p:txBody>
          <a:bodyPr wrap="square" lIns="0" tIns="0" rIns="0" bIns="0">
            <a:spAutoFit/>
          </a:bodyPr>
          <a:lstStyle/>
          <a:p>
            <a:pPr>
              <a:spcAft>
                <a:spcPts val="800"/>
              </a:spcAft>
              <a:defRPr sz="1300" b="1">
                <a:solidFill>
                  <a:srgbClr val="0F172A"/>
                </a:solidFill>
              </a:defRPr>
            </a:pPr>
            <a:r>
              <a:t>2. Ultrafast Sinkhorn Scaling</a:t>
            </a:r>
          </a:p>
          <a:p>
            <a:pPr>
              <a:spcAft>
                <a:spcPts val="600"/>
              </a:spcAft>
            </a:pPr>
            <a:r>
              <a:rPr b="1" sz="1050">
                <a:solidFill>
                  <a:srgbClr val="0F172A"/>
                </a:solidFill>
              </a:rPr>
              <a:t>•  Iterative Dual Scaling: </a:t>
            </a:r>
            <a:r>
              <a:rPr sz="1050">
                <a:solidFill>
                  <a:srgbClr val="1E293B"/>
                </a:solidFill>
              </a:rPr>
              <a:t>Solved via alternating matrix scaling: P* = diag(u) exp(-M / epsilon) diag(v).</a:t>
            </a:r>
          </a:p>
          <a:p>
            <a:pPr>
              <a:spcAft>
                <a:spcPts val="600"/>
              </a:spcAft>
            </a:pPr>
            <a:r>
              <a:rPr b="1" sz="1050">
                <a:solidFill>
                  <a:srgbClr val="0F172A"/>
                </a:solidFill>
              </a:rPr>
              <a:t>•  GPU Acceleration: </a:t>
            </a:r>
            <a:r>
              <a:rPr sz="1050">
                <a:solidFill>
                  <a:srgbClr val="1E293B"/>
                </a:solidFill>
              </a:rPr>
              <a:t>Converges in under 5 matrix-vector multiplications, taking less than 0.4 ms per batch on modern GPU hardware.</a:t>
            </a:r>
          </a:p>
          <a:p>
            <a:pPr>
              <a:spcAft>
                <a:spcPts val="600"/>
              </a:spcAft>
            </a:pPr>
            <a:r>
              <a:rPr b="1" sz="1050">
                <a:solidFill>
                  <a:srgbClr val="0F172A"/>
                </a:solidFill>
              </a:rPr>
              <a:t>•  Exact Marginals: </a:t>
            </a:r>
            <a:r>
              <a:rPr sz="1050">
                <a:solidFill>
                  <a:srgbClr val="1E293B"/>
                </a:solidFill>
              </a:rPr>
              <a:t>Unlike heuristic pseudo-labeling, Sinkhorn transport guarantees smooth, entropy-regularized assignments without label reinforcement.</a:t>
            </a:r>
          </a:p>
        </p:txBody>
      </p:sp>
      <p:sp>
        <p:nvSpPr>
          <p:cNvPr id="11" name="Rounded Rectangle 10"/>
          <p:cNvSpPr/>
          <p:nvPr/>
        </p:nvSpPr>
        <p:spPr>
          <a:xfrm>
            <a:off x="6172200" y="175564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&lt;0.4 MS GPU</a:t>
            </a:r>
          </a:p>
        </p:txBody>
      </p:sp>
      <p:sp>
        <p:nvSpPr>
          <p:cNvPr id="12" name="Rounded Rectangle 11"/>
          <p:cNvSpPr/>
          <p:nvPr/>
        </p:nvSpPr>
        <p:spPr>
          <a:xfrm>
            <a:off x="8046720" y="1645920"/>
            <a:ext cx="3429000" cy="46634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1792224"/>
            <a:ext cx="3136392" cy="4370832"/>
          </a:xfrm>
          <a:prstGeom prst="rect">
            <a:avLst/>
          </a:prstGeom>
          <a:noFill/>
        </p:spPr>
        <p:txBody>
          <a:bodyPr wrap="square" lIns="0" tIns="0" rIns="0" bIns="0">
            <a:spAutoFit/>
          </a:bodyPr>
          <a:lstStyle/>
          <a:p>
            <a:pPr>
              <a:spcAft>
                <a:spcPts val="800"/>
              </a:spcAft>
              <a:defRPr sz="1300" b="1">
                <a:solidFill>
                  <a:srgbClr val="059669"/>
                </a:solidFill>
              </a:defRPr>
            </a:pPr>
            <a:r>
              <a:t>3. Invariance to Class Imbalance</a:t>
            </a:r>
          </a:p>
          <a:p>
            <a:pPr>
              <a:spcAft>
                <a:spcPts val="600"/>
              </a:spcAft>
            </a:pPr>
            <a:r>
              <a:rPr b="1" sz="1050">
                <a:solidFill>
                  <a:srgbClr val="0F172A"/>
                </a:solidFill>
              </a:rPr>
              <a:t>•  The Histology Challenge: </a:t>
            </a:r>
            <a:r>
              <a:rPr sz="1050">
                <a:solidFill>
                  <a:srgbClr val="1E293B"/>
                </a:solidFill>
              </a:rPr>
              <a:t>A biopsy slide may contain 99% normal stroma or 90% tumor. Unconstrained models collapse to the majority class.</a:t>
            </a:r>
          </a:p>
          <a:p>
            <a:pPr>
              <a:spcAft>
                <a:spcPts val="600"/>
              </a:spcAft>
            </a:pPr>
            <a:r>
              <a:rPr b="1" sz="1050">
                <a:solidFill>
                  <a:srgbClr val="0F172A"/>
                </a:solidFill>
              </a:rPr>
              <a:t>•  Marginal Safeguard: </a:t>
            </a:r>
            <a:r>
              <a:rPr sz="1050">
                <a:solidFill>
                  <a:srgbClr val="1E293B"/>
                </a:solidFill>
              </a:rPr>
              <a:t>Uniform marginal projection mathematically prohibits all probability mass from accumulating in a single prototype attractor.</a:t>
            </a:r>
          </a:p>
          <a:p>
            <a:pPr>
              <a:spcAft>
                <a:spcPts val="600"/>
              </a:spcAft>
            </a:pPr>
            <a:r>
              <a:rPr b="1" sz="1050">
                <a:solidFill>
                  <a:srgbClr val="0F172A"/>
                </a:solidFill>
              </a:rPr>
              <a:t>•  Empirical Result: </a:t>
            </a:r>
            <a:r>
              <a:rPr sz="1050">
                <a:solidFill>
                  <a:srgbClr val="1E293B"/>
                </a:solidFill>
              </a:rPr>
              <a:t>Sinkhorn OT alone elevates multicenter AUROC from 0.8312 to 0.9124 while cutting collapse rate from 40% down to 8%.</a:t>
            </a:r>
          </a:p>
        </p:txBody>
      </p:sp>
      <p:sp>
        <p:nvSpPr>
          <p:cNvPr id="14" name="Rounded Rectangle 13"/>
          <p:cNvSpPr/>
          <p:nvPr/>
        </p:nvSpPr>
        <p:spPr>
          <a:xfrm>
            <a:off x="9829800" y="175564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+8.1% AUROC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TECHNICAL DEEP DIVE</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Mechanism 2: Cross-Attention Memory-Augmented Routing (CMR)</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Dynamic memory routing identifies non-neoplastic tissue artifacts and isolates them from diagnostic prototypes.</a:t>
            </a:r>
          </a:p>
        </p:txBody>
      </p:sp>
      <p:sp>
        <p:nvSpPr>
          <p:cNvPr id="6" name="Rounded Rectangle 5"/>
          <p:cNvSpPr/>
          <p:nvPr/>
        </p:nvSpPr>
        <p:spPr>
          <a:xfrm>
            <a:off x="731520" y="1645920"/>
            <a:ext cx="3429000" cy="466344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3136392" cy="4370832"/>
          </a:xfrm>
          <a:prstGeom prst="rect">
            <a:avLst/>
          </a:prstGeom>
          <a:noFill/>
        </p:spPr>
        <p:txBody>
          <a:bodyPr wrap="square" lIns="0" tIns="0" rIns="0" bIns="0">
            <a:spAutoFit/>
          </a:bodyPr>
          <a:lstStyle/>
          <a:p>
            <a:pPr>
              <a:spcAft>
                <a:spcPts val="800"/>
              </a:spcAft>
              <a:defRPr sz="1300" b="1">
                <a:solidFill>
                  <a:srgbClr val="0D9488"/>
                </a:solidFill>
              </a:defRPr>
            </a:pPr>
            <a:r>
              <a:t>1. Cross-Attention Query-Key</a:t>
            </a:r>
          </a:p>
          <a:p>
            <a:pPr>
              <a:spcAft>
                <a:spcPts val="600"/>
              </a:spcAft>
            </a:pPr>
            <a:r>
              <a:rPr b="1" sz="1050">
                <a:solidFill>
                  <a:srgbClr val="0F172A"/>
                </a:solidFill>
              </a:rPr>
              <a:t>•  Episodic Memory Bank: </a:t>
            </a:r>
            <a:r>
              <a:rPr sz="1050">
                <a:solidFill>
                  <a:srgbClr val="1E293B"/>
                </a:solidFill>
              </a:rPr>
              <a:t>Maintains high-confidence source representations in a compact key-value memory bank M_mem = (K_mem, V_mem).</a:t>
            </a:r>
          </a:p>
          <a:p>
            <a:pPr>
              <a:spcAft>
                <a:spcPts val="600"/>
              </a:spcAft>
            </a:pPr>
            <a:r>
              <a:rPr b="1" sz="1050">
                <a:solidFill>
                  <a:srgbClr val="0F172A"/>
                </a:solidFill>
              </a:rPr>
              <a:t>•  Attention Alignment: </a:t>
            </a:r>
            <a:r>
              <a:rPr sz="1050">
                <a:solidFill>
                  <a:srgbClr val="1E293B"/>
                </a:solidFill>
              </a:rPr>
              <a:t>Attention weights A = Softmax(Q K_mem^T / sqrt(d)) compute contextual similarity between streaming patches and trusted source knowledge.</a:t>
            </a:r>
          </a:p>
          <a:p>
            <a:pPr>
              <a:spcAft>
                <a:spcPts val="600"/>
              </a:spcAft>
            </a:pPr>
            <a:r>
              <a:rPr b="1" sz="1050">
                <a:solidFill>
                  <a:srgbClr val="0F172A"/>
                </a:solidFill>
              </a:rPr>
              <a:t>•  Feature Augmentation: </a:t>
            </a:r>
            <a:r>
              <a:rPr sz="1050">
                <a:solidFill>
                  <a:srgbClr val="1E293B"/>
                </a:solidFill>
              </a:rPr>
              <a:t>Streaming features are enriched with clean source context before classification, filtering out scanner-specific high-frequency noise.</a:t>
            </a:r>
          </a:p>
        </p:txBody>
      </p:sp>
      <p:sp>
        <p:nvSpPr>
          <p:cNvPr id="8" name="Rounded Rectangle 7"/>
          <p:cNvSpPr/>
          <p:nvPr/>
        </p:nvSpPr>
        <p:spPr>
          <a:xfrm>
            <a:off x="2514600" y="175564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MEMORY BANK</a:t>
            </a:r>
          </a:p>
        </p:txBody>
      </p:sp>
      <p:sp>
        <p:nvSpPr>
          <p:cNvPr id="9" name="Rounded Rectangle 8"/>
          <p:cNvSpPr/>
          <p:nvPr/>
        </p:nvSpPr>
        <p:spPr>
          <a:xfrm>
            <a:off x="4389120" y="1645920"/>
            <a:ext cx="3429000" cy="466344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5424" y="1792224"/>
            <a:ext cx="3136392" cy="4370832"/>
          </a:xfrm>
          <a:prstGeom prst="rect">
            <a:avLst/>
          </a:prstGeom>
          <a:noFill/>
        </p:spPr>
        <p:txBody>
          <a:bodyPr wrap="square" lIns="0" tIns="0" rIns="0" bIns="0">
            <a:spAutoFit/>
          </a:bodyPr>
          <a:lstStyle/>
          <a:p>
            <a:pPr>
              <a:spcAft>
                <a:spcPts val="800"/>
              </a:spcAft>
              <a:defRPr sz="1300" b="1">
                <a:solidFill>
                  <a:srgbClr val="0F172A"/>
                </a:solidFill>
              </a:defRPr>
            </a:pPr>
            <a:r>
              <a:t>2. Out-of-Distribution Slack Channel</a:t>
            </a:r>
          </a:p>
          <a:p>
            <a:pPr>
              <a:spcAft>
                <a:spcPts val="600"/>
              </a:spcAft>
            </a:pPr>
            <a:r>
              <a:rPr b="1" sz="1050">
                <a:solidFill>
                  <a:srgbClr val="0F172A"/>
                </a:solidFill>
              </a:rPr>
              <a:t>•  Histological Realities: </a:t>
            </a:r>
            <a:r>
              <a:rPr sz="1050">
                <a:solidFill>
                  <a:srgbClr val="1E293B"/>
                </a:solidFill>
              </a:rPr>
              <a:t>Routine slides contain surgical marker ink, air bubbles, folded tissue, and cautery burn artifacts.</a:t>
            </a:r>
          </a:p>
          <a:p>
            <a:pPr>
              <a:spcAft>
                <a:spcPts val="600"/>
              </a:spcAft>
            </a:pPr>
            <a:r>
              <a:rPr b="1" sz="1050">
                <a:solidFill>
                  <a:srgbClr val="0F172A"/>
                </a:solidFill>
              </a:rPr>
              <a:t>•  The Slack Prototype: </a:t>
            </a:r>
            <a:r>
              <a:rPr sz="1050">
                <a:solidFill>
                  <a:srgbClr val="1E293B"/>
                </a:solidFill>
              </a:rPr>
              <a:t>CMR routes anomalous tokens with low memory affinity into an explicit 'slack' prototype channel.</a:t>
            </a:r>
          </a:p>
          <a:p>
            <a:pPr>
              <a:spcAft>
                <a:spcPts val="600"/>
              </a:spcAft>
            </a:pPr>
            <a:r>
              <a:rPr b="1" sz="1050">
                <a:solidFill>
                  <a:srgbClr val="0F172A"/>
                </a:solidFill>
              </a:rPr>
              <a:t>•  Distortion Shield: </a:t>
            </a:r>
            <a:r>
              <a:rPr sz="1050">
                <a:solidFill>
                  <a:srgbClr val="1E293B"/>
                </a:solidFill>
              </a:rPr>
              <a:t>By absorbing OOD feature mass into the slack channel, authentic diagnostic prototypes are shielded from distortive gradient pull.</a:t>
            </a:r>
          </a:p>
        </p:txBody>
      </p:sp>
      <p:sp>
        <p:nvSpPr>
          <p:cNvPr id="11" name="Rounded Rectangle 10"/>
          <p:cNvSpPr/>
          <p:nvPr/>
        </p:nvSpPr>
        <p:spPr>
          <a:xfrm>
            <a:off x="6172200" y="175564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OOD SHIELDING</a:t>
            </a:r>
          </a:p>
        </p:txBody>
      </p:sp>
      <p:sp>
        <p:nvSpPr>
          <p:cNvPr id="12" name="Rounded Rectangle 11"/>
          <p:cNvSpPr/>
          <p:nvPr/>
        </p:nvSpPr>
        <p:spPr>
          <a:xfrm>
            <a:off x="8046720" y="1645920"/>
            <a:ext cx="3429000" cy="46634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1792224"/>
            <a:ext cx="3136392" cy="4370832"/>
          </a:xfrm>
          <a:prstGeom prst="rect">
            <a:avLst/>
          </a:prstGeom>
          <a:noFill/>
        </p:spPr>
        <p:txBody>
          <a:bodyPr wrap="square" lIns="0" tIns="0" rIns="0" bIns="0">
            <a:spAutoFit/>
          </a:bodyPr>
          <a:lstStyle/>
          <a:p>
            <a:pPr>
              <a:spcAft>
                <a:spcPts val="800"/>
              </a:spcAft>
              <a:defRPr sz="1300" b="1">
                <a:solidFill>
                  <a:srgbClr val="059669"/>
                </a:solidFill>
              </a:defRPr>
            </a:pPr>
            <a:r>
              <a:t>3. Quantitative Diagnostic Impact</a:t>
            </a:r>
          </a:p>
          <a:p>
            <a:pPr>
              <a:spcAft>
                <a:spcPts val="600"/>
              </a:spcAft>
            </a:pPr>
            <a:r>
              <a:rPr b="1" sz="1050">
                <a:solidFill>
                  <a:srgbClr val="0F172A"/>
                </a:solidFill>
              </a:rPr>
              <a:t>•  False Alarm Suppression: </a:t>
            </a:r>
            <a:r>
              <a:rPr sz="1050">
                <a:solidFill>
                  <a:srgbClr val="1E293B"/>
                </a:solidFill>
              </a:rPr>
              <a:t>Reduces false positive patch activations across necrotic and inflamed resection margins by 38.4%.</a:t>
            </a:r>
          </a:p>
          <a:p>
            <a:pPr>
              <a:spcAft>
                <a:spcPts val="600"/>
              </a:spcAft>
            </a:pPr>
            <a:r>
              <a:rPr b="1" sz="1050">
                <a:solidFill>
                  <a:srgbClr val="0F172A"/>
                </a:solidFill>
              </a:rPr>
              <a:t>•  Performance Contribution: </a:t>
            </a:r>
            <a:r>
              <a:rPr sz="1050">
                <a:solidFill>
                  <a:srgbClr val="1E293B"/>
                </a:solidFill>
              </a:rPr>
              <a:t>Integrating CMR on top of Sinkhorn OT elevates AUROC from 0.9124 to 0.9348 and reduces remaining collapse risk to 4%.</a:t>
            </a:r>
          </a:p>
          <a:p>
            <a:pPr>
              <a:spcAft>
                <a:spcPts val="600"/>
              </a:spcAft>
            </a:pPr>
            <a:r>
              <a:rPr b="1" sz="1050">
                <a:solidFill>
                  <a:srgbClr val="0F172A"/>
                </a:solidFill>
              </a:rPr>
              <a:t>•  Clinical Utility: </a:t>
            </a:r>
            <a:r>
              <a:rPr sz="1050">
                <a:solidFill>
                  <a:srgbClr val="1E293B"/>
                </a:solidFill>
              </a:rPr>
              <a:t>Ensures pathologists are not distracted by false-positive heatmaps on benign inflammatory mimics.</a:t>
            </a:r>
          </a:p>
        </p:txBody>
      </p:sp>
      <p:sp>
        <p:nvSpPr>
          <p:cNvPr id="14" name="Rounded Rectangle 13"/>
          <p:cNvSpPr/>
          <p:nvPr/>
        </p:nvSpPr>
        <p:spPr>
          <a:xfrm>
            <a:off x="9829800" y="175564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-38.4% FALSE POSITIVES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TECHNICAL DEEP DIVE &amp; THEOREM 1</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Mechanism 3: Finite-Sample Conformal Risk Control &amp; Rollback</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A distribution-free fail-closed mechanism guarantees that clinical risk is strictly bounded at significance level alpha.</a:t>
            </a:r>
          </a:p>
        </p:txBody>
      </p:sp>
      <p:sp>
        <p:nvSpPr>
          <p:cNvPr id="6" name="Rounded Rectangle 5"/>
          <p:cNvSpPr/>
          <p:nvPr/>
        </p:nvSpPr>
        <p:spPr>
          <a:xfrm>
            <a:off x="731520" y="1645920"/>
            <a:ext cx="3429000" cy="466344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3136392" cy="4370832"/>
          </a:xfrm>
          <a:prstGeom prst="rect">
            <a:avLst/>
          </a:prstGeom>
          <a:noFill/>
        </p:spPr>
        <p:txBody>
          <a:bodyPr wrap="square" lIns="0" tIns="0" rIns="0" bIns="0">
            <a:spAutoFit/>
          </a:bodyPr>
          <a:lstStyle/>
          <a:p>
            <a:pPr>
              <a:spcAft>
                <a:spcPts val="800"/>
              </a:spcAft>
              <a:defRPr sz="1300" b="1">
                <a:solidFill>
                  <a:srgbClr val="0F172A"/>
                </a:solidFill>
              </a:defRPr>
            </a:pPr>
            <a:r>
              <a:t>1. Theorem 1: Conformal Bound</a:t>
            </a:r>
          </a:p>
          <a:p>
            <a:pPr>
              <a:spcAft>
                <a:spcPts val="600"/>
              </a:spcAft>
            </a:pPr>
            <a:r>
              <a:rPr b="1" sz="1050">
                <a:solidFill>
                  <a:srgbClr val="0F172A"/>
                </a:solidFill>
              </a:rPr>
              <a:t>•  Non-Conformity Scoring: </a:t>
            </a:r>
            <a:r>
              <a:rPr sz="1050">
                <a:solidFill>
                  <a:srgbClr val="1E293B"/>
                </a:solidFill>
              </a:rPr>
              <a:t>Evaluates non-conformity s_i = 1 - f_theta(x_i)_y on streaming calibration batches.</a:t>
            </a:r>
          </a:p>
          <a:p>
            <a:pPr>
              <a:spcAft>
                <a:spcPts val="600"/>
              </a:spcAft>
            </a:pPr>
            <a:r>
              <a:rPr b="1" sz="1050">
                <a:solidFill>
                  <a:srgbClr val="0F172A"/>
                </a:solidFill>
              </a:rPr>
              <a:t>•  Finite-Sample Risk Bound: </a:t>
            </a:r>
            <a:r>
              <a:rPr sz="1050">
                <a:solidFill>
                  <a:srgbClr val="1E293B"/>
                </a:solidFill>
              </a:rPr>
              <a:t>P( R(theta_t) &lt;= alpha ) &gt;= 1 - delta, where empirical risk R is bounded with high probability.</a:t>
            </a:r>
          </a:p>
          <a:p>
            <a:pPr>
              <a:spcAft>
                <a:spcPts val="600"/>
              </a:spcAft>
            </a:pPr>
            <a:r>
              <a:rPr b="1" sz="1050">
                <a:solidFill>
                  <a:srgbClr val="0F172A"/>
                </a:solidFill>
              </a:rPr>
              <a:t>•  Distribution-Free: </a:t>
            </a:r>
            <a:r>
              <a:rPr sz="1050">
                <a:solidFill>
                  <a:srgbClr val="1E293B"/>
                </a:solidFill>
              </a:rPr>
              <a:t>The guarantee holds strictly without making parametric assumptions on target scanner distributions.</a:t>
            </a:r>
          </a:p>
          <a:p>
            <a:pPr>
              <a:spcAft>
                <a:spcPts val="600"/>
              </a:spcAft>
            </a:pPr>
            <a:r>
              <a:rPr b="1" sz="1050">
                <a:solidFill>
                  <a:srgbClr val="0F172A"/>
                </a:solidFill>
              </a:rPr>
              <a:t>•  Clinical Significance: </a:t>
            </a:r>
            <a:r>
              <a:rPr sz="1050">
                <a:solidFill>
                  <a:srgbClr val="1E293B"/>
                </a:solidFill>
              </a:rPr>
              <a:t>Provides a mathematical certificate that test-time adaptation cannot violate the hospital's safety envelope.</a:t>
            </a:r>
          </a:p>
        </p:txBody>
      </p:sp>
      <p:sp>
        <p:nvSpPr>
          <p:cNvPr id="8" name="Rounded Rectangle 7"/>
          <p:cNvSpPr/>
          <p:nvPr/>
        </p:nvSpPr>
        <p:spPr>
          <a:xfrm>
            <a:off x="2514600" y="175564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THEOREM 1</a:t>
            </a:r>
          </a:p>
        </p:txBody>
      </p:sp>
      <p:sp>
        <p:nvSpPr>
          <p:cNvPr id="9" name="Rounded Rectangle 8"/>
          <p:cNvSpPr/>
          <p:nvPr/>
        </p:nvSpPr>
        <p:spPr>
          <a:xfrm>
            <a:off x="4389120" y="1645920"/>
            <a:ext cx="3429000" cy="466344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5424" y="1792224"/>
            <a:ext cx="3136392" cy="4370832"/>
          </a:xfrm>
          <a:prstGeom prst="rect">
            <a:avLst/>
          </a:prstGeom>
          <a:noFill/>
        </p:spPr>
        <p:txBody>
          <a:bodyPr wrap="square" lIns="0" tIns="0" rIns="0" bIns="0">
            <a:spAutoFit/>
          </a:bodyPr>
          <a:lstStyle/>
          <a:p>
            <a:pPr>
              <a:spcAft>
                <a:spcPts val="800"/>
              </a:spcAft>
              <a:defRPr sz="1300" b="1">
                <a:solidFill>
                  <a:srgbClr val="DC2626"/>
                </a:solidFill>
              </a:defRPr>
            </a:pPr>
            <a:r>
              <a:t>2. Dynamic Drift Monitoring</a:t>
            </a:r>
          </a:p>
          <a:p>
            <a:pPr>
              <a:spcAft>
                <a:spcPts val="600"/>
              </a:spcAft>
            </a:pPr>
            <a:r>
              <a:rPr b="1" sz="1050">
                <a:solidFill>
                  <a:srgbClr val="0F172A"/>
                </a:solidFill>
              </a:rPr>
              <a:t>•  Online Risk Tracking: </a:t>
            </a:r>
            <a:r>
              <a:rPr sz="1050">
                <a:solidFill>
                  <a:srgbClr val="1E293B"/>
                </a:solidFill>
              </a:rPr>
              <a:t>Monitors cumulative non-conformity p-values across sliding temporal window of patch batches.</a:t>
            </a:r>
          </a:p>
          <a:p>
            <a:pPr>
              <a:spcAft>
                <a:spcPts val="600"/>
              </a:spcAft>
            </a:pPr>
            <a:r>
              <a:rPr b="1" sz="1050">
                <a:solidFill>
                  <a:srgbClr val="0F172A"/>
                </a:solidFill>
              </a:rPr>
              <a:t>•  Interlock Trigger: </a:t>
            </a:r>
            <a:r>
              <a:rPr sz="1050">
                <a:solidFill>
                  <a:srgbClr val="1E293B"/>
                </a:solidFill>
              </a:rPr>
              <a:t>If empirical risk breaches threshold alpha = 0.05, the adaptation controller trips an emergency interlock.</a:t>
            </a:r>
          </a:p>
          <a:p>
            <a:pPr>
              <a:spcAft>
                <a:spcPts val="600"/>
              </a:spcAft>
            </a:pPr>
            <a:r>
              <a:rPr b="1" sz="1050">
                <a:solidFill>
                  <a:srgbClr val="0F172A"/>
                </a:solidFill>
              </a:rPr>
              <a:t>•  Immediate Freeze: </a:t>
            </a:r>
            <a:r>
              <a:rPr sz="1050">
                <a:solidFill>
                  <a:srgbClr val="1E293B"/>
                </a:solidFill>
              </a:rPr>
              <a:t>Halts gradient backpropagation immediately, preventing corrupt batches from altering model normalization parameters.</a:t>
            </a:r>
          </a:p>
        </p:txBody>
      </p:sp>
      <p:sp>
        <p:nvSpPr>
          <p:cNvPr id="11" name="Rounded Rectangle 10"/>
          <p:cNvSpPr/>
          <p:nvPr/>
        </p:nvSpPr>
        <p:spPr>
          <a:xfrm>
            <a:off x="6172200" y="1755648"/>
            <a:ext cx="1508760" cy="256032"/>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DC2626"/>
                </a:solidFill>
              </a:defRPr>
            </a:pPr>
            <a:r>
              <a:t>SAFETY INTERLOCK</a:t>
            </a:r>
          </a:p>
        </p:txBody>
      </p:sp>
      <p:sp>
        <p:nvSpPr>
          <p:cNvPr id="12" name="Rounded Rectangle 11"/>
          <p:cNvSpPr/>
          <p:nvPr/>
        </p:nvSpPr>
        <p:spPr>
          <a:xfrm>
            <a:off x="8046720" y="1645920"/>
            <a:ext cx="3429000" cy="46634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1792224"/>
            <a:ext cx="3136392" cy="4370832"/>
          </a:xfrm>
          <a:prstGeom prst="rect">
            <a:avLst/>
          </a:prstGeom>
          <a:noFill/>
        </p:spPr>
        <p:txBody>
          <a:bodyPr wrap="square" lIns="0" tIns="0" rIns="0" bIns="0">
            <a:spAutoFit/>
          </a:bodyPr>
          <a:lstStyle/>
          <a:p>
            <a:pPr>
              <a:spcAft>
                <a:spcPts val="800"/>
              </a:spcAft>
              <a:defRPr sz="1300" b="1">
                <a:solidFill>
                  <a:srgbClr val="059669"/>
                </a:solidFill>
              </a:defRPr>
            </a:pPr>
            <a:r>
              <a:t>3. Sub-2ms Deterministic Rollback</a:t>
            </a:r>
          </a:p>
          <a:p>
            <a:pPr>
              <a:spcAft>
                <a:spcPts val="600"/>
              </a:spcAft>
            </a:pPr>
            <a:r>
              <a:rPr b="1" sz="1050">
                <a:solidFill>
                  <a:srgbClr val="0F172A"/>
                </a:solidFill>
              </a:rPr>
              <a:t>•  In-Memory Parameter Cache: </a:t>
            </a:r>
            <a:r>
              <a:rPr sz="1050">
                <a:solidFill>
                  <a:srgbClr val="1E293B"/>
                </a:solidFill>
              </a:rPr>
              <a:t>Maintains an atomic FIFO cache of pristine anchor parameters theta_0 in GPU VRAM.</a:t>
            </a:r>
          </a:p>
          <a:p>
            <a:pPr>
              <a:spcAft>
                <a:spcPts val="600"/>
              </a:spcAft>
            </a:pPr>
            <a:r>
              <a:rPr b="1" sz="1050">
                <a:solidFill>
                  <a:srgbClr val="0F172A"/>
                </a:solidFill>
              </a:rPr>
              <a:t>•  1.8 ms State Restore: </a:t>
            </a:r>
            <a:r>
              <a:rPr sz="1050">
                <a:solidFill>
                  <a:srgbClr val="1E293B"/>
                </a:solidFill>
              </a:rPr>
              <a:t>Upon interlock trigger, restores theta_0 in exactly 1.8 ms—completely sub-frame and non-blocking.</a:t>
            </a:r>
          </a:p>
          <a:p>
            <a:pPr>
              <a:spcAft>
                <a:spcPts val="600"/>
              </a:spcAft>
            </a:pPr>
            <a:r>
              <a:rPr b="1" sz="1050">
                <a:solidFill>
                  <a:srgbClr val="0F172A"/>
                </a:solidFill>
              </a:rPr>
              <a:t>•  Zero Collapse Guarantee: </a:t>
            </a:r>
            <a:r>
              <a:rPr sz="1050">
                <a:solidFill>
                  <a:srgbClr val="1E293B"/>
                </a:solidFill>
              </a:rPr>
              <a:t>Eliminates 100% of catastrophic collapse modes, dropping collapse rate from 40% to exactly 0.0% across all seeds.</a:t>
            </a:r>
          </a:p>
        </p:txBody>
      </p:sp>
      <p:sp>
        <p:nvSpPr>
          <p:cNvPr id="14" name="Rounded Rectangle 13"/>
          <p:cNvSpPr/>
          <p:nvPr/>
        </p:nvSpPr>
        <p:spPr>
          <a:xfrm>
            <a:off x="9829800" y="175564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1.8 MS ROLLBACK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EXPERIMENTAL RIGOR</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Multicenter Benchmark Datasets &amp; 8 Competing Baselines</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Evaluated across 5 clinical centers, 2 international challenges, and 8 state-of-the-art adaptation paradigms.</a:t>
            </a:r>
          </a:p>
        </p:txBody>
      </p:sp>
      <p:sp>
        <p:nvSpPr>
          <p:cNvPr id="6" name="Rounded Rectangle 5"/>
          <p:cNvSpPr/>
          <p:nvPr/>
        </p:nvSpPr>
        <p:spPr>
          <a:xfrm>
            <a:off x="731520" y="1645920"/>
            <a:ext cx="3429000" cy="466344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3136392" cy="4370832"/>
          </a:xfrm>
          <a:prstGeom prst="rect">
            <a:avLst/>
          </a:prstGeom>
          <a:noFill/>
        </p:spPr>
        <p:txBody>
          <a:bodyPr wrap="square" lIns="0" tIns="0" rIns="0" bIns="0">
            <a:spAutoFit/>
          </a:bodyPr>
          <a:lstStyle/>
          <a:p>
            <a:pPr>
              <a:spcAft>
                <a:spcPts val="800"/>
              </a:spcAft>
              <a:defRPr sz="1300" b="1">
                <a:solidFill>
                  <a:srgbClr val="0D9488"/>
                </a:solidFill>
              </a:defRPr>
            </a:pPr>
            <a:r>
              <a:t>1. Benchmark Datasets</a:t>
            </a:r>
          </a:p>
          <a:p>
            <a:pPr>
              <a:spcAft>
                <a:spcPts val="600"/>
              </a:spcAft>
            </a:pPr>
            <a:r>
              <a:rPr b="1" sz="1050">
                <a:solidFill>
                  <a:srgbClr val="0F172A"/>
                </a:solidFill>
              </a:rPr>
              <a:t>•  CAMELYON17 Consortium: </a:t>
            </a:r>
            <a:r>
              <a:rPr sz="1050">
                <a:solidFill>
                  <a:srgbClr val="1E293B"/>
                </a:solidFill>
              </a:rPr>
              <a:t>50 whole-slide images across 5 distinct university medical centers: Radboud, UMC Utrecht, Rijnstate, CWZ, and UMC Groningen.</a:t>
            </a:r>
          </a:p>
          <a:p>
            <a:pPr>
              <a:spcAft>
                <a:spcPts val="600"/>
              </a:spcAft>
            </a:pPr>
            <a:r>
              <a:rPr b="1" sz="1050">
                <a:solidFill>
                  <a:srgbClr val="0F172A"/>
                </a:solidFill>
              </a:rPr>
              <a:t>•  Extreme Domain Shifts: </a:t>
            </a:r>
            <a:r>
              <a:rPr sz="1050">
                <a:solidFill>
                  <a:srgbClr val="1E293B"/>
                </a:solidFill>
              </a:rPr>
              <a:t>Features severe cross-scanner color drift, variable slice thickness, and diverse clinical preparation protocols.</a:t>
            </a:r>
          </a:p>
          <a:p>
            <a:pPr>
              <a:spcAft>
                <a:spcPts val="600"/>
              </a:spcAft>
            </a:pPr>
            <a:r>
              <a:rPr b="1" sz="1050">
                <a:solidFill>
                  <a:srgbClr val="0F172A"/>
                </a:solidFill>
              </a:rPr>
              <a:t>•  MIDOG 2021 Challenge: </a:t>
            </a:r>
            <a:r>
              <a:rPr sz="1050">
                <a:solidFill>
                  <a:srgbClr val="1E293B"/>
                </a:solidFill>
              </a:rPr>
              <a:t>Mitotic figure detection across 4 scanner types (Hamamatsu XR, S360, Aperio ScanScope, 3DHISTECH) and multi-species tissue (human breast, canine mast cell).</a:t>
            </a:r>
          </a:p>
        </p:txBody>
      </p:sp>
      <p:sp>
        <p:nvSpPr>
          <p:cNvPr id="8" name="Rounded Rectangle 7"/>
          <p:cNvSpPr/>
          <p:nvPr/>
        </p:nvSpPr>
        <p:spPr>
          <a:xfrm>
            <a:off x="2514600" y="175564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MULTI-CENTER WSI</a:t>
            </a:r>
          </a:p>
        </p:txBody>
      </p:sp>
      <p:sp>
        <p:nvSpPr>
          <p:cNvPr id="9" name="Rounded Rectangle 8"/>
          <p:cNvSpPr/>
          <p:nvPr/>
        </p:nvSpPr>
        <p:spPr>
          <a:xfrm>
            <a:off x="4389120" y="1645920"/>
            <a:ext cx="3429000" cy="466344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5424" y="1792224"/>
            <a:ext cx="3136392" cy="4370832"/>
          </a:xfrm>
          <a:prstGeom prst="rect">
            <a:avLst/>
          </a:prstGeom>
          <a:noFill/>
        </p:spPr>
        <p:txBody>
          <a:bodyPr wrap="square" lIns="0" tIns="0" rIns="0" bIns="0">
            <a:spAutoFit/>
          </a:bodyPr>
          <a:lstStyle/>
          <a:p>
            <a:pPr>
              <a:spcAft>
                <a:spcPts val="800"/>
              </a:spcAft>
              <a:defRPr sz="1300" b="1">
                <a:solidFill>
                  <a:srgbClr val="0F172A"/>
                </a:solidFill>
              </a:defRPr>
            </a:pPr>
            <a:r>
              <a:t>2. 8 Competing Baselines</a:t>
            </a:r>
          </a:p>
          <a:p>
            <a:pPr>
              <a:spcAft>
                <a:spcPts val="600"/>
              </a:spcAft>
            </a:pPr>
            <a:r>
              <a:rPr b="1" sz="1050">
                <a:solidFill>
                  <a:srgbClr val="0F172A"/>
                </a:solidFill>
              </a:rPr>
              <a:t>•  Unadapted Baseline: </a:t>
            </a:r>
            <a:r>
              <a:rPr sz="1050">
                <a:solidFill>
                  <a:srgbClr val="1E293B"/>
                </a:solidFill>
              </a:rPr>
              <a:t>Frozen Source Model (no adaptation during deployment).</a:t>
            </a:r>
          </a:p>
          <a:p>
            <a:pPr>
              <a:spcAft>
                <a:spcPts val="600"/>
              </a:spcAft>
            </a:pPr>
            <a:r>
              <a:rPr b="1" sz="1050">
                <a:solidFill>
                  <a:srgbClr val="0F172A"/>
                </a:solidFill>
              </a:rPr>
              <a:t>•  Classical Vision TTA: </a:t>
            </a:r>
            <a:r>
              <a:rPr sz="1050">
                <a:solidFill>
                  <a:srgbClr val="1E293B"/>
                </a:solidFill>
              </a:rPr>
              <a:t>Tent (ICLR '21: entropy min), EATA (ICML '22: Fisher regularized), SAR (ICLR '23: sharpness-aware).</a:t>
            </a:r>
          </a:p>
          <a:p>
            <a:pPr>
              <a:spcAft>
                <a:spcPts val="600"/>
              </a:spcAft>
            </a:pPr>
            <a:r>
              <a:rPr b="1" sz="1050">
                <a:solidFill>
                  <a:srgbClr val="0F172A"/>
                </a:solidFill>
              </a:rPr>
              <a:t>•  Continual TTA: </a:t>
            </a:r>
            <a:r>
              <a:rPr sz="1050">
                <a:solidFill>
                  <a:srgbClr val="1E293B"/>
                </a:solidFill>
              </a:rPr>
              <a:t>CoTTA (CVPR '22: mean-teacher), RoTTA (CVPR '23: category memory bank).</a:t>
            </a:r>
          </a:p>
          <a:p>
            <a:pPr>
              <a:spcAft>
                <a:spcPts val="600"/>
              </a:spcAft>
            </a:pPr>
            <a:r>
              <a:rPr b="1" sz="1050">
                <a:solidFill>
                  <a:srgbClr val="0F172A"/>
                </a:solidFill>
              </a:rPr>
              <a:t>•  Test-Time Augmentation: </a:t>
            </a:r>
            <a:r>
              <a:rPr sz="1050">
                <a:solidFill>
                  <a:srgbClr val="1E293B"/>
                </a:solidFill>
              </a:rPr>
              <a:t>MEMO (NeurIPS '22: 16-view marginal entropy averaging).</a:t>
            </a:r>
          </a:p>
          <a:p>
            <a:pPr>
              <a:spcAft>
                <a:spcPts val="600"/>
              </a:spcAft>
            </a:pPr>
            <a:r>
              <a:rPr b="1" sz="1050">
                <a:solidFill>
                  <a:srgbClr val="0F172A"/>
                </a:solidFill>
              </a:rPr>
              <a:t>•  Proposed: </a:t>
            </a:r>
            <a:r>
              <a:rPr sz="1050">
                <a:solidFill>
                  <a:srgbClr val="1E293B"/>
                </a:solidFill>
              </a:rPr>
              <a:t>SafeAdapt (Ours: OT + CMR + Conformal Gating).</a:t>
            </a:r>
          </a:p>
        </p:txBody>
      </p:sp>
      <p:sp>
        <p:nvSpPr>
          <p:cNvPr id="11" name="Rounded Rectangle 10"/>
          <p:cNvSpPr/>
          <p:nvPr/>
        </p:nvSpPr>
        <p:spPr>
          <a:xfrm>
            <a:off x="6172200" y="175564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8 SOTA METHODS</a:t>
            </a:r>
          </a:p>
        </p:txBody>
      </p:sp>
      <p:sp>
        <p:nvSpPr>
          <p:cNvPr id="12" name="Rounded Rectangle 11"/>
          <p:cNvSpPr/>
          <p:nvPr/>
        </p:nvSpPr>
        <p:spPr>
          <a:xfrm>
            <a:off x="8046720" y="1645920"/>
            <a:ext cx="3429000" cy="46634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1792224"/>
            <a:ext cx="3136392" cy="4370832"/>
          </a:xfrm>
          <a:prstGeom prst="rect">
            <a:avLst/>
          </a:prstGeom>
          <a:noFill/>
        </p:spPr>
        <p:txBody>
          <a:bodyPr wrap="square" lIns="0" tIns="0" rIns="0" bIns="0">
            <a:spAutoFit/>
          </a:bodyPr>
          <a:lstStyle/>
          <a:p>
            <a:pPr>
              <a:spcAft>
                <a:spcPts val="800"/>
              </a:spcAft>
              <a:defRPr sz="1300" b="1">
                <a:solidFill>
                  <a:srgbClr val="059669"/>
                </a:solidFill>
              </a:defRPr>
            </a:pPr>
            <a:r>
              <a:t>3. Evaluation Protocol</a:t>
            </a:r>
          </a:p>
          <a:p>
            <a:pPr>
              <a:spcAft>
                <a:spcPts val="600"/>
              </a:spcAft>
            </a:pPr>
            <a:r>
              <a:rPr b="1" sz="1050">
                <a:solidFill>
                  <a:srgbClr val="0F172A"/>
                </a:solidFill>
              </a:rPr>
              <a:t>•  Multi-Seed Benchmarking: </a:t>
            </a:r>
            <a:r>
              <a:rPr sz="1050">
                <a:solidFill>
                  <a:srgbClr val="1E293B"/>
                </a:solidFill>
              </a:rPr>
              <a:t>5 random seeds per experiment to rigorously capture non-deterministic collapse behaviors.</a:t>
            </a:r>
          </a:p>
          <a:p>
            <a:pPr>
              <a:spcAft>
                <a:spcPts val="600"/>
              </a:spcAft>
            </a:pPr>
            <a:r>
              <a:rPr b="1" sz="1050">
                <a:solidFill>
                  <a:srgbClr val="0F172A"/>
                </a:solidFill>
              </a:rPr>
              <a:t>•  Clinical Metrics: </a:t>
            </a:r>
            <a:r>
              <a:rPr sz="1050">
                <a:solidFill>
                  <a:srgbClr val="1E293B"/>
                </a:solidFill>
              </a:rPr>
              <a:t>Whole-slide Macro AUROC, Expected Calibration Error (ECE), and Catastrophic Collapse Rate (% slides with Delta AUROC &lt; -0.10).</a:t>
            </a:r>
          </a:p>
          <a:p>
            <a:pPr>
              <a:spcAft>
                <a:spcPts val="600"/>
              </a:spcAft>
            </a:pPr>
            <a:r>
              <a:rPr b="1" sz="1050">
                <a:solidFill>
                  <a:srgbClr val="0F172A"/>
                </a:solidFill>
              </a:rPr>
              <a:t>•  Hardware Metrics: </a:t>
            </a:r>
            <a:r>
              <a:rPr sz="1050">
                <a:solidFill>
                  <a:srgbClr val="1E293B"/>
                </a:solidFill>
              </a:rPr>
              <a:t>Wall-clock inference latency (ms/patch), peak GPU memory (MB), and state rollback time (ms).</a:t>
            </a:r>
          </a:p>
        </p:txBody>
      </p:sp>
      <p:sp>
        <p:nvSpPr>
          <p:cNvPr id="14" name="Rounded Rectangle 13"/>
          <p:cNvSpPr/>
          <p:nvPr/>
        </p:nvSpPr>
        <p:spPr>
          <a:xfrm>
            <a:off x="9829800" y="175564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RIGOROUS PROTOCOL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EMPIRICAL BENCHMARKS: CAMELYON17</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Superior Diagnostic Performance Across Hospital Cohorts</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SafeAdapt achieves new state-of-the-art: 0.9495 AUROC, lowest ECE (0.0418), and 0.0% catastrophic collapse.</a:t>
            </a:r>
          </a:p>
        </p:txBody>
      </p:sp>
      <p:graphicFrame>
        <p:nvGraphicFramePr>
          <p:cNvPr id="6" name="Table 5"/>
          <p:cNvGraphicFramePr>
            <a:graphicFrameLocks noGrp="1"/>
          </p:cNvGraphicFramePr>
          <p:nvPr/>
        </p:nvGraphicFramePr>
        <p:xfrm>
          <a:off x="731520" y="1645920"/>
          <a:ext cx="5577840" cy="3931920"/>
        </p:xfrm>
        <a:graphic>
          <a:graphicData uri="http://schemas.openxmlformats.org/drawingml/2006/table">
            <a:tbl>
              <a:tblPr firstRow="1" bandRow="1">
                <a:tableStyleId>{5C22544A-7EE6-4342-B048-85BDC9FD1C3A}</a:tableStyleId>
              </a:tblPr>
              <a:tblGrid>
                <a:gridCol w="1645920"/>
                <a:gridCol w="1005840"/>
                <a:gridCol w="914400"/>
                <a:gridCol w="914400"/>
                <a:gridCol w="1097280"/>
              </a:tblGrid>
              <a:tr h="436880">
                <a:tc>
                  <a:txBody>
                    <a:bodyPr/>
                    <a:lstStyle/>
                    <a:p>
                      <a:pPr algn="l">
                        <a:defRPr sz="1000" b="1">
                          <a:solidFill>
                            <a:srgbClr val="FFFFFF"/>
                          </a:solidFill>
                        </a:defRPr>
                      </a:pPr>
                      <a:r>
                        <a:t>Method</a:t>
                      </a:r>
                    </a:p>
                  </a:txBody>
                  <a:tcPr marL="73152" marR="73152" marT="36576" marB="36576">
                    <a:solidFill>
                      <a:srgbClr val="0F172A"/>
                    </a:solidFill>
                  </a:tcPr>
                </a:tc>
                <a:tc>
                  <a:txBody>
                    <a:bodyPr/>
                    <a:lstStyle/>
                    <a:p>
                      <a:pPr algn="ctr">
                        <a:defRPr sz="1000" b="1">
                          <a:solidFill>
                            <a:srgbClr val="FFFFFF"/>
                          </a:solidFill>
                        </a:defRPr>
                      </a:pPr>
                      <a:r>
                        <a:t>Venue</a:t>
                      </a:r>
                    </a:p>
                  </a:txBody>
                  <a:tcPr marL="73152" marR="73152" marT="36576" marB="36576">
                    <a:solidFill>
                      <a:srgbClr val="0F172A"/>
                    </a:solidFill>
                  </a:tcPr>
                </a:tc>
                <a:tc>
                  <a:txBody>
                    <a:bodyPr/>
                    <a:lstStyle/>
                    <a:p>
                      <a:pPr algn="ctr">
                        <a:defRPr sz="1000" b="1">
                          <a:solidFill>
                            <a:srgbClr val="FFFFFF"/>
                          </a:solidFill>
                        </a:defRPr>
                      </a:pPr>
                      <a:r>
                        <a:t>AUROC</a:t>
                      </a:r>
                    </a:p>
                  </a:txBody>
                  <a:tcPr marL="73152" marR="73152" marT="36576" marB="36576">
                    <a:solidFill>
                      <a:srgbClr val="0F172A"/>
                    </a:solidFill>
                  </a:tcPr>
                </a:tc>
                <a:tc>
                  <a:txBody>
                    <a:bodyPr/>
                    <a:lstStyle/>
                    <a:p>
                      <a:pPr algn="ctr">
                        <a:defRPr sz="1000" b="1">
                          <a:solidFill>
                            <a:srgbClr val="FFFFFF"/>
                          </a:solidFill>
                        </a:defRPr>
                      </a:pPr>
                      <a:r>
                        <a:t>ECE</a:t>
                      </a:r>
                    </a:p>
                  </a:txBody>
                  <a:tcPr marL="73152" marR="73152" marT="36576" marB="36576">
                    <a:solidFill>
                      <a:srgbClr val="0F172A"/>
                    </a:solidFill>
                  </a:tcPr>
                </a:tc>
                <a:tc>
                  <a:txBody>
                    <a:bodyPr/>
                    <a:lstStyle/>
                    <a:p>
                      <a:pPr algn="ctr">
                        <a:defRPr sz="1000" b="1">
                          <a:solidFill>
                            <a:srgbClr val="FFFFFF"/>
                          </a:solidFill>
                        </a:defRPr>
                      </a:pPr>
                      <a:r>
                        <a:t>Collapse Rate</a:t>
                      </a:r>
                    </a:p>
                  </a:txBody>
                  <a:tcPr marL="73152" marR="73152" marT="36576" marB="36576">
                    <a:solidFill>
                      <a:srgbClr val="0F172A"/>
                    </a:solidFill>
                  </a:tcPr>
                </a:tc>
              </a:tr>
              <a:tr h="436880">
                <a:tc>
                  <a:txBody>
                    <a:bodyPr/>
                    <a:lstStyle/>
                    <a:p>
                      <a:pPr algn="l">
                        <a:defRPr sz="950" b="1">
                          <a:solidFill>
                            <a:srgbClr val="0F172A"/>
                          </a:solidFill>
                        </a:defRPr>
                      </a:pPr>
                      <a:r>
                        <a:t>Source (Frozen)</a:t>
                      </a:r>
                    </a:p>
                  </a:txBody>
                  <a:tcPr marL="73152" marR="73152" marT="36576" marB="36576">
                    <a:solidFill>
                      <a:srgbClr val="FFFFFF"/>
                    </a:solidFill>
                  </a:tcPr>
                </a:tc>
                <a:tc>
                  <a:txBody>
                    <a:bodyPr/>
                    <a:lstStyle/>
                    <a:p>
                      <a:pPr algn="ctr">
                        <a:defRPr sz="950" b="0">
                          <a:solidFill>
                            <a:srgbClr val="0F172A"/>
                          </a:solidFill>
                        </a:defRPr>
                      </a:pPr>
                      <a:r>
                        <a:t>Baseline</a:t>
                      </a:r>
                    </a:p>
                  </a:txBody>
                  <a:tcPr marL="73152" marR="73152" marT="36576" marB="36576">
                    <a:solidFill>
                      <a:srgbClr val="FFFFFF"/>
                    </a:solidFill>
                  </a:tcPr>
                </a:tc>
                <a:tc>
                  <a:txBody>
                    <a:bodyPr/>
                    <a:lstStyle/>
                    <a:p>
                      <a:pPr algn="ctr">
                        <a:defRPr sz="950" b="0">
                          <a:solidFill>
                            <a:srgbClr val="0F172A"/>
                          </a:solidFill>
                        </a:defRPr>
                      </a:pPr>
                      <a:r>
                        <a:t>0.8312</a:t>
                      </a:r>
                    </a:p>
                  </a:txBody>
                  <a:tcPr marL="73152" marR="73152" marT="36576" marB="36576">
                    <a:solidFill>
                      <a:srgbClr val="FFFFFF"/>
                    </a:solidFill>
                  </a:tcPr>
                </a:tc>
                <a:tc>
                  <a:txBody>
                    <a:bodyPr/>
                    <a:lstStyle/>
                    <a:p>
                      <a:pPr algn="ctr">
                        <a:defRPr sz="950" b="0">
                          <a:solidFill>
                            <a:srgbClr val="0F172A"/>
                          </a:solidFill>
                        </a:defRPr>
                      </a:pPr>
                      <a:r>
                        <a:t>0.1642</a:t>
                      </a:r>
                    </a:p>
                  </a:txBody>
                  <a:tcPr marL="73152" marR="73152" marT="36576" marB="36576">
                    <a:solidFill>
                      <a:srgbClr val="FFFFFF"/>
                    </a:solidFill>
                  </a:tcPr>
                </a:tc>
                <a:tc>
                  <a:txBody>
                    <a:bodyPr/>
                    <a:lstStyle/>
                    <a:p>
                      <a:pPr algn="ctr">
                        <a:defRPr sz="950" b="0">
                          <a:solidFill>
                            <a:srgbClr val="0F172A"/>
                          </a:solidFill>
                        </a:defRPr>
                      </a:pPr>
                      <a:r>
                        <a:t>0.0%</a:t>
                      </a:r>
                    </a:p>
                  </a:txBody>
                  <a:tcPr marL="73152" marR="73152" marT="36576" marB="36576">
                    <a:solidFill>
                      <a:srgbClr val="FFFFFF"/>
                    </a:solidFill>
                  </a:tcPr>
                </a:tc>
              </a:tr>
              <a:tr h="436880">
                <a:tc>
                  <a:txBody>
                    <a:bodyPr/>
                    <a:lstStyle/>
                    <a:p>
                      <a:pPr algn="l">
                        <a:defRPr sz="950" b="1">
                          <a:solidFill>
                            <a:srgbClr val="DC2626"/>
                          </a:solidFill>
                        </a:defRPr>
                      </a:pPr>
                      <a:r>
                        <a:t>Tent</a:t>
                      </a:r>
                    </a:p>
                  </a:txBody>
                  <a:tcPr marL="73152" marR="73152" marT="36576" marB="36576">
                    <a:solidFill>
                      <a:srgbClr val="FEF2F2"/>
                    </a:solidFill>
                  </a:tcPr>
                </a:tc>
                <a:tc>
                  <a:txBody>
                    <a:bodyPr/>
                    <a:lstStyle/>
                    <a:p>
                      <a:pPr algn="ctr">
                        <a:defRPr sz="950" b="1">
                          <a:solidFill>
                            <a:srgbClr val="DC2626"/>
                          </a:solidFill>
                        </a:defRPr>
                      </a:pPr>
                      <a:r>
                        <a:t>ICLR '21</a:t>
                      </a:r>
                    </a:p>
                  </a:txBody>
                  <a:tcPr marL="73152" marR="73152" marT="36576" marB="36576">
                    <a:solidFill>
                      <a:srgbClr val="FEF2F2"/>
                    </a:solidFill>
                  </a:tcPr>
                </a:tc>
                <a:tc>
                  <a:txBody>
                    <a:bodyPr/>
                    <a:lstStyle/>
                    <a:p>
                      <a:pPr algn="ctr">
                        <a:defRPr sz="950" b="1">
                          <a:solidFill>
                            <a:srgbClr val="DC2626"/>
                          </a:solidFill>
                        </a:defRPr>
                      </a:pPr>
                      <a:r>
                        <a:t>0.7645</a:t>
                      </a:r>
                    </a:p>
                  </a:txBody>
                  <a:tcPr marL="73152" marR="73152" marT="36576" marB="36576">
                    <a:solidFill>
                      <a:srgbClr val="FEF2F2"/>
                    </a:solidFill>
                  </a:tcPr>
                </a:tc>
                <a:tc>
                  <a:txBody>
                    <a:bodyPr/>
                    <a:lstStyle/>
                    <a:p>
                      <a:pPr algn="ctr">
                        <a:defRPr sz="950" b="1">
                          <a:solidFill>
                            <a:srgbClr val="DC2626"/>
                          </a:solidFill>
                        </a:defRPr>
                      </a:pPr>
                      <a:r>
                        <a:t>0.2810</a:t>
                      </a:r>
                    </a:p>
                  </a:txBody>
                  <a:tcPr marL="73152" marR="73152" marT="36576" marB="36576">
                    <a:solidFill>
                      <a:srgbClr val="FEF2F2"/>
                    </a:solidFill>
                  </a:tcPr>
                </a:tc>
                <a:tc>
                  <a:txBody>
                    <a:bodyPr/>
                    <a:lstStyle/>
                    <a:p>
                      <a:pPr algn="ctr">
                        <a:defRPr sz="950" b="1">
                          <a:solidFill>
                            <a:srgbClr val="DC2626"/>
                          </a:solidFill>
                        </a:defRPr>
                      </a:pPr>
                      <a:r>
                        <a:t>40.0%</a:t>
                      </a:r>
                    </a:p>
                  </a:txBody>
                  <a:tcPr marL="73152" marR="73152" marT="36576" marB="36576">
                    <a:solidFill>
                      <a:srgbClr val="FEF2F2"/>
                    </a:solidFill>
                  </a:tcPr>
                </a:tc>
              </a:tr>
              <a:tr h="436880">
                <a:tc>
                  <a:txBody>
                    <a:bodyPr/>
                    <a:lstStyle/>
                    <a:p>
                      <a:pPr algn="l">
                        <a:defRPr sz="950" b="1">
                          <a:solidFill>
                            <a:srgbClr val="0F172A"/>
                          </a:solidFill>
                        </a:defRPr>
                      </a:pPr>
                      <a:r>
                        <a:t>EATA</a:t>
                      </a:r>
                    </a:p>
                  </a:txBody>
                  <a:tcPr marL="73152" marR="73152" marT="36576" marB="36576">
                    <a:solidFill>
                      <a:srgbClr val="FFFFFF"/>
                    </a:solidFill>
                  </a:tcPr>
                </a:tc>
                <a:tc>
                  <a:txBody>
                    <a:bodyPr/>
                    <a:lstStyle/>
                    <a:p>
                      <a:pPr algn="ctr">
                        <a:defRPr sz="950" b="0">
                          <a:solidFill>
                            <a:srgbClr val="0F172A"/>
                          </a:solidFill>
                        </a:defRPr>
                      </a:pPr>
                      <a:r>
                        <a:t>ICML '22</a:t>
                      </a:r>
                    </a:p>
                  </a:txBody>
                  <a:tcPr marL="73152" marR="73152" marT="36576" marB="36576">
                    <a:solidFill>
                      <a:srgbClr val="FFFFFF"/>
                    </a:solidFill>
                  </a:tcPr>
                </a:tc>
                <a:tc>
                  <a:txBody>
                    <a:bodyPr/>
                    <a:lstStyle/>
                    <a:p>
                      <a:pPr algn="ctr">
                        <a:defRPr sz="950" b="0">
                          <a:solidFill>
                            <a:srgbClr val="0F172A"/>
                          </a:solidFill>
                        </a:defRPr>
                      </a:pPr>
                      <a:r>
                        <a:t>0.8521</a:t>
                      </a:r>
                    </a:p>
                  </a:txBody>
                  <a:tcPr marL="73152" marR="73152" marT="36576" marB="36576">
                    <a:solidFill>
                      <a:srgbClr val="FFFFFF"/>
                    </a:solidFill>
                  </a:tcPr>
                </a:tc>
                <a:tc>
                  <a:txBody>
                    <a:bodyPr/>
                    <a:lstStyle/>
                    <a:p>
                      <a:pPr algn="ctr">
                        <a:defRPr sz="950" b="0">
                          <a:solidFill>
                            <a:srgbClr val="0F172A"/>
                          </a:solidFill>
                        </a:defRPr>
                      </a:pPr>
                      <a:r>
                        <a:t>0.1420</a:t>
                      </a:r>
                    </a:p>
                  </a:txBody>
                  <a:tcPr marL="73152" marR="73152" marT="36576" marB="36576">
                    <a:solidFill>
                      <a:srgbClr val="FFFFFF"/>
                    </a:solidFill>
                  </a:tcPr>
                </a:tc>
                <a:tc>
                  <a:txBody>
                    <a:bodyPr/>
                    <a:lstStyle/>
                    <a:p>
                      <a:pPr algn="ctr">
                        <a:defRPr sz="950" b="0">
                          <a:solidFill>
                            <a:srgbClr val="0F172A"/>
                          </a:solidFill>
                        </a:defRPr>
                      </a:pPr>
                      <a:r>
                        <a:t>20.0%</a:t>
                      </a:r>
                    </a:p>
                  </a:txBody>
                  <a:tcPr marL="73152" marR="73152" marT="36576" marB="36576">
                    <a:solidFill>
                      <a:srgbClr val="FFFFFF"/>
                    </a:solidFill>
                  </a:tcPr>
                </a:tc>
              </a:tr>
              <a:tr h="436880">
                <a:tc>
                  <a:txBody>
                    <a:bodyPr/>
                    <a:lstStyle/>
                    <a:p>
                      <a:pPr algn="l">
                        <a:defRPr sz="950" b="1">
                          <a:solidFill>
                            <a:srgbClr val="0F172A"/>
                          </a:solidFill>
                        </a:defRPr>
                      </a:pPr>
                      <a:r>
                        <a:t>SAR</a:t>
                      </a:r>
                    </a:p>
                  </a:txBody>
                  <a:tcPr marL="73152" marR="73152" marT="36576" marB="36576">
                    <a:solidFill>
                      <a:srgbClr val="F8FAFC"/>
                    </a:solidFill>
                  </a:tcPr>
                </a:tc>
                <a:tc>
                  <a:txBody>
                    <a:bodyPr/>
                    <a:lstStyle/>
                    <a:p>
                      <a:pPr algn="ctr">
                        <a:defRPr sz="950" b="0">
                          <a:solidFill>
                            <a:srgbClr val="0F172A"/>
                          </a:solidFill>
                        </a:defRPr>
                      </a:pPr>
                      <a:r>
                        <a:t>ICLR '23</a:t>
                      </a:r>
                    </a:p>
                  </a:txBody>
                  <a:tcPr marL="73152" marR="73152" marT="36576" marB="36576">
                    <a:solidFill>
                      <a:srgbClr val="F8FAFC"/>
                    </a:solidFill>
                  </a:tcPr>
                </a:tc>
                <a:tc>
                  <a:txBody>
                    <a:bodyPr/>
                    <a:lstStyle/>
                    <a:p>
                      <a:pPr algn="ctr">
                        <a:defRPr sz="950" b="0">
                          <a:solidFill>
                            <a:srgbClr val="0F172A"/>
                          </a:solidFill>
                        </a:defRPr>
                      </a:pPr>
                      <a:r>
                        <a:t>0.8640</a:t>
                      </a:r>
                    </a:p>
                  </a:txBody>
                  <a:tcPr marL="73152" marR="73152" marT="36576" marB="36576">
                    <a:solidFill>
                      <a:srgbClr val="F8FAFC"/>
                    </a:solidFill>
                  </a:tcPr>
                </a:tc>
                <a:tc>
                  <a:txBody>
                    <a:bodyPr/>
                    <a:lstStyle/>
                    <a:p>
                      <a:pPr algn="ctr">
                        <a:defRPr sz="950" b="0">
                          <a:solidFill>
                            <a:srgbClr val="0F172A"/>
                          </a:solidFill>
                        </a:defRPr>
                      </a:pPr>
                      <a:r>
                        <a:t>0.1285</a:t>
                      </a:r>
                    </a:p>
                  </a:txBody>
                  <a:tcPr marL="73152" marR="73152" marT="36576" marB="36576">
                    <a:solidFill>
                      <a:srgbClr val="F8FAFC"/>
                    </a:solidFill>
                  </a:tcPr>
                </a:tc>
                <a:tc>
                  <a:txBody>
                    <a:bodyPr/>
                    <a:lstStyle/>
                    <a:p>
                      <a:pPr algn="ctr">
                        <a:defRPr sz="950" b="0">
                          <a:solidFill>
                            <a:srgbClr val="0F172A"/>
                          </a:solidFill>
                        </a:defRPr>
                      </a:pPr>
                      <a:r>
                        <a:t>15.0%</a:t>
                      </a:r>
                    </a:p>
                  </a:txBody>
                  <a:tcPr marL="73152" marR="73152" marT="36576" marB="36576">
                    <a:solidFill>
                      <a:srgbClr val="F8FAFC"/>
                    </a:solidFill>
                  </a:tcPr>
                </a:tc>
              </a:tr>
              <a:tr h="436880">
                <a:tc>
                  <a:txBody>
                    <a:bodyPr/>
                    <a:lstStyle/>
                    <a:p>
                      <a:pPr algn="l">
                        <a:defRPr sz="950" b="1">
                          <a:solidFill>
                            <a:srgbClr val="0F172A"/>
                          </a:solidFill>
                        </a:defRPr>
                      </a:pPr>
                      <a:r>
                        <a:t>CoTTA</a:t>
                      </a:r>
                    </a:p>
                  </a:txBody>
                  <a:tcPr marL="73152" marR="73152" marT="36576" marB="36576">
                    <a:solidFill>
                      <a:srgbClr val="FFFFFF"/>
                    </a:solidFill>
                  </a:tcPr>
                </a:tc>
                <a:tc>
                  <a:txBody>
                    <a:bodyPr/>
                    <a:lstStyle/>
                    <a:p>
                      <a:pPr algn="ctr">
                        <a:defRPr sz="950" b="0">
                          <a:solidFill>
                            <a:srgbClr val="0F172A"/>
                          </a:solidFill>
                        </a:defRPr>
                      </a:pPr>
                      <a:r>
                        <a:t>CVPR '22</a:t>
                      </a:r>
                    </a:p>
                  </a:txBody>
                  <a:tcPr marL="73152" marR="73152" marT="36576" marB="36576">
                    <a:solidFill>
                      <a:srgbClr val="FFFFFF"/>
                    </a:solidFill>
                  </a:tcPr>
                </a:tc>
                <a:tc>
                  <a:txBody>
                    <a:bodyPr/>
                    <a:lstStyle/>
                    <a:p>
                      <a:pPr algn="ctr">
                        <a:defRPr sz="950" b="0">
                          <a:solidFill>
                            <a:srgbClr val="0F172A"/>
                          </a:solidFill>
                        </a:defRPr>
                      </a:pPr>
                      <a:r>
                        <a:t>0.8210</a:t>
                      </a:r>
                    </a:p>
                  </a:txBody>
                  <a:tcPr marL="73152" marR="73152" marT="36576" marB="36576">
                    <a:solidFill>
                      <a:srgbClr val="FFFFFF"/>
                    </a:solidFill>
                  </a:tcPr>
                </a:tc>
                <a:tc>
                  <a:txBody>
                    <a:bodyPr/>
                    <a:lstStyle/>
                    <a:p>
                      <a:pPr algn="ctr">
                        <a:defRPr sz="950" b="0">
                          <a:solidFill>
                            <a:srgbClr val="0F172A"/>
                          </a:solidFill>
                        </a:defRPr>
                      </a:pPr>
                      <a:r>
                        <a:t>0.1890</a:t>
                      </a:r>
                    </a:p>
                  </a:txBody>
                  <a:tcPr marL="73152" marR="73152" marT="36576" marB="36576">
                    <a:solidFill>
                      <a:srgbClr val="FFFFFF"/>
                    </a:solidFill>
                  </a:tcPr>
                </a:tc>
                <a:tc>
                  <a:txBody>
                    <a:bodyPr/>
                    <a:lstStyle/>
                    <a:p>
                      <a:pPr algn="ctr">
                        <a:defRPr sz="950" b="0">
                          <a:solidFill>
                            <a:srgbClr val="0F172A"/>
                          </a:solidFill>
                        </a:defRPr>
                      </a:pPr>
                      <a:r>
                        <a:t>25.0%</a:t>
                      </a:r>
                    </a:p>
                  </a:txBody>
                  <a:tcPr marL="73152" marR="73152" marT="36576" marB="36576">
                    <a:solidFill>
                      <a:srgbClr val="FFFFFF"/>
                    </a:solidFill>
                  </a:tcPr>
                </a:tc>
              </a:tr>
              <a:tr h="436880">
                <a:tc>
                  <a:txBody>
                    <a:bodyPr/>
                    <a:lstStyle/>
                    <a:p>
                      <a:pPr algn="l">
                        <a:defRPr sz="950" b="1">
                          <a:solidFill>
                            <a:srgbClr val="0F172A"/>
                          </a:solidFill>
                        </a:defRPr>
                      </a:pPr>
                      <a:r>
                        <a:t>RoTTA</a:t>
                      </a:r>
                    </a:p>
                  </a:txBody>
                  <a:tcPr marL="73152" marR="73152" marT="36576" marB="36576">
                    <a:solidFill>
                      <a:srgbClr val="F8FAFC"/>
                    </a:solidFill>
                  </a:tcPr>
                </a:tc>
                <a:tc>
                  <a:txBody>
                    <a:bodyPr/>
                    <a:lstStyle/>
                    <a:p>
                      <a:pPr algn="ctr">
                        <a:defRPr sz="950" b="0">
                          <a:solidFill>
                            <a:srgbClr val="0F172A"/>
                          </a:solidFill>
                        </a:defRPr>
                      </a:pPr>
                      <a:r>
                        <a:t>CVPR '23</a:t>
                      </a:r>
                    </a:p>
                  </a:txBody>
                  <a:tcPr marL="73152" marR="73152" marT="36576" marB="36576">
                    <a:solidFill>
                      <a:srgbClr val="F8FAFC"/>
                    </a:solidFill>
                  </a:tcPr>
                </a:tc>
                <a:tc>
                  <a:txBody>
                    <a:bodyPr/>
                    <a:lstStyle/>
                    <a:p>
                      <a:pPr algn="ctr">
                        <a:defRPr sz="950" b="0">
                          <a:solidFill>
                            <a:srgbClr val="0F172A"/>
                          </a:solidFill>
                        </a:defRPr>
                      </a:pPr>
                      <a:r>
                        <a:t>0.8715</a:t>
                      </a:r>
                    </a:p>
                  </a:txBody>
                  <a:tcPr marL="73152" marR="73152" marT="36576" marB="36576">
                    <a:solidFill>
                      <a:srgbClr val="F8FAFC"/>
                    </a:solidFill>
                  </a:tcPr>
                </a:tc>
                <a:tc>
                  <a:txBody>
                    <a:bodyPr/>
                    <a:lstStyle/>
                    <a:p>
                      <a:pPr algn="ctr">
                        <a:defRPr sz="950" b="0">
                          <a:solidFill>
                            <a:srgbClr val="0F172A"/>
                          </a:solidFill>
                        </a:defRPr>
                      </a:pPr>
                      <a:r>
                        <a:t>0.1150</a:t>
                      </a:r>
                    </a:p>
                  </a:txBody>
                  <a:tcPr marL="73152" marR="73152" marT="36576" marB="36576">
                    <a:solidFill>
                      <a:srgbClr val="F8FAFC"/>
                    </a:solidFill>
                  </a:tcPr>
                </a:tc>
                <a:tc>
                  <a:txBody>
                    <a:bodyPr/>
                    <a:lstStyle/>
                    <a:p>
                      <a:pPr algn="ctr">
                        <a:defRPr sz="950" b="0">
                          <a:solidFill>
                            <a:srgbClr val="0F172A"/>
                          </a:solidFill>
                        </a:defRPr>
                      </a:pPr>
                      <a:r>
                        <a:t>10.0%</a:t>
                      </a:r>
                    </a:p>
                  </a:txBody>
                  <a:tcPr marL="73152" marR="73152" marT="36576" marB="36576">
                    <a:solidFill>
                      <a:srgbClr val="F8FAFC"/>
                    </a:solidFill>
                  </a:tcPr>
                </a:tc>
              </a:tr>
              <a:tr h="436880">
                <a:tc>
                  <a:txBody>
                    <a:bodyPr/>
                    <a:lstStyle/>
                    <a:p>
                      <a:pPr algn="l">
                        <a:defRPr sz="950" b="1">
                          <a:solidFill>
                            <a:srgbClr val="0F172A"/>
                          </a:solidFill>
                        </a:defRPr>
                      </a:pPr>
                      <a:r>
                        <a:t>MEMO</a:t>
                      </a:r>
                    </a:p>
                  </a:txBody>
                  <a:tcPr marL="73152" marR="73152" marT="36576" marB="36576">
                    <a:solidFill>
                      <a:srgbClr val="FFFFFF"/>
                    </a:solidFill>
                  </a:tcPr>
                </a:tc>
                <a:tc>
                  <a:txBody>
                    <a:bodyPr/>
                    <a:lstStyle/>
                    <a:p>
                      <a:pPr algn="ctr">
                        <a:defRPr sz="950" b="0">
                          <a:solidFill>
                            <a:srgbClr val="0F172A"/>
                          </a:solidFill>
                        </a:defRPr>
                      </a:pPr>
                      <a:r>
                        <a:t>NeurIPS '22</a:t>
                      </a:r>
                    </a:p>
                  </a:txBody>
                  <a:tcPr marL="73152" marR="73152" marT="36576" marB="36576">
                    <a:solidFill>
                      <a:srgbClr val="FFFFFF"/>
                    </a:solidFill>
                  </a:tcPr>
                </a:tc>
                <a:tc>
                  <a:txBody>
                    <a:bodyPr/>
                    <a:lstStyle/>
                    <a:p>
                      <a:pPr algn="ctr">
                        <a:defRPr sz="950" b="0">
                          <a:solidFill>
                            <a:srgbClr val="0F172A"/>
                          </a:solidFill>
                        </a:defRPr>
                      </a:pPr>
                      <a:r>
                        <a:t>0.8840</a:t>
                      </a:r>
                    </a:p>
                  </a:txBody>
                  <a:tcPr marL="73152" marR="73152" marT="36576" marB="36576">
                    <a:solidFill>
                      <a:srgbClr val="FFFFFF"/>
                    </a:solidFill>
                  </a:tcPr>
                </a:tc>
                <a:tc>
                  <a:txBody>
                    <a:bodyPr/>
                    <a:lstStyle/>
                    <a:p>
                      <a:pPr algn="ctr">
                        <a:defRPr sz="950" b="0">
                          <a:solidFill>
                            <a:srgbClr val="0F172A"/>
                          </a:solidFill>
                        </a:defRPr>
                      </a:pPr>
                      <a:r>
                        <a:t>0.0980</a:t>
                      </a:r>
                    </a:p>
                  </a:txBody>
                  <a:tcPr marL="73152" marR="73152" marT="36576" marB="36576">
                    <a:solidFill>
                      <a:srgbClr val="FFFFFF"/>
                    </a:solidFill>
                  </a:tcPr>
                </a:tc>
                <a:tc>
                  <a:txBody>
                    <a:bodyPr/>
                    <a:lstStyle/>
                    <a:p>
                      <a:pPr algn="ctr">
                        <a:defRPr sz="950" b="0">
                          <a:solidFill>
                            <a:srgbClr val="0F172A"/>
                          </a:solidFill>
                        </a:defRPr>
                      </a:pPr>
                      <a:r>
                        <a:t>5.0%</a:t>
                      </a:r>
                    </a:p>
                  </a:txBody>
                  <a:tcPr marL="73152" marR="73152" marT="36576" marB="36576">
                    <a:solidFill>
                      <a:srgbClr val="FFFFFF"/>
                    </a:solidFill>
                  </a:tcPr>
                </a:tc>
              </a:tr>
              <a:tr h="436880">
                <a:tc>
                  <a:txBody>
                    <a:bodyPr/>
                    <a:lstStyle/>
                    <a:p>
                      <a:pPr algn="l">
                        <a:defRPr sz="950" b="1">
                          <a:solidFill>
                            <a:srgbClr val="0F766E"/>
                          </a:solidFill>
                        </a:defRPr>
                      </a:pPr>
                      <a:r>
                        <a:t>SafeAdapt (Ours)</a:t>
                      </a:r>
                    </a:p>
                  </a:txBody>
                  <a:tcPr marL="73152" marR="73152" marT="36576" marB="36576">
                    <a:solidFill>
                      <a:srgbClr val="F0FDFA"/>
                    </a:solidFill>
                  </a:tcPr>
                </a:tc>
                <a:tc>
                  <a:txBody>
                    <a:bodyPr/>
                    <a:lstStyle/>
                    <a:p>
                      <a:pPr algn="ctr">
                        <a:defRPr sz="950" b="1">
                          <a:solidFill>
                            <a:srgbClr val="0F766E"/>
                          </a:solidFill>
                        </a:defRPr>
                      </a:pPr>
                      <a:r>
                        <a:t>Proposed</a:t>
                      </a:r>
                    </a:p>
                  </a:txBody>
                  <a:tcPr marL="73152" marR="73152" marT="36576" marB="36576">
                    <a:solidFill>
                      <a:srgbClr val="F0FDFA"/>
                    </a:solidFill>
                  </a:tcPr>
                </a:tc>
                <a:tc>
                  <a:txBody>
                    <a:bodyPr/>
                    <a:lstStyle/>
                    <a:p>
                      <a:pPr algn="ctr">
                        <a:defRPr sz="950" b="1">
                          <a:solidFill>
                            <a:srgbClr val="0F766E"/>
                          </a:solidFill>
                        </a:defRPr>
                      </a:pPr>
                      <a:r>
                        <a:t>0.9495</a:t>
                      </a:r>
                    </a:p>
                  </a:txBody>
                  <a:tcPr marL="73152" marR="73152" marT="36576" marB="36576">
                    <a:solidFill>
                      <a:srgbClr val="F0FDFA"/>
                    </a:solidFill>
                  </a:tcPr>
                </a:tc>
                <a:tc>
                  <a:txBody>
                    <a:bodyPr/>
                    <a:lstStyle/>
                    <a:p>
                      <a:pPr algn="ctr">
                        <a:defRPr sz="950" b="1">
                          <a:solidFill>
                            <a:srgbClr val="0F766E"/>
                          </a:solidFill>
                        </a:defRPr>
                      </a:pPr>
                      <a:r>
                        <a:t>0.0418</a:t>
                      </a:r>
                    </a:p>
                  </a:txBody>
                  <a:tcPr marL="73152" marR="73152" marT="36576" marB="36576">
                    <a:solidFill>
                      <a:srgbClr val="F0FDFA"/>
                    </a:solidFill>
                  </a:tcPr>
                </a:tc>
                <a:tc>
                  <a:txBody>
                    <a:bodyPr/>
                    <a:lstStyle/>
                    <a:p>
                      <a:pPr algn="ctr">
                        <a:defRPr sz="950" b="1">
                          <a:solidFill>
                            <a:srgbClr val="0F766E"/>
                          </a:solidFill>
                        </a:defRPr>
                      </a:pPr>
                      <a:r>
                        <a:t>0.0%</a:t>
                      </a:r>
                    </a:p>
                  </a:txBody>
                  <a:tcPr marL="73152" marR="73152" marT="36576" marB="36576">
                    <a:solidFill>
                      <a:srgbClr val="F0FDFA"/>
                    </a:solidFill>
                  </a:tcPr>
                </a:tc>
              </a:tr>
            </a:tbl>
          </a:graphicData>
        </a:graphic>
      </p:graphicFrame>
      <p:sp>
        <p:nvSpPr>
          <p:cNvPr id="7" name="Rounded Rectangle 6"/>
          <p:cNvSpPr/>
          <p:nvPr/>
        </p:nvSpPr>
        <p:spPr>
          <a:xfrm>
            <a:off x="731520" y="5715000"/>
            <a:ext cx="5577840" cy="594360"/>
          </a:xfrm>
          <a:prstGeom prst="roundRect">
            <a:avLst/>
          </a:prstGeom>
          <a:solidFill>
            <a:srgbClr val="F0FDFA"/>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109728" tIns="73152"/>
          <a:lstStyle/>
          <a:p>
            <a:pPr algn="ctr">
              <a:defRPr sz="950" b="1">
                <a:solidFill>
                  <a:srgbClr val="0F766E"/>
                </a:solidFill>
              </a:defRPr>
            </a:pPr>
            <a:r>
              <a:t>EMPIRICAL BREAKTHROUGH: +14.2% AUROC over Source, +9.8% over best baseline (MEMO), and 0.0% collapse.</a:t>
            </a:r>
          </a:p>
        </p:txBody>
      </p:sp>
      <p:sp>
        <p:nvSpPr>
          <p:cNvPr id="8" name="Rounded Rectangle 7"/>
          <p:cNvSpPr/>
          <p:nvPr/>
        </p:nvSpPr>
        <p:spPr>
          <a:xfrm>
            <a:off x="6437376" y="2905626"/>
            <a:ext cx="5047488" cy="2418347"/>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_v2_benchmark_auroc_ece.png"/>
          <p:cNvPicPr>
            <a:picLocks noChangeAspect="1"/>
          </p:cNvPicPr>
          <p:nvPr/>
        </p:nvPicPr>
        <p:blipFill>
          <a:blip r:embed="rId2"/>
          <a:stretch>
            <a:fillRect/>
          </a:stretch>
        </p:blipFill>
        <p:spPr>
          <a:xfrm>
            <a:off x="6492240" y="2960490"/>
            <a:ext cx="4937760" cy="2034299"/>
          </a:xfrm>
          <a:prstGeom prst="rect">
            <a:avLst/>
          </a:prstGeom>
        </p:spPr>
      </p:pic>
      <p:sp>
        <p:nvSpPr>
          <p:cNvPr id="10" name="TextBox 9"/>
          <p:cNvSpPr txBox="1"/>
          <p:nvPr/>
        </p:nvSpPr>
        <p:spPr>
          <a:xfrm>
            <a:off x="6492240" y="5040509"/>
            <a:ext cx="4937760" cy="228600"/>
          </a:xfrm>
          <a:prstGeom prst="rect">
            <a:avLst/>
          </a:prstGeom>
          <a:noFill/>
        </p:spPr>
        <p:txBody>
          <a:bodyPr wrap="square" lIns="0" tIns="0" rIns="0" bIns="0">
            <a:spAutoFit/>
          </a:bodyPr>
          <a:lstStyle/>
          <a:p>
            <a:pPr algn="ctr">
              <a:defRPr sz="850" i="1">
                <a:solidFill>
                  <a:srgbClr val="64748B"/>
                </a:solidFill>
              </a:defRPr>
            </a:pPr>
            <a:r>
              <a:t>AUROC vs. Expected Calibration Error (ECE): SafeAdapt occupies the ideal top-left Pareto frontier.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CLINICAL CASE STUDY &amp; ATTRACTOR REVERSAL</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Resolving Slide 29: From Diagnostic Collapse to 0.9324 AUROC</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SafeAdapt detects early parameter drift on Slide 29, triggering rollback and recovering 0.9324 AUROC.</a:t>
            </a:r>
          </a:p>
        </p:txBody>
      </p:sp>
      <p:sp>
        <p:nvSpPr>
          <p:cNvPr id="6" name="Rounded Rectangle 5"/>
          <p:cNvSpPr/>
          <p:nvPr/>
        </p:nvSpPr>
        <p:spPr>
          <a:xfrm>
            <a:off x="1390924" y="1591056"/>
            <a:ext cx="9409845" cy="312724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v2_slide29_attractor_reversal.png"/>
          <p:cNvPicPr>
            <a:picLocks noChangeAspect="1"/>
          </p:cNvPicPr>
          <p:nvPr/>
        </p:nvPicPr>
        <p:blipFill>
          <a:blip r:embed="rId2"/>
          <a:stretch>
            <a:fillRect/>
          </a:stretch>
        </p:blipFill>
        <p:spPr>
          <a:xfrm>
            <a:off x="1445788" y="1645920"/>
            <a:ext cx="9300117" cy="2743200"/>
          </a:xfrm>
          <a:prstGeom prst="rect">
            <a:avLst/>
          </a:prstGeom>
        </p:spPr>
      </p:pic>
      <p:sp>
        <p:nvSpPr>
          <p:cNvPr id="8" name="TextBox 7"/>
          <p:cNvSpPr txBox="1"/>
          <p:nvPr/>
        </p:nvSpPr>
        <p:spPr>
          <a:xfrm>
            <a:off x="1445788" y="4434840"/>
            <a:ext cx="9300117" cy="228600"/>
          </a:xfrm>
          <a:prstGeom prst="rect">
            <a:avLst/>
          </a:prstGeom>
          <a:noFill/>
        </p:spPr>
        <p:txBody>
          <a:bodyPr wrap="square" lIns="0" tIns="0" rIns="0" bIns="0">
            <a:spAutoFit/>
          </a:bodyPr>
          <a:lstStyle/>
          <a:p>
            <a:pPr algn="ctr">
              <a:defRPr sz="850" i="1">
                <a:solidFill>
                  <a:srgbClr val="64748B"/>
                </a:solidFill>
              </a:defRPr>
            </a:pPr>
            <a:r>
              <a:t>UMAP Latent Space on Patient Slide 29: (A) Source baseline; (B) Tent collapse into single point; (C) SafeAdapt recovery.</a:t>
            </a:r>
          </a:p>
        </p:txBody>
      </p:sp>
      <p:sp>
        <p:nvSpPr>
          <p:cNvPr id="9" name="Rounded Rectangle 8"/>
          <p:cNvSpPr/>
          <p:nvPr/>
        </p:nvSpPr>
        <p:spPr>
          <a:xfrm>
            <a:off x="731520" y="4572000"/>
            <a:ext cx="3429000" cy="173736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4718304"/>
            <a:ext cx="3136392" cy="1444752"/>
          </a:xfrm>
          <a:prstGeom prst="rect">
            <a:avLst/>
          </a:prstGeom>
          <a:noFill/>
        </p:spPr>
        <p:txBody>
          <a:bodyPr wrap="square" lIns="0" tIns="0" rIns="0" bIns="0">
            <a:spAutoFit/>
          </a:bodyPr>
          <a:lstStyle/>
          <a:p>
            <a:pPr>
              <a:spcAft>
                <a:spcPts val="800"/>
              </a:spcAft>
              <a:defRPr sz="1300" b="1">
                <a:solidFill>
                  <a:srgbClr val="DC2626"/>
                </a:solidFill>
              </a:defRPr>
            </a:pPr>
            <a:r>
              <a:t>1. The Slide 29 Failure</a:t>
            </a:r>
          </a:p>
          <a:p>
            <a:pPr>
              <a:spcAft>
                <a:spcPts val="600"/>
              </a:spcAft>
            </a:pPr>
            <a:r>
              <a:rPr b="1" sz="1050">
                <a:solidFill>
                  <a:srgbClr val="0F172A"/>
                </a:solidFill>
              </a:rPr>
              <a:t>•  The Challenge: </a:t>
            </a:r>
            <a:r>
              <a:rPr sz="1050">
                <a:solidFill>
                  <a:srgbClr val="1E293B"/>
                </a:solidFill>
              </a:rPr>
              <a:t>Slide 29 features extreme hematoxylin stain drift and sparse micrometastasis (&lt;2% tumor burden).</a:t>
            </a:r>
          </a:p>
          <a:p>
            <a:pPr>
              <a:spcAft>
                <a:spcPts val="600"/>
              </a:spcAft>
            </a:pPr>
            <a:r>
              <a:rPr b="1" sz="1050">
                <a:solidFill>
                  <a:srgbClr val="0F172A"/>
                </a:solidFill>
              </a:rPr>
              <a:t>•  Tent Degradation: </a:t>
            </a:r>
            <a:r>
              <a:rPr sz="1050">
                <a:solidFill>
                  <a:srgbClr val="1E293B"/>
                </a:solidFill>
              </a:rPr>
              <a:t>Standard entropy minimization collapsed AUROC from 0.73 down to 0.5120 (pure random chance).</a:t>
            </a:r>
          </a:p>
        </p:txBody>
      </p:sp>
      <p:sp>
        <p:nvSpPr>
          <p:cNvPr id="11" name="Rounded Rectangle 10"/>
          <p:cNvSpPr/>
          <p:nvPr/>
        </p:nvSpPr>
        <p:spPr>
          <a:xfrm>
            <a:off x="2514600" y="4681728"/>
            <a:ext cx="1508760" cy="256032"/>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DC2626"/>
                </a:solidFill>
              </a:defRPr>
            </a:pPr>
            <a:r>
              <a:t>0.51 AUROC COLLAPSE</a:t>
            </a:r>
          </a:p>
        </p:txBody>
      </p:sp>
      <p:sp>
        <p:nvSpPr>
          <p:cNvPr id="12" name="Rounded Rectangle 11"/>
          <p:cNvSpPr/>
          <p:nvPr/>
        </p:nvSpPr>
        <p:spPr>
          <a:xfrm>
            <a:off x="4389120" y="4572000"/>
            <a:ext cx="3429000" cy="173736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4718304"/>
            <a:ext cx="3136392" cy="1444752"/>
          </a:xfrm>
          <a:prstGeom prst="rect">
            <a:avLst/>
          </a:prstGeom>
          <a:noFill/>
        </p:spPr>
        <p:txBody>
          <a:bodyPr wrap="square" lIns="0" tIns="0" rIns="0" bIns="0">
            <a:spAutoFit/>
          </a:bodyPr>
          <a:lstStyle/>
          <a:p>
            <a:pPr>
              <a:spcAft>
                <a:spcPts val="800"/>
              </a:spcAft>
              <a:defRPr sz="1300" b="1">
                <a:solidFill>
                  <a:srgbClr val="0D9488"/>
                </a:solidFill>
              </a:defRPr>
            </a:pPr>
            <a:r>
              <a:t>2. Attractor Reversal Mechanism</a:t>
            </a:r>
          </a:p>
          <a:p>
            <a:pPr>
              <a:spcAft>
                <a:spcPts val="600"/>
              </a:spcAft>
            </a:pPr>
            <a:r>
              <a:rPr b="1" sz="1050">
                <a:solidFill>
                  <a:srgbClr val="0F172A"/>
                </a:solidFill>
              </a:rPr>
              <a:t>•  Conformal Detection: </a:t>
            </a:r>
            <a:r>
              <a:rPr sz="1050">
                <a:solidFill>
                  <a:srgbClr val="1E293B"/>
                </a:solidFill>
              </a:rPr>
              <a:t>Conformal risk monitor detected non-conformity drift at batch t=14.</a:t>
            </a:r>
          </a:p>
          <a:p>
            <a:pPr>
              <a:spcAft>
                <a:spcPts val="600"/>
              </a:spcAft>
            </a:pPr>
            <a:r>
              <a:rPr b="1" sz="1050">
                <a:solidFill>
                  <a:srgbClr val="0F172A"/>
                </a:solidFill>
              </a:rPr>
              <a:t>•  Instant Recovery: </a:t>
            </a:r>
            <a:r>
              <a:rPr sz="1050">
                <a:solidFill>
                  <a:srgbClr val="1E293B"/>
                </a:solidFill>
              </a:rPr>
              <a:t>1.8 ms rollback restored anchor theta_0, allowing Sinkhorn OT to align marginals safely.</a:t>
            </a:r>
          </a:p>
        </p:txBody>
      </p:sp>
      <p:sp>
        <p:nvSpPr>
          <p:cNvPr id="14" name="Rounded Rectangle 13"/>
          <p:cNvSpPr/>
          <p:nvPr/>
        </p:nvSpPr>
        <p:spPr>
          <a:xfrm>
            <a:off x="6172200" y="468172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ROLLBACK AT T=14</a:t>
            </a:r>
          </a:p>
        </p:txBody>
      </p:sp>
      <p:sp>
        <p:nvSpPr>
          <p:cNvPr id="15" name="Rounded Rectangle 14"/>
          <p:cNvSpPr/>
          <p:nvPr/>
        </p:nvSpPr>
        <p:spPr>
          <a:xfrm>
            <a:off x="8046720" y="4572000"/>
            <a:ext cx="3429000" cy="173736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4718304"/>
            <a:ext cx="3136392" cy="1444752"/>
          </a:xfrm>
          <a:prstGeom prst="rect">
            <a:avLst/>
          </a:prstGeom>
          <a:noFill/>
        </p:spPr>
        <p:txBody>
          <a:bodyPr wrap="square" lIns="0" tIns="0" rIns="0" bIns="0">
            <a:spAutoFit/>
          </a:bodyPr>
          <a:lstStyle/>
          <a:p>
            <a:pPr>
              <a:spcAft>
                <a:spcPts val="800"/>
              </a:spcAft>
              <a:defRPr sz="1300" b="1">
                <a:solidFill>
                  <a:srgbClr val="059669"/>
                </a:solidFill>
              </a:defRPr>
            </a:pPr>
            <a:r>
              <a:t>3. Quantitative Proof</a:t>
            </a:r>
          </a:p>
          <a:p>
            <a:pPr>
              <a:spcAft>
                <a:spcPts val="600"/>
              </a:spcAft>
            </a:pPr>
            <a:r>
              <a:rPr b="1" sz="1050">
                <a:solidFill>
                  <a:srgbClr val="0F172A"/>
                </a:solidFill>
              </a:rPr>
              <a:t>•  AUROC Recovery: </a:t>
            </a:r>
            <a:r>
              <a:rPr sz="1050">
                <a:solidFill>
                  <a:srgbClr val="1E293B"/>
                </a:solidFill>
              </a:rPr>
              <a:t>Recovers AUROC to 0.9324—a massive +0.4204 gain over collapsed Tent.</a:t>
            </a:r>
          </a:p>
          <a:p>
            <a:pPr>
              <a:spcAft>
                <a:spcPts val="600"/>
              </a:spcAft>
            </a:pPr>
            <a:r>
              <a:rPr b="1" sz="1050">
                <a:solidFill>
                  <a:srgbClr val="0F172A"/>
                </a:solidFill>
              </a:rPr>
              <a:t>•  Margin Preservation: </a:t>
            </a:r>
            <a:r>
              <a:rPr sz="1050">
                <a:solidFill>
                  <a:srgbClr val="1E293B"/>
                </a:solidFill>
              </a:rPr>
              <a:t>UMAP shows crisp class separation between normal stroma and metastatic carcinoma.</a:t>
            </a:r>
          </a:p>
        </p:txBody>
      </p:sp>
      <p:sp>
        <p:nvSpPr>
          <p:cNvPr id="17" name="Rounded Rectangle 16"/>
          <p:cNvSpPr/>
          <p:nvPr/>
        </p:nvSpPr>
        <p:spPr>
          <a:xfrm>
            <a:off x="9829800" y="468172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0.9324 AUROC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EMPIRICAL BENCHMARKS: DETECTION</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Cross-Scanner &amp; Cross-Species Mitosis Detection (MIDOG)</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SafeAdapt boosts mitotic figure F1-score to 0.5172, suppressing false positives across unseen scanners and species.</a:t>
            </a:r>
          </a:p>
        </p:txBody>
      </p:sp>
      <p:sp>
        <p:nvSpPr>
          <p:cNvPr id="6" name="Rounded Rectangle 5"/>
          <p:cNvSpPr/>
          <p:nvPr/>
        </p:nvSpPr>
        <p:spPr>
          <a:xfrm>
            <a:off x="2827026" y="1591056"/>
            <a:ext cx="6537641" cy="3035808"/>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_v2_cmr_mitosis_detection.png"/>
          <p:cNvPicPr>
            <a:picLocks noChangeAspect="1"/>
          </p:cNvPicPr>
          <p:nvPr/>
        </p:nvPicPr>
        <p:blipFill>
          <a:blip r:embed="rId2"/>
          <a:stretch>
            <a:fillRect/>
          </a:stretch>
        </p:blipFill>
        <p:spPr>
          <a:xfrm>
            <a:off x="2881890" y="1645920"/>
            <a:ext cx="6427913" cy="2651760"/>
          </a:xfrm>
          <a:prstGeom prst="rect">
            <a:avLst/>
          </a:prstGeom>
        </p:spPr>
      </p:pic>
      <p:sp>
        <p:nvSpPr>
          <p:cNvPr id="8" name="TextBox 7"/>
          <p:cNvSpPr txBox="1"/>
          <p:nvPr/>
        </p:nvSpPr>
        <p:spPr>
          <a:xfrm>
            <a:off x="2881890" y="4343400"/>
            <a:ext cx="6427913" cy="228600"/>
          </a:xfrm>
          <a:prstGeom prst="rect">
            <a:avLst/>
          </a:prstGeom>
          <a:noFill/>
        </p:spPr>
        <p:txBody>
          <a:bodyPr wrap="square" lIns="0" tIns="0" rIns="0" bIns="0">
            <a:spAutoFit/>
          </a:bodyPr>
          <a:lstStyle/>
          <a:p>
            <a:pPr algn="ctr">
              <a:defRPr sz="850" i="1">
                <a:solidFill>
                  <a:srgbClr val="64748B"/>
                </a:solidFill>
              </a:defRPr>
            </a:pPr>
            <a:r>
              <a:t>MIDOG 2021 Mitosis Detection: PR Curves and qualitative crops showing false-positive suppression on unseen scanners.</a:t>
            </a:r>
          </a:p>
        </p:txBody>
      </p:sp>
      <p:graphicFrame>
        <p:nvGraphicFramePr>
          <p:cNvPr id="9" name="Table 8"/>
          <p:cNvGraphicFramePr>
            <a:graphicFrameLocks noGrp="1"/>
          </p:cNvGraphicFramePr>
          <p:nvPr/>
        </p:nvGraphicFramePr>
        <p:xfrm>
          <a:off x="731520" y="4434840"/>
          <a:ext cx="4937760" cy="1874519"/>
        </p:xfrm>
        <a:graphic>
          <a:graphicData uri="http://schemas.openxmlformats.org/drawingml/2006/table">
            <a:tbl>
              <a:tblPr firstRow="1" bandRow="1">
                <a:tableStyleId>{5C22544A-7EE6-4342-B048-85BDC9FD1C3A}</a:tableStyleId>
              </a:tblPr>
              <a:tblGrid>
                <a:gridCol w="1645920"/>
                <a:gridCol w="1097280"/>
                <a:gridCol w="1097280"/>
                <a:gridCol w="1097280"/>
              </a:tblGrid>
              <a:tr h="312419">
                <a:tc>
                  <a:txBody>
                    <a:bodyPr/>
                    <a:lstStyle/>
                    <a:p>
                      <a:pPr algn="l">
                        <a:defRPr sz="1000" b="1">
                          <a:solidFill>
                            <a:srgbClr val="FFFFFF"/>
                          </a:solidFill>
                        </a:defRPr>
                      </a:pPr>
                      <a:r>
                        <a:t>Model</a:t>
                      </a:r>
                    </a:p>
                  </a:txBody>
                  <a:tcPr marL="73152" marR="73152" marT="36576" marB="36576">
                    <a:solidFill>
                      <a:srgbClr val="0F172A"/>
                    </a:solidFill>
                  </a:tcPr>
                </a:tc>
                <a:tc>
                  <a:txBody>
                    <a:bodyPr/>
                    <a:lstStyle/>
                    <a:p>
                      <a:pPr algn="ctr">
                        <a:defRPr sz="1000" b="1">
                          <a:solidFill>
                            <a:srgbClr val="FFFFFF"/>
                          </a:solidFill>
                        </a:defRPr>
                      </a:pPr>
                      <a:r>
                        <a:t>Precision</a:t>
                      </a:r>
                    </a:p>
                  </a:txBody>
                  <a:tcPr marL="73152" marR="73152" marT="36576" marB="36576">
                    <a:solidFill>
                      <a:srgbClr val="0F172A"/>
                    </a:solidFill>
                  </a:tcPr>
                </a:tc>
                <a:tc>
                  <a:txBody>
                    <a:bodyPr/>
                    <a:lstStyle/>
                    <a:p>
                      <a:pPr algn="ctr">
                        <a:defRPr sz="1000" b="1">
                          <a:solidFill>
                            <a:srgbClr val="FFFFFF"/>
                          </a:solidFill>
                        </a:defRPr>
                      </a:pPr>
                      <a:r>
                        <a:t>Recall</a:t>
                      </a:r>
                    </a:p>
                  </a:txBody>
                  <a:tcPr marL="73152" marR="73152" marT="36576" marB="36576">
                    <a:solidFill>
                      <a:srgbClr val="0F172A"/>
                    </a:solidFill>
                  </a:tcPr>
                </a:tc>
                <a:tc>
                  <a:txBody>
                    <a:bodyPr/>
                    <a:lstStyle/>
                    <a:p>
                      <a:pPr algn="ctr">
                        <a:defRPr sz="1000" b="1">
                          <a:solidFill>
                            <a:srgbClr val="FFFFFF"/>
                          </a:solidFill>
                        </a:defRPr>
                      </a:pPr>
                      <a:r>
                        <a:t>F1-Score</a:t>
                      </a:r>
                    </a:p>
                  </a:txBody>
                  <a:tcPr marL="73152" marR="73152" marT="36576" marB="36576">
                    <a:solidFill>
                      <a:srgbClr val="0F172A"/>
                    </a:solidFill>
                  </a:tcPr>
                </a:tc>
              </a:tr>
              <a:tr h="312419">
                <a:tc>
                  <a:txBody>
                    <a:bodyPr/>
                    <a:lstStyle/>
                    <a:p>
                      <a:pPr algn="l">
                        <a:defRPr sz="950" b="1">
                          <a:solidFill>
                            <a:srgbClr val="0F172A"/>
                          </a:solidFill>
                        </a:defRPr>
                      </a:pPr>
                      <a:r>
                        <a:t>Source Baseline</a:t>
                      </a:r>
                    </a:p>
                  </a:txBody>
                  <a:tcPr marL="73152" marR="73152" marT="36576" marB="36576">
                    <a:solidFill>
                      <a:srgbClr val="FFFFFF"/>
                    </a:solidFill>
                  </a:tcPr>
                </a:tc>
                <a:tc>
                  <a:txBody>
                    <a:bodyPr/>
                    <a:lstStyle/>
                    <a:p>
                      <a:pPr algn="ctr">
                        <a:defRPr sz="950" b="0">
                          <a:solidFill>
                            <a:srgbClr val="0F172A"/>
                          </a:solidFill>
                        </a:defRPr>
                      </a:pPr>
                      <a:r>
                        <a:t>0.3812</a:t>
                      </a:r>
                    </a:p>
                  </a:txBody>
                  <a:tcPr marL="73152" marR="73152" marT="36576" marB="36576">
                    <a:solidFill>
                      <a:srgbClr val="FFFFFF"/>
                    </a:solidFill>
                  </a:tcPr>
                </a:tc>
                <a:tc>
                  <a:txBody>
                    <a:bodyPr/>
                    <a:lstStyle/>
                    <a:p>
                      <a:pPr algn="ctr">
                        <a:defRPr sz="950" b="0">
                          <a:solidFill>
                            <a:srgbClr val="0F172A"/>
                          </a:solidFill>
                        </a:defRPr>
                      </a:pPr>
                      <a:r>
                        <a:t>0.4485</a:t>
                      </a:r>
                    </a:p>
                  </a:txBody>
                  <a:tcPr marL="73152" marR="73152" marT="36576" marB="36576">
                    <a:solidFill>
                      <a:srgbClr val="FFFFFF"/>
                    </a:solidFill>
                  </a:tcPr>
                </a:tc>
                <a:tc>
                  <a:txBody>
                    <a:bodyPr/>
                    <a:lstStyle/>
                    <a:p>
                      <a:pPr algn="ctr">
                        <a:defRPr sz="950" b="0">
                          <a:solidFill>
                            <a:srgbClr val="0F172A"/>
                          </a:solidFill>
                        </a:defRPr>
                      </a:pPr>
                      <a:r>
                        <a:t>0.4120</a:t>
                      </a:r>
                    </a:p>
                  </a:txBody>
                  <a:tcPr marL="73152" marR="73152" marT="36576" marB="36576">
                    <a:solidFill>
                      <a:srgbClr val="FFFFFF"/>
                    </a:solidFill>
                  </a:tcPr>
                </a:tc>
              </a:tr>
              <a:tr h="312419">
                <a:tc>
                  <a:txBody>
                    <a:bodyPr/>
                    <a:lstStyle/>
                    <a:p>
                      <a:pPr algn="l">
                        <a:defRPr sz="950" b="1">
                          <a:solidFill>
                            <a:srgbClr val="DC2626"/>
                          </a:solidFill>
                        </a:defRPr>
                      </a:pPr>
                      <a:r>
                        <a:t>Tent (ICLR '21)</a:t>
                      </a:r>
                    </a:p>
                  </a:txBody>
                  <a:tcPr marL="73152" marR="73152" marT="36576" marB="36576">
                    <a:solidFill>
                      <a:srgbClr val="FEF2F2"/>
                    </a:solidFill>
                  </a:tcPr>
                </a:tc>
                <a:tc>
                  <a:txBody>
                    <a:bodyPr/>
                    <a:lstStyle/>
                    <a:p>
                      <a:pPr algn="ctr">
                        <a:defRPr sz="950" b="1">
                          <a:solidFill>
                            <a:srgbClr val="DC2626"/>
                          </a:solidFill>
                        </a:defRPr>
                      </a:pPr>
                      <a:r>
                        <a:t>0.2710</a:t>
                      </a:r>
                    </a:p>
                  </a:txBody>
                  <a:tcPr marL="73152" marR="73152" marT="36576" marB="36576">
                    <a:solidFill>
                      <a:srgbClr val="FEF2F2"/>
                    </a:solidFill>
                  </a:tcPr>
                </a:tc>
                <a:tc>
                  <a:txBody>
                    <a:bodyPr/>
                    <a:lstStyle/>
                    <a:p>
                      <a:pPr algn="ctr">
                        <a:defRPr sz="950" b="1">
                          <a:solidFill>
                            <a:srgbClr val="DC2626"/>
                          </a:solidFill>
                        </a:defRPr>
                      </a:pPr>
                      <a:r>
                        <a:t>0.4035</a:t>
                      </a:r>
                    </a:p>
                  </a:txBody>
                  <a:tcPr marL="73152" marR="73152" marT="36576" marB="36576">
                    <a:solidFill>
                      <a:srgbClr val="FEF2F2"/>
                    </a:solidFill>
                  </a:tcPr>
                </a:tc>
                <a:tc>
                  <a:txBody>
                    <a:bodyPr/>
                    <a:lstStyle/>
                    <a:p>
                      <a:pPr algn="ctr">
                        <a:defRPr sz="950" b="1">
                          <a:solidFill>
                            <a:srgbClr val="DC2626"/>
                          </a:solidFill>
                        </a:defRPr>
                      </a:pPr>
                      <a:r>
                        <a:t>0.3245</a:t>
                      </a:r>
                    </a:p>
                  </a:txBody>
                  <a:tcPr marL="73152" marR="73152" marT="36576" marB="36576">
                    <a:solidFill>
                      <a:srgbClr val="FEF2F2"/>
                    </a:solidFill>
                  </a:tcPr>
                </a:tc>
              </a:tr>
              <a:tr h="312419">
                <a:tc>
                  <a:txBody>
                    <a:bodyPr/>
                    <a:lstStyle/>
                    <a:p>
                      <a:pPr algn="l">
                        <a:defRPr sz="950" b="1">
                          <a:solidFill>
                            <a:srgbClr val="0F172A"/>
                          </a:solidFill>
                        </a:defRPr>
                      </a:pPr>
                      <a:r>
                        <a:t>EATA (ICML '22)</a:t>
                      </a:r>
                    </a:p>
                  </a:txBody>
                  <a:tcPr marL="73152" marR="73152" marT="36576" marB="36576">
                    <a:solidFill>
                      <a:srgbClr val="FFFFFF"/>
                    </a:solidFill>
                  </a:tcPr>
                </a:tc>
                <a:tc>
                  <a:txBody>
                    <a:bodyPr/>
                    <a:lstStyle/>
                    <a:p>
                      <a:pPr algn="ctr">
                        <a:defRPr sz="950" b="0">
                          <a:solidFill>
                            <a:srgbClr val="0F172A"/>
                          </a:solidFill>
                        </a:defRPr>
                      </a:pPr>
                      <a:r>
                        <a:t>0.4120</a:t>
                      </a:r>
                    </a:p>
                  </a:txBody>
                  <a:tcPr marL="73152" marR="73152" marT="36576" marB="36576">
                    <a:solidFill>
                      <a:srgbClr val="FFFFFF"/>
                    </a:solidFill>
                  </a:tcPr>
                </a:tc>
                <a:tc>
                  <a:txBody>
                    <a:bodyPr/>
                    <a:lstStyle/>
                    <a:p>
                      <a:pPr algn="ctr">
                        <a:defRPr sz="950" b="0">
                          <a:solidFill>
                            <a:srgbClr val="0F172A"/>
                          </a:solidFill>
                        </a:defRPr>
                      </a:pPr>
                      <a:r>
                        <a:t>0.4610</a:t>
                      </a:r>
                    </a:p>
                  </a:txBody>
                  <a:tcPr marL="73152" marR="73152" marT="36576" marB="36576">
                    <a:solidFill>
                      <a:srgbClr val="FFFFFF"/>
                    </a:solidFill>
                  </a:tcPr>
                </a:tc>
                <a:tc>
                  <a:txBody>
                    <a:bodyPr/>
                    <a:lstStyle/>
                    <a:p>
                      <a:pPr algn="ctr">
                        <a:defRPr sz="950" b="0">
                          <a:solidFill>
                            <a:srgbClr val="0F172A"/>
                          </a:solidFill>
                        </a:defRPr>
                      </a:pPr>
                      <a:r>
                        <a:t>0.4350</a:t>
                      </a:r>
                    </a:p>
                  </a:txBody>
                  <a:tcPr marL="73152" marR="73152" marT="36576" marB="36576">
                    <a:solidFill>
                      <a:srgbClr val="FFFFFF"/>
                    </a:solidFill>
                  </a:tcPr>
                </a:tc>
              </a:tr>
              <a:tr h="312419">
                <a:tc>
                  <a:txBody>
                    <a:bodyPr/>
                    <a:lstStyle/>
                    <a:p>
                      <a:pPr algn="l">
                        <a:defRPr sz="950" b="1">
                          <a:solidFill>
                            <a:srgbClr val="0F172A"/>
                          </a:solidFill>
                        </a:defRPr>
                      </a:pPr>
                      <a:r>
                        <a:t>SAR (ICLR '23)</a:t>
                      </a:r>
                    </a:p>
                  </a:txBody>
                  <a:tcPr marL="73152" marR="73152" marT="36576" marB="36576">
                    <a:solidFill>
                      <a:srgbClr val="F8FAFC"/>
                    </a:solidFill>
                  </a:tcPr>
                </a:tc>
                <a:tc>
                  <a:txBody>
                    <a:bodyPr/>
                    <a:lstStyle/>
                    <a:p>
                      <a:pPr algn="ctr">
                        <a:defRPr sz="950" b="0">
                          <a:solidFill>
                            <a:srgbClr val="0F172A"/>
                          </a:solidFill>
                        </a:defRPr>
                      </a:pPr>
                      <a:r>
                        <a:t>0.4280</a:t>
                      </a:r>
                    </a:p>
                  </a:txBody>
                  <a:tcPr marL="73152" marR="73152" marT="36576" marB="36576">
                    <a:solidFill>
                      <a:srgbClr val="F8FAFC"/>
                    </a:solidFill>
                  </a:tcPr>
                </a:tc>
                <a:tc>
                  <a:txBody>
                    <a:bodyPr/>
                    <a:lstStyle/>
                    <a:p>
                      <a:pPr algn="ctr">
                        <a:defRPr sz="950" b="0">
                          <a:solidFill>
                            <a:srgbClr val="0F172A"/>
                          </a:solidFill>
                        </a:defRPr>
                      </a:pPr>
                      <a:r>
                        <a:t>0.4700</a:t>
                      </a:r>
                    </a:p>
                  </a:txBody>
                  <a:tcPr marL="73152" marR="73152" marT="36576" marB="36576">
                    <a:solidFill>
                      <a:srgbClr val="F8FAFC"/>
                    </a:solidFill>
                  </a:tcPr>
                </a:tc>
                <a:tc>
                  <a:txBody>
                    <a:bodyPr/>
                    <a:lstStyle/>
                    <a:p>
                      <a:pPr algn="ctr">
                        <a:defRPr sz="950" b="0">
                          <a:solidFill>
                            <a:srgbClr val="0F172A"/>
                          </a:solidFill>
                        </a:defRPr>
                      </a:pPr>
                      <a:r>
                        <a:t>0.4480</a:t>
                      </a:r>
                    </a:p>
                  </a:txBody>
                  <a:tcPr marL="73152" marR="73152" marT="36576" marB="36576">
                    <a:solidFill>
                      <a:srgbClr val="F8FAFC"/>
                    </a:solidFill>
                  </a:tcPr>
                </a:tc>
              </a:tr>
              <a:tr h="312424">
                <a:tc>
                  <a:txBody>
                    <a:bodyPr/>
                    <a:lstStyle/>
                    <a:p>
                      <a:pPr algn="l">
                        <a:defRPr sz="950" b="1">
                          <a:solidFill>
                            <a:srgbClr val="0F766E"/>
                          </a:solidFill>
                        </a:defRPr>
                      </a:pPr>
                      <a:r>
                        <a:t>SafeAdapt (Ours)</a:t>
                      </a:r>
                    </a:p>
                  </a:txBody>
                  <a:tcPr marL="73152" marR="73152" marT="36576" marB="36576">
                    <a:solidFill>
                      <a:srgbClr val="F0FDFA"/>
                    </a:solidFill>
                  </a:tcPr>
                </a:tc>
                <a:tc>
                  <a:txBody>
                    <a:bodyPr/>
                    <a:lstStyle/>
                    <a:p>
                      <a:pPr algn="ctr">
                        <a:defRPr sz="950" b="1">
                          <a:solidFill>
                            <a:srgbClr val="0F766E"/>
                          </a:solidFill>
                        </a:defRPr>
                      </a:pPr>
                      <a:r>
                        <a:t>0.5284</a:t>
                      </a:r>
                    </a:p>
                  </a:txBody>
                  <a:tcPr marL="73152" marR="73152" marT="36576" marB="36576">
                    <a:solidFill>
                      <a:srgbClr val="F0FDFA"/>
                    </a:solidFill>
                  </a:tcPr>
                </a:tc>
                <a:tc>
                  <a:txBody>
                    <a:bodyPr/>
                    <a:lstStyle/>
                    <a:p>
                      <a:pPr algn="ctr">
                        <a:defRPr sz="950" b="1">
                          <a:solidFill>
                            <a:srgbClr val="0F766E"/>
                          </a:solidFill>
                        </a:defRPr>
                      </a:pPr>
                      <a:r>
                        <a:t>0.5065</a:t>
                      </a:r>
                    </a:p>
                  </a:txBody>
                  <a:tcPr marL="73152" marR="73152" marT="36576" marB="36576">
                    <a:solidFill>
                      <a:srgbClr val="F0FDFA"/>
                    </a:solidFill>
                  </a:tcPr>
                </a:tc>
                <a:tc>
                  <a:txBody>
                    <a:bodyPr/>
                    <a:lstStyle/>
                    <a:p>
                      <a:pPr algn="ctr">
                        <a:defRPr sz="950" b="1">
                          <a:solidFill>
                            <a:srgbClr val="0F766E"/>
                          </a:solidFill>
                        </a:defRPr>
                      </a:pPr>
                      <a:r>
                        <a:t>0.5172</a:t>
                      </a:r>
                    </a:p>
                  </a:txBody>
                  <a:tcPr marL="73152" marR="73152" marT="36576" marB="36576">
                    <a:solidFill>
                      <a:srgbClr val="F0FDFA"/>
                    </a:solidFill>
                  </a:tcPr>
                </a:tc>
              </a:tr>
            </a:tbl>
          </a:graphicData>
        </a:graphic>
      </p:graphicFrame>
      <p:sp>
        <p:nvSpPr>
          <p:cNvPr id="10" name="Rounded Rectangle 9"/>
          <p:cNvSpPr/>
          <p:nvPr/>
        </p:nvSpPr>
        <p:spPr>
          <a:xfrm>
            <a:off x="5943600" y="4434840"/>
            <a:ext cx="5516575" cy="1874519"/>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9904" y="4581144"/>
            <a:ext cx="5223967" cy="1581911"/>
          </a:xfrm>
          <a:prstGeom prst="rect">
            <a:avLst/>
          </a:prstGeom>
          <a:noFill/>
        </p:spPr>
        <p:txBody>
          <a:bodyPr wrap="square" lIns="0" tIns="0" rIns="0" bIns="0">
            <a:spAutoFit/>
          </a:bodyPr>
          <a:lstStyle/>
          <a:p>
            <a:pPr>
              <a:spcAft>
                <a:spcPts val="800"/>
              </a:spcAft>
              <a:defRPr sz="1300" b="1">
                <a:solidFill>
                  <a:srgbClr val="059669"/>
                </a:solidFill>
              </a:defRPr>
            </a:pPr>
            <a:r>
              <a:t>CMR Slack Routing Eliminates Debris</a:t>
            </a:r>
          </a:p>
          <a:p>
            <a:pPr>
              <a:spcAft>
                <a:spcPts val="600"/>
              </a:spcAft>
            </a:pPr>
            <a:r>
              <a:rPr b="1" sz="1050">
                <a:solidFill>
                  <a:srgbClr val="0F172A"/>
                </a:solidFill>
              </a:rPr>
              <a:t>•  The Challenge: </a:t>
            </a:r>
            <a:r>
              <a:rPr sz="1050">
                <a:solidFill>
                  <a:srgbClr val="1E293B"/>
                </a:solidFill>
              </a:rPr>
              <a:t>Pyknotic apoptotic nuclei and hyperchromatic debris mimic mitotic figures on unseen scanners.</a:t>
            </a:r>
          </a:p>
          <a:p>
            <a:pPr>
              <a:spcAft>
                <a:spcPts val="600"/>
              </a:spcAft>
            </a:pPr>
            <a:r>
              <a:rPr b="1" sz="1050">
                <a:solidFill>
                  <a:srgbClr val="0F172A"/>
                </a:solidFill>
              </a:rPr>
              <a:t>•  False-Alarm Explosion: </a:t>
            </a:r>
            <a:r>
              <a:rPr sz="1050">
                <a:solidFill>
                  <a:srgbClr val="1E293B"/>
                </a:solidFill>
              </a:rPr>
              <a:t>Tent experiences severe FP explosion (Precision drops from 0.38 down to 0.27).</a:t>
            </a:r>
          </a:p>
          <a:p>
            <a:pPr>
              <a:spcAft>
                <a:spcPts val="600"/>
              </a:spcAft>
            </a:pPr>
            <a:r>
              <a:rPr b="1" sz="1050">
                <a:solidFill>
                  <a:srgbClr val="0F172A"/>
                </a:solidFill>
              </a:rPr>
              <a:t>•  SafeAdapt Superiority: </a:t>
            </a:r>
            <a:r>
              <a:rPr sz="1050">
                <a:solidFill>
                  <a:srgbClr val="1E293B"/>
                </a:solidFill>
              </a:rPr>
              <a:t>CMR slack channel absorbs hyperchromatic debris, boosting Precision to 0.5284 (+38.7% over Source) and achieving SOTA F1-score of 0.5172.</a:t>
            </a:r>
          </a:p>
        </p:txBody>
      </p:sp>
      <p:sp>
        <p:nvSpPr>
          <p:cNvPr id="12" name="Rounded Rectangle 11"/>
          <p:cNvSpPr/>
          <p:nvPr/>
        </p:nvSpPr>
        <p:spPr>
          <a:xfrm>
            <a:off x="9814255" y="454456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+25.5% F1 GAIN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CLINICAL STRESS-TESTING &amp; ROBUSTNESS</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Stress-Testing Across Four Extreme Clinical Boundary Regimes</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SafeAdapt maintains rock-solid stability in non-ideal real-world hospital workflows where traditional TTA fails.</a:t>
            </a:r>
          </a:p>
        </p:txBody>
      </p:sp>
      <p:sp>
        <p:nvSpPr>
          <p:cNvPr id="6" name="Rounded Rectangle 5"/>
          <p:cNvSpPr/>
          <p:nvPr/>
        </p:nvSpPr>
        <p:spPr>
          <a:xfrm>
            <a:off x="731520" y="1645920"/>
            <a:ext cx="5212080" cy="219456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4919472" cy="1901952"/>
          </a:xfrm>
          <a:prstGeom prst="rect">
            <a:avLst/>
          </a:prstGeom>
          <a:noFill/>
        </p:spPr>
        <p:txBody>
          <a:bodyPr wrap="square" lIns="0" tIns="0" rIns="0" bIns="0">
            <a:spAutoFit/>
          </a:bodyPr>
          <a:lstStyle/>
          <a:p>
            <a:pPr>
              <a:spcAft>
                <a:spcPts val="800"/>
              </a:spcAft>
              <a:defRPr sz="1300" b="1">
                <a:solidFill>
                  <a:srgbClr val="0D9488"/>
                </a:solidFill>
              </a:defRPr>
            </a:pPr>
            <a:r>
              <a:t>Regime 1: Single-Patch Streaming (Batch Size B = 1)</a:t>
            </a:r>
          </a:p>
          <a:p>
            <a:pPr>
              <a:spcAft>
                <a:spcPts val="600"/>
              </a:spcAft>
            </a:pPr>
            <a:r>
              <a:rPr b="1" sz="1050">
                <a:solidFill>
                  <a:srgbClr val="0F172A"/>
                </a:solidFill>
              </a:rPr>
              <a:t>•  Clinical Reality: </a:t>
            </a:r>
            <a:r>
              <a:rPr sz="1050">
                <a:solidFill>
                  <a:srgbClr val="1E293B"/>
                </a:solidFill>
              </a:rPr>
              <a:t>Real-time digital microscopes stream individual tissue patches sequentially as the objective moves.</a:t>
            </a:r>
          </a:p>
          <a:p>
            <a:pPr>
              <a:spcAft>
                <a:spcPts val="600"/>
              </a:spcAft>
            </a:pPr>
            <a:r>
              <a:rPr b="1" sz="1050">
                <a:solidFill>
                  <a:srgbClr val="0F172A"/>
                </a:solidFill>
              </a:rPr>
              <a:t>•  Standard BN Failure: </a:t>
            </a:r>
            <a:r>
              <a:rPr sz="1050">
                <a:solidFill>
                  <a:srgbClr val="1E293B"/>
                </a:solidFill>
              </a:rPr>
              <a:t>Standard Batch Normalization cannot compute batch statistics when B=1, leading to NaN gradients.</a:t>
            </a:r>
          </a:p>
          <a:p>
            <a:pPr>
              <a:spcAft>
                <a:spcPts val="600"/>
              </a:spcAft>
            </a:pPr>
            <a:r>
              <a:rPr b="1" sz="1050">
                <a:solidFill>
                  <a:srgbClr val="0F172A"/>
                </a:solidFill>
              </a:rPr>
              <a:t>•  SafeAdapt Solution: </a:t>
            </a:r>
            <a:r>
              <a:rPr sz="1050">
                <a:solidFill>
                  <a:srgbClr val="1E293B"/>
                </a:solidFill>
              </a:rPr>
              <a:t>Employs an asynchronous FIFO memory buffer (M=32) that preserves 0.9412 AUROC without latency penalty.</a:t>
            </a:r>
          </a:p>
        </p:txBody>
      </p:sp>
      <p:sp>
        <p:nvSpPr>
          <p:cNvPr id="8" name="Rounded Rectangle 7"/>
          <p:cNvSpPr/>
          <p:nvPr/>
        </p:nvSpPr>
        <p:spPr>
          <a:xfrm>
            <a:off x="4297680" y="175564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B = 1 STREAMING</a:t>
            </a:r>
          </a:p>
        </p:txBody>
      </p:sp>
      <p:sp>
        <p:nvSpPr>
          <p:cNvPr id="9" name="Rounded Rectangle 8"/>
          <p:cNvSpPr/>
          <p:nvPr/>
        </p:nvSpPr>
        <p:spPr>
          <a:xfrm>
            <a:off x="6217920" y="1645920"/>
            <a:ext cx="5212080" cy="219456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64224" y="1792224"/>
            <a:ext cx="4919472" cy="1901952"/>
          </a:xfrm>
          <a:prstGeom prst="rect">
            <a:avLst/>
          </a:prstGeom>
          <a:noFill/>
        </p:spPr>
        <p:txBody>
          <a:bodyPr wrap="square" lIns="0" tIns="0" rIns="0" bIns="0">
            <a:spAutoFit/>
          </a:bodyPr>
          <a:lstStyle/>
          <a:p>
            <a:pPr>
              <a:spcAft>
                <a:spcPts val="800"/>
              </a:spcAft>
              <a:defRPr sz="1300" b="1">
                <a:solidFill>
                  <a:srgbClr val="059669"/>
                </a:solidFill>
              </a:defRPr>
            </a:pPr>
            <a:r>
              <a:t>Regime 2: Purely Benign Slides (0.0% Tumor Burden)</a:t>
            </a:r>
          </a:p>
          <a:p>
            <a:pPr>
              <a:spcAft>
                <a:spcPts val="600"/>
              </a:spcAft>
            </a:pPr>
            <a:r>
              <a:rPr b="1" sz="1050">
                <a:solidFill>
                  <a:srgbClr val="0F172A"/>
                </a:solidFill>
              </a:rPr>
              <a:t>•  Clinical Reality: </a:t>
            </a:r>
            <a:r>
              <a:rPr sz="1050">
                <a:solidFill>
                  <a:srgbClr val="1E293B"/>
                </a:solidFill>
              </a:rPr>
              <a:t>Over 80% of routine clinical lymph node dissections are purely benign (0.0% tumor cells).</a:t>
            </a:r>
          </a:p>
          <a:p>
            <a:pPr>
              <a:spcAft>
                <a:spcPts val="600"/>
              </a:spcAft>
            </a:pPr>
            <a:r>
              <a:rPr b="1" sz="1050">
                <a:solidFill>
                  <a:srgbClr val="0F172A"/>
                </a:solidFill>
              </a:rPr>
              <a:t>•  Entropy Min Danger: </a:t>
            </a:r>
            <a:r>
              <a:rPr sz="1050">
                <a:solidFill>
                  <a:srgbClr val="1E293B"/>
                </a:solidFill>
              </a:rPr>
              <a:t>Entropy minimization artificially forces positive predictions to balance class distributions, generating false tumors.</a:t>
            </a:r>
          </a:p>
          <a:p>
            <a:pPr>
              <a:spcAft>
                <a:spcPts val="600"/>
              </a:spcAft>
            </a:pPr>
            <a:r>
              <a:rPr b="1" sz="1050">
                <a:solidFill>
                  <a:srgbClr val="0F172A"/>
                </a:solidFill>
              </a:rPr>
              <a:t>•  SafeAdapt Solution: </a:t>
            </a:r>
            <a:r>
              <a:rPr sz="1050">
                <a:solidFill>
                  <a:srgbClr val="1E293B"/>
                </a:solidFill>
              </a:rPr>
              <a:t>Exhibits zero false-positive drift on 10 purely benign validation slides, preserving 99.4% specificity.</a:t>
            </a:r>
          </a:p>
        </p:txBody>
      </p:sp>
      <p:sp>
        <p:nvSpPr>
          <p:cNvPr id="11" name="Rounded Rectangle 10"/>
          <p:cNvSpPr/>
          <p:nvPr/>
        </p:nvSpPr>
        <p:spPr>
          <a:xfrm>
            <a:off x="9784080" y="175564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0.0% TUMOR SLIDES</a:t>
            </a:r>
          </a:p>
        </p:txBody>
      </p:sp>
      <p:sp>
        <p:nvSpPr>
          <p:cNvPr id="12" name="Rounded Rectangle 11"/>
          <p:cNvSpPr/>
          <p:nvPr/>
        </p:nvSpPr>
        <p:spPr>
          <a:xfrm>
            <a:off x="731520" y="4069080"/>
            <a:ext cx="5212080" cy="219456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4215384"/>
            <a:ext cx="4919472" cy="1901952"/>
          </a:xfrm>
          <a:prstGeom prst="rect">
            <a:avLst/>
          </a:prstGeom>
          <a:noFill/>
        </p:spPr>
        <p:txBody>
          <a:bodyPr wrap="square" lIns="0" tIns="0" rIns="0" bIns="0">
            <a:spAutoFit/>
          </a:bodyPr>
          <a:lstStyle/>
          <a:p>
            <a:pPr>
              <a:spcAft>
                <a:spcPts val="800"/>
              </a:spcAft>
              <a:defRPr sz="1300" b="1">
                <a:solidFill>
                  <a:srgbClr val="0F172A"/>
                </a:solidFill>
              </a:defRPr>
            </a:pPr>
            <a:r>
              <a:t>Regime 3: Weakly-Supervised Attention-MIL Integration</a:t>
            </a:r>
          </a:p>
          <a:p>
            <a:pPr>
              <a:spcAft>
                <a:spcPts val="600"/>
              </a:spcAft>
            </a:pPr>
            <a:r>
              <a:rPr b="1" sz="1050">
                <a:solidFill>
                  <a:srgbClr val="0F172A"/>
                </a:solidFill>
              </a:rPr>
              <a:t>•  Slide-Level Diagnosis: </a:t>
            </a:r>
            <a:r>
              <a:rPr sz="1050">
                <a:solidFill>
                  <a:srgbClr val="1E293B"/>
                </a:solidFill>
              </a:rPr>
              <a:t>Evaluated end-to-end with Whole-Slide Attention-MIL aggregation across 10,000+ patches per slide.</a:t>
            </a:r>
          </a:p>
          <a:p>
            <a:pPr>
              <a:spcAft>
                <a:spcPts val="600"/>
              </a:spcAft>
            </a:pPr>
            <a:r>
              <a:rPr b="1" sz="1050">
                <a:solidFill>
                  <a:srgbClr val="0F172A"/>
                </a:solidFill>
              </a:rPr>
              <a:t>•  Diagnostic Triage: </a:t>
            </a:r>
            <a:r>
              <a:rPr sz="1050">
                <a:solidFill>
                  <a:srgbClr val="1E293B"/>
                </a:solidFill>
              </a:rPr>
              <a:t>SafeAdapt adapted patch representations improve slide-level patient triage accuracy by +6.8% over unadapted features.</a:t>
            </a:r>
          </a:p>
          <a:p>
            <a:pPr>
              <a:spcAft>
                <a:spcPts val="600"/>
              </a:spcAft>
            </a:pPr>
            <a:r>
              <a:rPr b="1" sz="1050">
                <a:solidFill>
                  <a:srgbClr val="0F172A"/>
                </a:solidFill>
              </a:rPr>
              <a:t>•  Seamless Pipeline: </a:t>
            </a:r>
            <a:r>
              <a:rPr sz="1050">
                <a:solidFill>
                  <a:srgbClr val="1E293B"/>
                </a:solidFill>
              </a:rPr>
              <a:t>Functions as a drop-in patch feature adapter upstream of any clinical MIL aggregation architecture.</a:t>
            </a:r>
          </a:p>
        </p:txBody>
      </p:sp>
      <p:sp>
        <p:nvSpPr>
          <p:cNvPr id="14" name="Rounded Rectangle 13"/>
          <p:cNvSpPr/>
          <p:nvPr/>
        </p:nvSpPr>
        <p:spPr>
          <a:xfrm>
            <a:off x="4297680" y="417880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MIL INTEGRATION</a:t>
            </a:r>
          </a:p>
        </p:txBody>
      </p:sp>
      <p:sp>
        <p:nvSpPr>
          <p:cNvPr id="15" name="Rounded Rectangle 14"/>
          <p:cNvSpPr/>
          <p:nvPr/>
        </p:nvSpPr>
        <p:spPr>
          <a:xfrm>
            <a:off x="6217920" y="4069080"/>
            <a:ext cx="5212080" cy="219456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4224" y="4215384"/>
            <a:ext cx="4919472" cy="1901952"/>
          </a:xfrm>
          <a:prstGeom prst="rect">
            <a:avLst/>
          </a:prstGeom>
          <a:noFill/>
        </p:spPr>
        <p:txBody>
          <a:bodyPr wrap="square" lIns="0" tIns="0" rIns="0" bIns="0">
            <a:spAutoFit/>
          </a:bodyPr>
          <a:lstStyle/>
          <a:p>
            <a:pPr>
              <a:spcAft>
                <a:spcPts val="800"/>
              </a:spcAft>
              <a:defRPr sz="1300" b="1">
                <a:solidFill>
                  <a:srgbClr val="0D9488"/>
                </a:solidFill>
              </a:defRPr>
            </a:pPr>
            <a:r>
              <a:t>Regime 4: Continual Multi-Patient Drift Testing</a:t>
            </a:r>
          </a:p>
          <a:p>
            <a:pPr>
              <a:spcAft>
                <a:spcPts val="600"/>
              </a:spcAft>
            </a:pPr>
            <a:r>
              <a:rPr b="1" sz="1050">
                <a:solidFill>
                  <a:srgbClr val="0F172A"/>
                </a:solidFill>
              </a:rPr>
              <a:t>•  The HIPAA Concern: </a:t>
            </a:r>
            <a:r>
              <a:rPr sz="1050">
                <a:solidFill>
                  <a:srgbClr val="1E293B"/>
                </a:solidFill>
              </a:rPr>
              <a:t>Processing consecutive slides without resetting model state allows Patient A's features to alter Patient B's diagnosis.</a:t>
            </a:r>
          </a:p>
          <a:p>
            <a:pPr>
              <a:spcAft>
                <a:spcPts val="600"/>
              </a:spcAft>
            </a:pPr>
            <a:r>
              <a:rPr b="1" sz="1050">
                <a:solidFill>
                  <a:srgbClr val="0F172A"/>
                </a:solidFill>
              </a:rPr>
              <a:t>•  SafeAdapt Policy: </a:t>
            </a:r>
            <a:r>
              <a:rPr sz="1050">
                <a:solidFill>
                  <a:srgbClr val="1E293B"/>
                </a:solidFill>
              </a:rPr>
              <a:t>Enforces strict deterministic parameter rollback to theta_0 at the conclusion of each whole-slide scan.</a:t>
            </a:r>
          </a:p>
          <a:p>
            <a:pPr>
              <a:spcAft>
                <a:spcPts val="600"/>
              </a:spcAft>
            </a:pPr>
            <a:r>
              <a:rPr b="1" sz="1050">
                <a:solidFill>
                  <a:srgbClr val="0F172A"/>
                </a:solidFill>
              </a:rPr>
              <a:t>•  Zero Contamination: </a:t>
            </a:r>
            <a:r>
              <a:rPr sz="1050">
                <a:solidFill>
                  <a:srgbClr val="1E293B"/>
                </a:solidFill>
              </a:rPr>
              <a:t>Guarantees zero cross-patient statistical contamination and eliminates inter-patient error accumulation.</a:t>
            </a:r>
          </a:p>
        </p:txBody>
      </p:sp>
      <p:sp>
        <p:nvSpPr>
          <p:cNvPr id="17" name="Rounded Rectangle 16"/>
          <p:cNvSpPr/>
          <p:nvPr/>
        </p:nvSpPr>
        <p:spPr>
          <a:xfrm>
            <a:off x="9784080" y="417880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PATIENT ISOLATION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HARDWARE FEASIBILITY</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Hardware Benchmarks: Clinical PACS Integration &amp; Real-Time Latency</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SafeAdapt delivers 312 patches/sec at 1.8 ms rollback latency, easily fitting standard hospital PACS infrastructure.</a:t>
            </a:r>
          </a:p>
        </p:txBody>
      </p:sp>
      <p:graphicFrame>
        <p:nvGraphicFramePr>
          <p:cNvPr id="6" name="Table 5"/>
          <p:cNvGraphicFramePr>
            <a:graphicFrameLocks noGrp="1"/>
          </p:cNvGraphicFramePr>
          <p:nvPr/>
        </p:nvGraphicFramePr>
        <p:xfrm>
          <a:off x="731520" y="1645920"/>
          <a:ext cx="5486400" cy="2560320"/>
        </p:xfrm>
        <a:graphic>
          <a:graphicData uri="http://schemas.openxmlformats.org/drawingml/2006/table">
            <a:tbl>
              <a:tblPr firstRow="1" bandRow="1">
                <a:tableStyleId>{5C22544A-7EE6-4342-B048-85BDC9FD1C3A}</a:tableStyleId>
              </a:tblPr>
              <a:tblGrid>
                <a:gridCol w="1554480"/>
                <a:gridCol w="914400"/>
                <a:gridCol w="1097280"/>
                <a:gridCol w="914400"/>
                <a:gridCol w="1005840"/>
              </a:tblGrid>
              <a:tr h="426720">
                <a:tc>
                  <a:txBody>
                    <a:bodyPr/>
                    <a:lstStyle/>
                    <a:p>
                      <a:pPr algn="l">
                        <a:defRPr sz="1000" b="1">
                          <a:solidFill>
                            <a:srgbClr val="FFFFFF"/>
                          </a:solidFill>
                        </a:defRPr>
                      </a:pPr>
                      <a:r>
                        <a:t>Method</a:t>
                      </a:r>
                    </a:p>
                  </a:txBody>
                  <a:tcPr marL="73152" marR="73152" marT="36576" marB="36576">
                    <a:solidFill>
                      <a:srgbClr val="0F172A"/>
                    </a:solidFill>
                  </a:tcPr>
                </a:tc>
                <a:tc>
                  <a:txBody>
                    <a:bodyPr/>
                    <a:lstStyle/>
                    <a:p>
                      <a:pPr algn="ctr">
                        <a:defRPr sz="1000" b="1">
                          <a:solidFill>
                            <a:srgbClr val="FFFFFF"/>
                          </a:solidFill>
                        </a:defRPr>
                      </a:pPr>
                      <a:r>
                        <a:t>Latency (ms)</a:t>
                      </a:r>
                    </a:p>
                  </a:txBody>
                  <a:tcPr marL="73152" marR="73152" marT="36576" marB="36576">
                    <a:solidFill>
                      <a:srgbClr val="0F172A"/>
                    </a:solidFill>
                  </a:tcPr>
                </a:tc>
                <a:tc>
                  <a:txBody>
                    <a:bodyPr/>
                    <a:lstStyle/>
                    <a:p>
                      <a:pPr algn="ctr">
                        <a:defRPr sz="1000" b="1">
                          <a:solidFill>
                            <a:srgbClr val="FFFFFF"/>
                          </a:solidFill>
                        </a:defRPr>
                      </a:pPr>
                      <a:r>
                        <a:t>Throughput (p/s)</a:t>
                      </a:r>
                    </a:p>
                  </a:txBody>
                  <a:tcPr marL="73152" marR="73152" marT="36576" marB="36576">
                    <a:solidFill>
                      <a:srgbClr val="0F172A"/>
                    </a:solidFill>
                  </a:tcPr>
                </a:tc>
                <a:tc>
                  <a:txBody>
                    <a:bodyPr/>
                    <a:lstStyle/>
                    <a:p>
                      <a:pPr algn="ctr">
                        <a:defRPr sz="1000" b="1">
                          <a:solidFill>
                            <a:srgbClr val="FFFFFF"/>
                          </a:solidFill>
                        </a:defRPr>
                      </a:pPr>
                      <a:r>
                        <a:t>VRAM (MB)</a:t>
                      </a:r>
                    </a:p>
                  </a:txBody>
                  <a:tcPr marL="73152" marR="73152" marT="36576" marB="36576">
                    <a:solidFill>
                      <a:srgbClr val="0F172A"/>
                    </a:solidFill>
                  </a:tcPr>
                </a:tc>
                <a:tc>
                  <a:txBody>
                    <a:bodyPr/>
                    <a:lstStyle/>
                    <a:p>
                      <a:pPr algn="ctr">
                        <a:defRPr sz="1000" b="1">
                          <a:solidFill>
                            <a:srgbClr val="FFFFFF"/>
                          </a:solidFill>
                        </a:defRPr>
                      </a:pPr>
                      <a:r>
                        <a:t>Rollback (ms)</a:t>
                      </a:r>
                    </a:p>
                  </a:txBody>
                  <a:tcPr marL="73152" marR="73152" marT="36576" marB="36576">
                    <a:solidFill>
                      <a:srgbClr val="0F172A"/>
                    </a:solidFill>
                  </a:tcPr>
                </a:tc>
              </a:tr>
              <a:tr h="426720">
                <a:tc>
                  <a:txBody>
                    <a:bodyPr/>
                    <a:lstStyle/>
                    <a:p>
                      <a:pPr algn="l">
                        <a:defRPr sz="950" b="1">
                          <a:solidFill>
                            <a:srgbClr val="0F172A"/>
                          </a:solidFill>
                        </a:defRPr>
                      </a:pPr>
                      <a:r>
                        <a:t>Source (Frozen)</a:t>
                      </a:r>
                    </a:p>
                  </a:txBody>
                  <a:tcPr marL="73152" marR="73152" marT="36576" marB="36576">
                    <a:solidFill>
                      <a:srgbClr val="FFFFFF"/>
                    </a:solidFill>
                  </a:tcPr>
                </a:tc>
                <a:tc>
                  <a:txBody>
                    <a:bodyPr/>
                    <a:lstStyle/>
                    <a:p>
                      <a:pPr algn="ctr">
                        <a:defRPr sz="950" b="0">
                          <a:solidFill>
                            <a:srgbClr val="0F172A"/>
                          </a:solidFill>
                        </a:defRPr>
                      </a:pPr>
                      <a:r>
                        <a:t>2.8 ms</a:t>
                      </a:r>
                    </a:p>
                  </a:txBody>
                  <a:tcPr marL="73152" marR="73152" marT="36576" marB="36576">
                    <a:solidFill>
                      <a:srgbClr val="FFFFFF"/>
                    </a:solidFill>
                  </a:tcPr>
                </a:tc>
                <a:tc>
                  <a:txBody>
                    <a:bodyPr/>
                    <a:lstStyle/>
                    <a:p>
                      <a:pPr algn="ctr">
                        <a:defRPr sz="950" b="0">
                          <a:solidFill>
                            <a:srgbClr val="0F172A"/>
                          </a:solidFill>
                        </a:defRPr>
                      </a:pPr>
                      <a:r>
                        <a:t>357 p/s</a:t>
                      </a:r>
                    </a:p>
                  </a:txBody>
                  <a:tcPr marL="73152" marR="73152" marT="36576" marB="36576">
                    <a:solidFill>
                      <a:srgbClr val="FFFFFF"/>
                    </a:solidFill>
                  </a:tcPr>
                </a:tc>
                <a:tc>
                  <a:txBody>
                    <a:bodyPr/>
                    <a:lstStyle/>
                    <a:p>
                      <a:pPr algn="ctr">
                        <a:defRPr sz="950" b="0">
                          <a:solidFill>
                            <a:srgbClr val="0F172A"/>
                          </a:solidFill>
                        </a:defRPr>
                      </a:pPr>
                      <a:r>
                        <a:t>1,420 MB</a:t>
                      </a:r>
                    </a:p>
                  </a:txBody>
                  <a:tcPr marL="73152" marR="73152" marT="36576" marB="36576">
                    <a:solidFill>
                      <a:srgbClr val="FFFFFF"/>
                    </a:solidFill>
                  </a:tcPr>
                </a:tc>
                <a:tc>
                  <a:txBody>
                    <a:bodyPr/>
                    <a:lstStyle/>
                    <a:p>
                      <a:pPr algn="ctr">
                        <a:defRPr sz="950" b="0">
                          <a:solidFill>
                            <a:srgbClr val="0F172A"/>
                          </a:solidFill>
                        </a:defRPr>
                      </a:pPr>
                      <a:r>
                        <a:t>N/A</a:t>
                      </a:r>
                    </a:p>
                  </a:txBody>
                  <a:tcPr marL="73152" marR="73152" marT="36576" marB="36576">
                    <a:solidFill>
                      <a:srgbClr val="FFFFFF"/>
                    </a:solidFill>
                  </a:tcPr>
                </a:tc>
              </a:tr>
              <a:tr h="426720">
                <a:tc>
                  <a:txBody>
                    <a:bodyPr/>
                    <a:lstStyle/>
                    <a:p>
                      <a:pPr algn="l">
                        <a:defRPr sz="950" b="1">
                          <a:solidFill>
                            <a:srgbClr val="0F172A"/>
                          </a:solidFill>
                        </a:defRPr>
                      </a:pPr>
                      <a:r>
                        <a:t>Tent (ICLR '21)</a:t>
                      </a:r>
                    </a:p>
                  </a:txBody>
                  <a:tcPr marL="73152" marR="73152" marT="36576" marB="36576">
                    <a:solidFill>
                      <a:srgbClr val="F8FAFC"/>
                    </a:solidFill>
                  </a:tcPr>
                </a:tc>
                <a:tc>
                  <a:txBody>
                    <a:bodyPr/>
                    <a:lstStyle/>
                    <a:p>
                      <a:pPr algn="ctr">
                        <a:defRPr sz="950" b="0">
                          <a:solidFill>
                            <a:srgbClr val="0F172A"/>
                          </a:solidFill>
                        </a:defRPr>
                      </a:pPr>
                      <a:r>
                        <a:t>3.1 ms</a:t>
                      </a:r>
                    </a:p>
                  </a:txBody>
                  <a:tcPr marL="73152" marR="73152" marT="36576" marB="36576">
                    <a:solidFill>
                      <a:srgbClr val="F8FAFC"/>
                    </a:solidFill>
                  </a:tcPr>
                </a:tc>
                <a:tc>
                  <a:txBody>
                    <a:bodyPr/>
                    <a:lstStyle/>
                    <a:p>
                      <a:pPr algn="ctr">
                        <a:defRPr sz="950" b="0">
                          <a:solidFill>
                            <a:srgbClr val="0F172A"/>
                          </a:solidFill>
                        </a:defRPr>
                      </a:pPr>
                      <a:r>
                        <a:t>322 p/s</a:t>
                      </a:r>
                    </a:p>
                  </a:txBody>
                  <a:tcPr marL="73152" marR="73152" marT="36576" marB="36576">
                    <a:solidFill>
                      <a:srgbClr val="F8FAFC"/>
                    </a:solidFill>
                  </a:tcPr>
                </a:tc>
                <a:tc>
                  <a:txBody>
                    <a:bodyPr/>
                    <a:lstStyle/>
                    <a:p>
                      <a:pPr algn="ctr">
                        <a:defRPr sz="950" b="0">
                          <a:solidFill>
                            <a:srgbClr val="0F172A"/>
                          </a:solidFill>
                        </a:defRPr>
                      </a:pPr>
                      <a:r>
                        <a:t>1,540 MB</a:t>
                      </a:r>
                    </a:p>
                  </a:txBody>
                  <a:tcPr marL="73152" marR="73152" marT="36576" marB="36576">
                    <a:solidFill>
                      <a:srgbClr val="F8FAFC"/>
                    </a:solidFill>
                  </a:tcPr>
                </a:tc>
                <a:tc>
                  <a:txBody>
                    <a:bodyPr/>
                    <a:lstStyle/>
                    <a:p>
                      <a:pPr algn="ctr">
                        <a:defRPr sz="950" b="0">
                          <a:solidFill>
                            <a:srgbClr val="0F172A"/>
                          </a:solidFill>
                        </a:defRPr>
                      </a:pPr>
                      <a:r>
                        <a:t>N/A</a:t>
                      </a:r>
                    </a:p>
                  </a:txBody>
                  <a:tcPr marL="73152" marR="73152" marT="36576" marB="36576">
                    <a:solidFill>
                      <a:srgbClr val="F8FAFC"/>
                    </a:solidFill>
                  </a:tcPr>
                </a:tc>
              </a:tr>
              <a:tr h="426720">
                <a:tc>
                  <a:txBody>
                    <a:bodyPr/>
                    <a:lstStyle/>
                    <a:p>
                      <a:pPr algn="l">
                        <a:defRPr sz="950" b="1">
                          <a:solidFill>
                            <a:srgbClr val="0F172A"/>
                          </a:solidFill>
                        </a:defRPr>
                      </a:pPr>
                      <a:r>
                        <a:t>CoTTA (CVPR '22)</a:t>
                      </a:r>
                    </a:p>
                  </a:txBody>
                  <a:tcPr marL="73152" marR="73152" marT="36576" marB="36576">
                    <a:solidFill>
                      <a:srgbClr val="FFFFFF"/>
                    </a:solidFill>
                  </a:tcPr>
                </a:tc>
                <a:tc>
                  <a:txBody>
                    <a:bodyPr/>
                    <a:lstStyle/>
                    <a:p>
                      <a:pPr algn="ctr">
                        <a:defRPr sz="950" b="0">
                          <a:solidFill>
                            <a:srgbClr val="0F172A"/>
                          </a:solidFill>
                        </a:defRPr>
                      </a:pPr>
                      <a:r>
                        <a:t>8.4 ms</a:t>
                      </a:r>
                    </a:p>
                  </a:txBody>
                  <a:tcPr marL="73152" marR="73152" marT="36576" marB="36576">
                    <a:solidFill>
                      <a:srgbClr val="FFFFFF"/>
                    </a:solidFill>
                  </a:tcPr>
                </a:tc>
                <a:tc>
                  <a:txBody>
                    <a:bodyPr/>
                    <a:lstStyle/>
                    <a:p>
                      <a:pPr algn="ctr">
                        <a:defRPr sz="950" b="0">
                          <a:solidFill>
                            <a:srgbClr val="0F172A"/>
                          </a:solidFill>
                        </a:defRPr>
                      </a:pPr>
                      <a:r>
                        <a:t>119 p/s</a:t>
                      </a:r>
                    </a:p>
                  </a:txBody>
                  <a:tcPr marL="73152" marR="73152" marT="36576" marB="36576">
                    <a:solidFill>
                      <a:srgbClr val="FFFFFF"/>
                    </a:solidFill>
                  </a:tcPr>
                </a:tc>
                <a:tc>
                  <a:txBody>
                    <a:bodyPr/>
                    <a:lstStyle/>
                    <a:p>
                      <a:pPr algn="ctr">
                        <a:defRPr sz="950" b="0">
                          <a:solidFill>
                            <a:srgbClr val="0F172A"/>
                          </a:solidFill>
                        </a:defRPr>
                      </a:pPr>
                      <a:r>
                        <a:t>3,110 MB</a:t>
                      </a:r>
                    </a:p>
                  </a:txBody>
                  <a:tcPr marL="73152" marR="73152" marT="36576" marB="36576">
                    <a:solidFill>
                      <a:srgbClr val="FFFFFF"/>
                    </a:solidFill>
                  </a:tcPr>
                </a:tc>
                <a:tc>
                  <a:txBody>
                    <a:bodyPr/>
                    <a:lstStyle/>
                    <a:p>
                      <a:pPr algn="ctr">
                        <a:defRPr sz="950" b="0">
                          <a:solidFill>
                            <a:srgbClr val="0F172A"/>
                          </a:solidFill>
                        </a:defRPr>
                      </a:pPr>
                      <a:r>
                        <a:t>N/A</a:t>
                      </a:r>
                    </a:p>
                  </a:txBody>
                  <a:tcPr marL="73152" marR="73152" marT="36576" marB="36576">
                    <a:solidFill>
                      <a:srgbClr val="FFFFFF"/>
                    </a:solidFill>
                  </a:tcPr>
                </a:tc>
              </a:tr>
              <a:tr h="426720">
                <a:tc>
                  <a:txBody>
                    <a:bodyPr/>
                    <a:lstStyle/>
                    <a:p>
                      <a:pPr algn="l">
                        <a:defRPr sz="950" b="1">
                          <a:solidFill>
                            <a:srgbClr val="DC2626"/>
                          </a:solidFill>
                        </a:defRPr>
                      </a:pPr>
                      <a:r>
                        <a:t>MEMO (16 views)</a:t>
                      </a:r>
                    </a:p>
                  </a:txBody>
                  <a:tcPr marL="73152" marR="73152" marT="36576" marB="36576">
                    <a:solidFill>
                      <a:srgbClr val="FEF2F2"/>
                    </a:solidFill>
                  </a:tcPr>
                </a:tc>
                <a:tc>
                  <a:txBody>
                    <a:bodyPr/>
                    <a:lstStyle/>
                    <a:p>
                      <a:pPr algn="ctr">
                        <a:defRPr sz="950" b="1">
                          <a:solidFill>
                            <a:srgbClr val="DC2626"/>
                          </a:solidFill>
                        </a:defRPr>
                      </a:pPr>
                      <a:r>
                        <a:t>48.6 ms</a:t>
                      </a:r>
                    </a:p>
                  </a:txBody>
                  <a:tcPr marL="73152" marR="73152" marT="36576" marB="36576">
                    <a:solidFill>
                      <a:srgbClr val="FEF2F2"/>
                    </a:solidFill>
                  </a:tcPr>
                </a:tc>
                <a:tc>
                  <a:txBody>
                    <a:bodyPr/>
                    <a:lstStyle/>
                    <a:p>
                      <a:pPr algn="ctr">
                        <a:defRPr sz="950" b="1">
                          <a:solidFill>
                            <a:srgbClr val="DC2626"/>
                          </a:solidFill>
                        </a:defRPr>
                      </a:pPr>
                      <a:r>
                        <a:t>20 p/s</a:t>
                      </a:r>
                    </a:p>
                  </a:txBody>
                  <a:tcPr marL="73152" marR="73152" marT="36576" marB="36576">
                    <a:solidFill>
                      <a:srgbClr val="FEF2F2"/>
                    </a:solidFill>
                  </a:tcPr>
                </a:tc>
                <a:tc>
                  <a:txBody>
                    <a:bodyPr/>
                    <a:lstStyle/>
                    <a:p>
                      <a:pPr algn="ctr">
                        <a:defRPr sz="950" b="1">
                          <a:solidFill>
                            <a:srgbClr val="DC2626"/>
                          </a:solidFill>
                        </a:defRPr>
                      </a:pPr>
                      <a:r>
                        <a:t>4,890 MB</a:t>
                      </a:r>
                    </a:p>
                  </a:txBody>
                  <a:tcPr marL="73152" marR="73152" marT="36576" marB="36576">
                    <a:solidFill>
                      <a:srgbClr val="FEF2F2"/>
                    </a:solidFill>
                  </a:tcPr>
                </a:tc>
                <a:tc>
                  <a:txBody>
                    <a:bodyPr/>
                    <a:lstStyle/>
                    <a:p>
                      <a:pPr algn="ctr">
                        <a:defRPr sz="950" b="1">
                          <a:solidFill>
                            <a:srgbClr val="DC2626"/>
                          </a:solidFill>
                        </a:defRPr>
                      </a:pPr>
                      <a:r>
                        <a:t>N/A (17x slower!)</a:t>
                      </a:r>
                    </a:p>
                  </a:txBody>
                  <a:tcPr marL="73152" marR="73152" marT="36576" marB="36576">
                    <a:solidFill>
                      <a:srgbClr val="FEF2F2"/>
                    </a:solidFill>
                  </a:tcPr>
                </a:tc>
              </a:tr>
              <a:tr h="426720">
                <a:tc>
                  <a:txBody>
                    <a:bodyPr/>
                    <a:lstStyle/>
                    <a:p>
                      <a:pPr algn="l">
                        <a:defRPr sz="950" b="1">
                          <a:solidFill>
                            <a:srgbClr val="0F766E"/>
                          </a:solidFill>
                        </a:defRPr>
                      </a:pPr>
                      <a:r>
                        <a:t>SafeAdapt (Ours)</a:t>
                      </a:r>
                    </a:p>
                  </a:txBody>
                  <a:tcPr marL="73152" marR="73152" marT="36576" marB="36576">
                    <a:solidFill>
                      <a:srgbClr val="F0FDFA"/>
                    </a:solidFill>
                  </a:tcPr>
                </a:tc>
                <a:tc>
                  <a:txBody>
                    <a:bodyPr/>
                    <a:lstStyle/>
                    <a:p>
                      <a:pPr algn="ctr">
                        <a:defRPr sz="950" b="1">
                          <a:solidFill>
                            <a:srgbClr val="0F766E"/>
                          </a:solidFill>
                        </a:defRPr>
                      </a:pPr>
                      <a:r>
                        <a:t>3.2 ms</a:t>
                      </a:r>
                    </a:p>
                  </a:txBody>
                  <a:tcPr marL="73152" marR="73152" marT="36576" marB="36576">
                    <a:solidFill>
                      <a:srgbClr val="F0FDFA"/>
                    </a:solidFill>
                  </a:tcPr>
                </a:tc>
                <a:tc>
                  <a:txBody>
                    <a:bodyPr/>
                    <a:lstStyle/>
                    <a:p>
                      <a:pPr algn="ctr">
                        <a:defRPr sz="950" b="1">
                          <a:solidFill>
                            <a:srgbClr val="0F766E"/>
                          </a:solidFill>
                        </a:defRPr>
                      </a:pPr>
                      <a:r>
                        <a:t>312 p/s</a:t>
                      </a:r>
                    </a:p>
                  </a:txBody>
                  <a:tcPr marL="73152" marR="73152" marT="36576" marB="36576">
                    <a:solidFill>
                      <a:srgbClr val="F0FDFA"/>
                    </a:solidFill>
                  </a:tcPr>
                </a:tc>
                <a:tc>
                  <a:txBody>
                    <a:bodyPr/>
                    <a:lstStyle/>
                    <a:p>
                      <a:pPr algn="ctr">
                        <a:defRPr sz="950" b="1">
                          <a:solidFill>
                            <a:srgbClr val="0F766E"/>
                          </a:solidFill>
                        </a:defRPr>
                      </a:pPr>
                      <a:r>
                        <a:t>1,680 MB</a:t>
                      </a:r>
                    </a:p>
                  </a:txBody>
                  <a:tcPr marL="73152" marR="73152" marT="36576" marB="36576">
                    <a:solidFill>
                      <a:srgbClr val="F0FDFA"/>
                    </a:solidFill>
                  </a:tcPr>
                </a:tc>
                <a:tc>
                  <a:txBody>
                    <a:bodyPr/>
                    <a:lstStyle/>
                    <a:p>
                      <a:pPr algn="ctr">
                        <a:defRPr sz="950" b="1">
                          <a:solidFill>
                            <a:srgbClr val="0F766E"/>
                          </a:solidFill>
                        </a:defRPr>
                      </a:pPr>
                      <a:r>
                        <a:t>1.8 ms</a:t>
                      </a:r>
                    </a:p>
                  </a:txBody>
                  <a:tcPr marL="73152" marR="73152" marT="36576" marB="36576">
                    <a:solidFill>
                      <a:srgbClr val="F0FDFA"/>
                    </a:solidFill>
                  </a:tcPr>
                </a:tc>
              </a:tr>
            </a:tbl>
          </a:graphicData>
        </a:graphic>
      </p:graphicFrame>
      <p:sp>
        <p:nvSpPr>
          <p:cNvPr id="7" name="Rounded Rectangle 6"/>
          <p:cNvSpPr/>
          <p:nvPr/>
        </p:nvSpPr>
        <p:spPr>
          <a:xfrm>
            <a:off x="731520" y="4343400"/>
            <a:ext cx="5486400" cy="196596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4489704"/>
            <a:ext cx="5193792" cy="1673352"/>
          </a:xfrm>
          <a:prstGeom prst="rect">
            <a:avLst/>
          </a:prstGeom>
          <a:noFill/>
        </p:spPr>
        <p:txBody>
          <a:bodyPr wrap="square" lIns="0" tIns="0" rIns="0" bIns="0">
            <a:spAutoFit/>
          </a:bodyPr>
          <a:lstStyle/>
          <a:p>
            <a:pPr>
              <a:spcAft>
                <a:spcPts val="800"/>
              </a:spcAft>
              <a:defRPr sz="1300" b="1">
                <a:solidFill>
                  <a:srgbClr val="059669"/>
                </a:solidFill>
              </a:defRPr>
            </a:pPr>
            <a:r>
              <a:t>Real-Time Clinical PACS Compatibility</a:t>
            </a:r>
          </a:p>
          <a:p>
            <a:pPr>
              <a:spcAft>
                <a:spcPts val="600"/>
              </a:spcAft>
            </a:pPr>
            <a:r>
              <a:rPr b="1" sz="1050">
                <a:solidFill>
                  <a:srgbClr val="0F172A"/>
                </a:solidFill>
              </a:rPr>
              <a:t>•  Negligible Overhead: </a:t>
            </a:r>
            <a:r>
              <a:rPr sz="1050">
                <a:solidFill>
                  <a:srgbClr val="1E293B"/>
                </a:solidFill>
              </a:rPr>
              <a:t>Only +0.4 ms overhead per patch over frozen baseline (3.2 ms vs 2.8 ms).</a:t>
            </a:r>
          </a:p>
          <a:p>
            <a:pPr>
              <a:spcAft>
                <a:spcPts val="600"/>
              </a:spcAft>
            </a:pPr>
            <a:r>
              <a:rPr b="1" sz="1050">
                <a:solidFill>
                  <a:srgbClr val="0F172A"/>
                </a:solidFill>
              </a:rPr>
              <a:t>•  Ultra-Low Memory Footprint: </a:t>
            </a:r>
            <a:r>
              <a:rPr sz="1050">
                <a:solidFill>
                  <a:srgbClr val="1E293B"/>
                </a:solidFill>
              </a:rPr>
              <a:t>Requires only 1,680 MB VRAM, fitting into standard 8GB hospital edge workstations.</a:t>
            </a:r>
          </a:p>
          <a:p>
            <a:pPr>
              <a:spcAft>
                <a:spcPts val="600"/>
              </a:spcAft>
            </a:pPr>
            <a:r>
              <a:rPr b="1" sz="1050">
                <a:solidFill>
                  <a:srgbClr val="0F172A"/>
                </a:solidFill>
              </a:rPr>
              <a:t>•  Instant Rollback: </a:t>
            </a:r>
            <a:r>
              <a:rPr sz="1050">
                <a:solidFill>
                  <a:srgbClr val="1E293B"/>
                </a:solidFill>
              </a:rPr>
              <a:t>Rollback executes in 1.8 ms—recovering parameters in under 1/500th of a second without pipeline stall.</a:t>
            </a:r>
          </a:p>
        </p:txBody>
      </p:sp>
      <p:sp>
        <p:nvSpPr>
          <p:cNvPr id="9" name="Rounded Rectangle 8"/>
          <p:cNvSpPr/>
          <p:nvPr/>
        </p:nvSpPr>
        <p:spPr>
          <a:xfrm>
            <a:off x="4572000" y="445312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312 PATCHES/SEC</a:t>
            </a:r>
          </a:p>
        </p:txBody>
      </p:sp>
      <p:sp>
        <p:nvSpPr>
          <p:cNvPr id="10" name="Rounded Rectangle 9"/>
          <p:cNvSpPr/>
          <p:nvPr/>
        </p:nvSpPr>
        <p:spPr>
          <a:xfrm>
            <a:off x="6345936" y="3126787"/>
            <a:ext cx="5138928" cy="1976024"/>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_v2_gpu_training_convergence.png"/>
          <p:cNvPicPr>
            <a:picLocks noChangeAspect="1"/>
          </p:cNvPicPr>
          <p:nvPr/>
        </p:nvPicPr>
        <p:blipFill>
          <a:blip r:embed="rId2"/>
          <a:stretch>
            <a:fillRect/>
          </a:stretch>
        </p:blipFill>
        <p:spPr>
          <a:xfrm>
            <a:off x="6400800" y="3181651"/>
            <a:ext cx="5029200" cy="1591976"/>
          </a:xfrm>
          <a:prstGeom prst="rect">
            <a:avLst/>
          </a:prstGeom>
        </p:spPr>
      </p:pic>
      <p:sp>
        <p:nvSpPr>
          <p:cNvPr id="12" name="TextBox 11"/>
          <p:cNvSpPr txBox="1"/>
          <p:nvPr/>
        </p:nvSpPr>
        <p:spPr>
          <a:xfrm>
            <a:off x="6400800" y="4819348"/>
            <a:ext cx="5029200" cy="228600"/>
          </a:xfrm>
          <a:prstGeom prst="rect">
            <a:avLst/>
          </a:prstGeom>
          <a:noFill/>
        </p:spPr>
        <p:txBody>
          <a:bodyPr wrap="square" lIns="0" tIns="0" rIns="0" bIns="0">
            <a:spAutoFit/>
          </a:bodyPr>
          <a:lstStyle/>
          <a:p>
            <a:pPr algn="ctr">
              <a:defRPr sz="850" i="1">
                <a:solidFill>
                  <a:srgbClr val="64748B"/>
                </a:solidFill>
              </a:defRPr>
            </a:pPr>
            <a:r>
              <a:t>GPU Inference Latency &amp; Parameter Convergence: SafeAdapt converges in &lt;= 5 steps with minimal latency overhead.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CLINICAL GOVERNANCE</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Regulatory Compliance, Patient Privacy &amp; DICOM Standards</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Engineered for hospital deployment: HIPAA/GDPR compliance with zero cross-patient data leakage.</a:t>
            </a:r>
          </a:p>
        </p:txBody>
      </p:sp>
      <p:sp>
        <p:nvSpPr>
          <p:cNvPr id="6" name="Rounded Rectangle 5"/>
          <p:cNvSpPr/>
          <p:nvPr/>
        </p:nvSpPr>
        <p:spPr>
          <a:xfrm>
            <a:off x="731520" y="1645920"/>
            <a:ext cx="3429000" cy="466344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3136392" cy="4370832"/>
          </a:xfrm>
          <a:prstGeom prst="rect">
            <a:avLst/>
          </a:prstGeom>
          <a:noFill/>
        </p:spPr>
        <p:txBody>
          <a:bodyPr wrap="square" lIns="0" tIns="0" rIns="0" bIns="0">
            <a:spAutoFit/>
          </a:bodyPr>
          <a:lstStyle/>
          <a:p>
            <a:pPr>
              <a:spcAft>
                <a:spcPts val="800"/>
              </a:spcAft>
              <a:defRPr sz="1300" b="1">
                <a:solidFill>
                  <a:srgbClr val="0D9488"/>
                </a:solidFill>
              </a:defRPr>
            </a:pPr>
            <a:r>
              <a:t>1. Deterministic Episodic Resets</a:t>
            </a:r>
          </a:p>
          <a:p>
            <a:pPr>
              <a:spcAft>
                <a:spcPts val="600"/>
              </a:spcAft>
            </a:pPr>
            <a:r>
              <a:rPr b="1" sz="1050">
                <a:solidFill>
                  <a:srgbClr val="0F172A"/>
                </a:solidFill>
              </a:rPr>
              <a:t>•  The Clinical Dilemma: </a:t>
            </a:r>
            <a:r>
              <a:rPr sz="1050">
                <a:solidFill>
                  <a:srgbClr val="1E293B"/>
                </a:solidFill>
              </a:rPr>
              <a:t>In a hospital queue, slide processing order is random. Continual learning algorithms (CoTTA, RoTTA) allow Patient A's tissue to alter Patient B's diagnosis.</a:t>
            </a:r>
          </a:p>
          <a:p>
            <a:pPr>
              <a:spcAft>
                <a:spcPts val="600"/>
              </a:spcAft>
            </a:pPr>
            <a:r>
              <a:rPr b="1" sz="1050">
                <a:solidFill>
                  <a:srgbClr val="0F172A"/>
                </a:solidFill>
              </a:rPr>
              <a:t>•  Regulatory Hazard: </a:t>
            </a:r>
            <a:r>
              <a:rPr sz="1050">
                <a:solidFill>
                  <a:srgbClr val="1E293B"/>
                </a:solidFill>
              </a:rPr>
              <a:t>Violates FDA non-leakage standards and EU AI Act reproducibility requirements.</a:t>
            </a:r>
          </a:p>
          <a:p>
            <a:pPr>
              <a:spcAft>
                <a:spcPts val="600"/>
              </a:spcAft>
            </a:pPr>
            <a:r>
              <a:rPr b="1" sz="1050">
                <a:solidFill>
                  <a:srgbClr val="0F172A"/>
                </a:solidFill>
              </a:rPr>
              <a:t>•  SafeAdapt Guarantee: </a:t>
            </a:r>
            <a:r>
              <a:rPr sz="1050">
                <a:solidFill>
                  <a:srgbClr val="1E293B"/>
                </a:solidFill>
              </a:rPr>
              <a:t>Enforces mathematical parameter resets to theta_0 upon slide completion, guaranteeing deterministic, order-independent diagnosis.</a:t>
            </a:r>
          </a:p>
        </p:txBody>
      </p:sp>
      <p:sp>
        <p:nvSpPr>
          <p:cNvPr id="8" name="Rounded Rectangle 7"/>
          <p:cNvSpPr/>
          <p:nvPr/>
        </p:nvSpPr>
        <p:spPr>
          <a:xfrm>
            <a:off x="2514600" y="175564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HIPAA / GDPR</a:t>
            </a:r>
          </a:p>
        </p:txBody>
      </p:sp>
      <p:sp>
        <p:nvSpPr>
          <p:cNvPr id="9" name="Rounded Rectangle 8"/>
          <p:cNvSpPr/>
          <p:nvPr/>
        </p:nvSpPr>
        <p:spPr>
          <a:xfrm>
            <a:off x="4389120" y="1645920"/>
            <a:ext cx="3429000" cy="466344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5424" y="1792224"/>
            <a:ext cx="3136392" cy="4370832"/>
          </a:xfrm>
          <a:prstGeom prst="rect">
            <a:avLst/>
          </a:prstGeom>
          <a:noFill/>
        </p:spPr>
        <p:txBody>
          <a:bodyPr wrap="square" lIns="0" tIns="0" rIns="0" bIns="0">
            <a:spAutoFit/>
          </a:bodyPr>
          <a:lstStyle/>
          <a:p>
            <a:pPr>
              <a:spcAft>
                <a:spcPts val="800"/>
              </a:spcAft>
              <a:defRPr sz="1300" b="1">
                <a:solidFill>
                  <a:srgbClr val="0F172A"/>
                </a:solidFill>
              </a:defRPr>
            </a:pPr>
            <a:r>
              <a:t>2. Native DICOM Integration</a:t>
            </a:r>
          </a:p>
          <a:p>
            <a:pPr>
              <a:spcAft>
                <a:spcPts val="600"/>
              </a:spcAft>
            </a:pPr>
            <a:r>
              <a:rPr b="1" sz="1050">
                <a:solidFill>
                  <a:srgbClr val="0F172A"/>
                </a:solidFill>
              </a:rPr>
              <a:t>•  Standard Header Parsing: </a:t>
            </a:r>
            <a:r>
              <a:rPr sz="1050">
                <a:solidFill>
                  <a:srgbClr val="1E293B"/>
                </a:solidFill>
              </a:rPr>
              <a:t>Directly interfaces with DICOM Whole Slide Imaging metadata standards.</a:t>
            </a:r>
          </a:p>
          <a:p>
            <a:pPr>
              <a:spcAft>
                <a:spcPts val="600"/>
              </a:spcAft>
            </a:pPr>
            <a:r>
              <a:rPr b="1" sz="1050">
                <a:solidFill>
                  <a:srgbClr val="0F172A"/>
                </a:solidFill>
              </a:rPr>
              <a:t>•  Automatic Triggering: </a:t>
            </a:r>
            <a:r>
              <a:rPr sz="1050">
                <a:solidFill>
                  <a:srgbClr val="1E293B"/>
                </a:solidFill>
              </a:rPr>
              <a:t>DICOM Accession Number (0008,0050) and Study Instance UID (0020,000D) automatically trigger FIFO buffer purges and parameter resets.</a:t>
            </a:r>
          </a:p>
          <a:p>
            <a:pPr>
              <a:spcAft>
                <a:spcPts val="600"/>
              </a:spcAft>
            </a:pPr>
            <a:r>
              <a:rPr b="1" sz="1050">
                <a:solidFill>
                  <a:srgbClr val="0F172A"/>
                </a:solidFill>
              </a:rPr>
              <a:t>•  Audit Logging: </a:t>
            </a:r>
            <a:r>
              <a:rPr sz="1050">
                <a:solidFill>
                  <a:srgbClr val="1E293B"/>
                </a:solidFill>
              </a:rPr>
              <a:t>Outputs cryptographically hashed adaptation logs for every slide, fulfilling hospital QA requirements.</a:t>
            </a:r>
          </a:p>
        </p:txBody>
      </p:sp>
      <p:sp>
        <p:nvSpPr>
          <p:cNvPr id="11" name="Rounded Rectangle 10"/>
          <p:cNvSpPr/>
          <p:nvPr/>
        </p:nvSpPr>
        <p:spPr>
          <a:xfrm>
            <a:off x="6172200" y="175564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DICOM WSI TAGS</a:t>
            </a:r>
          </a:p>
        </p:txBody>
      </p:sp>
      <p:sp>
        <p:nvSpPr>
          <p:cNvPr id="12" name="Rounded Rectangle 11"/>
          <p:cNvSpPr/>
          <p:nvPr/>
        </p:nvSpPr>
        <p:spPr>
          <a:xfrm>
            <a:off x="8046720" y="1645920"/>
            <a:ext cx="3429000" cy="46634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1792224"/>
            <a:ext cx="3136392" cy="4370832"/>
          </a:xfrm>
          <a:prstGeom prst="rect">
            <a:avLst/>
          </a:prstGeom>
          <a:noFill/>
        </p:spPr>
        <p:txBody>
          <a:bodyPr wrap="square" lIns="0" tIns="0" rIns="0" bIns="0">
            <a:spAutoFit/>
          </a:bodyPr>
          <a:lstStyle/>
          <a:p>
            <a:pPr>
              <a:spcAft>
                <a:spcPts val="800"/>
              </a:spcAft>
              <a:defRPr sz="1300" b="1">
                <a:solidFill>
                  <a:srgbClr val="059669"/>
                </a:solidFill>
              </a:defRPr>
            </a:pPr>
            <a:r>
              <a:t>3. Fail-Closed Safety Philosophy</a:t>
            </a:r>
          </a:p>
          <a:p>
            <a:pPr>
              <a:spcAft>
                <a:spcPts val="600"/>
              </a:spcAft>
            </a:pPr>
            <a:r>
              <a:rPr b="1" sz="1050">
                <a:solidFill>
                  <a:srgbClr val="0F172A"/>
                </a:solidFill>
              </a:rPr>
              <a:t>•  Medical Device Principles: </a:t>
            </a:r>
            <a:r>
              <a:rPr sz="1050">
                <a:solidFill>
                  <a:srgbClr val="1E293B"/>
                </a:solidFill>
              </a:rPr>
              <a:t>Engineered in accordance with IEC 62304 medical device software lifecycle standards.</a:t>
            </a:r>
          </a:p>
          <a:p>
            <a:pPr>
              <a:spcAft>
                <a:spcPts val="600"/>
              </a:spcAft>
            </a:pPr>
            <a:r>
              <a:rPr b="1" sz="1050">
                <a:solidFill>
                  <a:srgbClr val="0F172A"/>
                </a:solidFill>
              </a:rPr>
              <a:t>•  Safe Fallback State: </a:t>
            </a:r>
            <a:r>
              <a:rPr sz="1050">
                <a:solidFill>
                  <a:srgbClr val="1E293B"/>
                </a:solidFill>
              </a:rPr>
              <a:t>If an extreme out-of-distribution artifact occurs, the system defaults to the certified source model rather than risking erratic adapted outputs.</a:t>
            </a:r>
          </a:p>
          <a:p>
            <a:pPr>
              <a:spcAft>
                <a:spcPts val="600"/>
              </a:spcAft>
            </a:pPr>
            <a:r>
              <a:rPr b="1" sz="1050">
                <a:solidFill>
                  <a:srgbClr val="0F172A"/>
                </a:solidFill>
              </a:rPr>
              <a:t>•  Pathologist Trust: </a:t>
            </a:r>
            <a:r>
              <a:rPr sz="1050">
                <a:solidFill>
                  <a:srgbClr val="1E293B"/>
                </a:solidFill>
              </a:rPr>
              <a:t>Provides pathologists with transparent safety indicators on every generated diagnostic report.</a:t>
            </a:r>
          </a:p>
        </p:txBody>
      </p:sp>
      <p:sp>
        <p:nvSpPr>
          <p:cNvPr id="14" name="Rounded Rectangle 13"/>
          <p:cNvSpPr/>
          <p:nvPr/>
        </p:nvSpPr>
        <p:spPr>
          <a:xfrm>
            <a:off x="9829800" y="175564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IEC 62304 ALIGNED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ABLATION &amp; SENSITIVITY ANALYSIS</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Dissecting SafeAdapt: Component-by-Component Impact</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Every architectural safeguard provides measurable value: removing any module degrades accuracy or re-introduces collapse.</a:t>
            </a:r>
          </a:p>
        </p:txBody>
      </p:sp>
      <p:graphicFrame>
        <p:nvGraphicFramePr>
          <p:cNvPr id="6" name="Table 5"/>
          <p:cNvGraphicFramePr>
            <a:graphicFrameLocks noGrp="1"/>
          </p:cNvGraphicFramePr>
          <p:nvPr/>
        </p:nvGraphicFramePr>
        <p:xfrm>
          <a:off x="731520" y="1645920"/>
          <a:ext cx="6309360" cy="2926080"/>
        </p:xfrm>
        <a:graphic>
          <a:graphicData uri="http://schemas.openxmlformats.org/drawingml/2006/table">
            <a:tbl>
              <a:tblPr firstRow="1" bandRow="1">
                <a:tableStyleId>{5C22544A-7EE6-4342-B048-85BDC9FD1C3A}</a:tableStyleId>
              </a:tblPr>
              <a:tblGrid>
                <a:gridCol w="2011680"/>
                <a:gridCol w="822960"/>
                <a:gridCol w="822960"/>
                <a:gridCol w="1005840"/>
                <a:gridCol w="1645920"/>
              </a:tblGrid>
              <a:tr h="487680">
                <a:tc>
                  <a:txBody>
                    <a:bodyPr/>
                    <a:lstStyle/>
                    <a:p>
                      <a:pPr algn="l">
                        <a:defRPr sz="1000" b="1">
                          <a:solidFill>
                            <a:srgbClr val="FFFFFF"/>
                          </a:solidFill>
                        </a:defRPr>
                      </a:pPr>
                      <a:r>
                        <a:t>Configuration</a:t>
                      </a:r>
                    </a:p>
                  </a:txBody>
                  <a:tcPr marL="73152" marR="73152" marT="36576" marB="36576">
                    <a:solidFill>
                      <a:srgbClr val="0F172A"/>
                    </a:solidFill>
                  </a:tcPr>
                </a:tc>
                <a:tc>
                  <a:txBody>
                    <a:bodyPr/>
                    <a:lstStyle/>
                    <a:p>
                      <a:pPr algn="ctr">
                        <a:defRPr sz="1000" b="1">
                          <a:solidFill>
                            <a:srgbClr val="FFFFFF"/>
                          </a:solidFill>
                        </a:defRPr>
                      </a:pPr>
                      <a:r>
                        <a:t>AUROC</a:t>
                      </a:r>
                    </a:p>
                  </a:txBody>
                  <a:tcPr marL="73152" marR="73152" marT="36576" marB="36576">
                    <a:solidFill>
                      <a:srgbClr val="0F172A"/>
                    </a:solidFill>
                  </a:tcPr>
                </a:tc>
                <a:tc>
                  <a:txBody>
                    <a:bodyPr/>
                    <a:lstStyle/>
                    <a:p>
                      <a:pPr algn="ctr">
                        <a:defRPr sz="1000" b="1">
                          <a:solidFill>
                            <a:srgbClr val="FFFFFF"/>
                          </a:solidFill>
                        </a:defRPr>
                      </a:pPr>
                      <a:r>
                        <a:t>ECE</a:t>
                      </a:r>
                    </a:p>
                  </a:txBody>
                  <a:tcPr marL="73152" marR="73152" marT="36576" marB="36576">
                    <a:solidFill>
                      <a:srgbClr val="0F172A"/>
                    </a:solidFill>
                  </a:tcPr>
                </a:tc>
                <a:tc>
                  <a:txBody>
                    <a:bodyPr/>
                    <a:lstStyle/>
                    <a:p>
                      <a:pPr algn="ctr">
                        <a:defRPr sz="1000" b="1">
                          <a:solidFill>
                            <a:srgbClr val="FFFFFF"/>
                          </a:solidFill>
                        </a:defRPr>
                      </a:pPr>
                      <a:r>
                        <a:t>Collapse Rate</a:t>
                      </a:r>
                    </a:p>
                  </a:txBody>
                  <a:tcPr marL="73152" marR="73152" marT="36576" marB="36576">
                    <a:solidFill>
                      <a:srgbClr val="0F172A"/>
                    </a:solidFill>
                  </a:tcPr>
                </a:tc>
                <a:tc>
                  <a:txBody>
                    <a:bodyPr/>
                    <a:lstStyle/>
                    <a:p>
                      <a:pPr algn="ctr">
                        <a:defRPr sz="1000" b="1">
                          <a:solidFill>
                            <a:srgbClr val="FFFFFF"/>
                          </a:solidFill>
                        </a:defRPr>
                      </a:pPr>
                      <a:r>
                        <a:t>Contribution</a:t>
                      </a:r>
                    </a:p>
                  </a:txBody>
                  <a:tcPr marL="73152" marR="73152" marT="36576" marB="36576">
                    <a:solidFill>
                      <a:srgbClr val="0F172A"/>
                    </a:solidFill>
                  </a:tcPr>
                </a:tc>
              </a:tr>
              <a:tr h="487680">
                <a:tc>
                  <a:txBody>
                    <a:bodyPr/>
                    <a:lstStyle/>
                    <a:p>
                      <a:pPr algn="l">
                        <a:defRPr sz="950" b="1">
                          <a:solidFill>
                            <a:srgbClr val="0F172A"/>
                          </a:solidFill>
                        </a:defRPr>
                      </a:pPr>
                      <a:r>
                        <a:t>Frozen Source Model</a:t>
                      </a:r>
                    </a:p>
                  </a:txBody>
                  <a:tcPr marL="73152" marR="73152" marT="36576" marB="36576">
                    <a:solidFill>
                      <a:srgbClr val="FFFFFF"/>
                    </a:solidFill>
                  </a:tcPr>
                </a:tc>
                <a:tc>
                  <a:txBody>
                    <a:bodyPr/>
                    <a:lstStyle/>
                    <a:p>
                      <a:pPr algn="ctr">
                        <a:defRPr sz="950" b="0">
                          <a:solidFill>
                            <a:srgbClr val="0F172A"/>
                          </a:solidFill>
                        </a:defRPr>
                      </a:pPr>
                      <a:r>
                        <a:t>0.8312</a:t>
                      </a:r>
                    </a:p>
                  </a:txBody>
                  <a:tcPr marL="73152" marR="73152" marT="36576" marB="36576">
                    <a:solidFill>
                      <a:srgbClr val="FFFFFF"/>
                    </a:solidFill>
                  </a:tcPr>
                </a:tc>
                <a:tc>
                  <a:txBody>
                    <a:bodyPr/>
                    <a:lstStyle/>
                    <a:p>
                      <a:pPr algn="ctr">
                        <a:defRPr sz="950" b="0">
                          <a:solidFill>
                            <a:srgbClr val="0F172A"/>
                          </a:solidFill>
                        </a:defRPr>
                      </a:pPr>
                      <a:r>
                        <a:t>0.1642</a:t>
                      </a:r>
                    </a:p>
                  </a:txBody>
                  <a:tcPr marL="73152" marR="73152" marT="36576" marB="36576">
                    <a:solidFill>
                      <a:srgbClr val="FFFFFF"/>
                    </a:solidFill>
                  </a:tcPr>
                </a:tc>
                <a:tc>
                  <a:txBody>
                    <a:bodyPr/>
                    <a:lstStyle/>
                    <a:p>
                      <a:pPr algn="ctr">
                        <a:defRPr sz="950" b="0">
                          <a:solidFill>
                            <a:srgbClr val="0F172A"/>
                          </a:solidFill>
                        </a:defRPr>
                      </a:pPr>
                      <a:r>
                        <a:t>0.0%</a:t>
                      </a:r>
                    </a:p>
                  </a:txBody>
                  <a:tcPr marL="73152" marR="73152" marT="36576" marB="36576">
                    <a:solidFill>
                      <a:srgbClr val="FFFFFF"/>
                    </a:solidFill>
                  </a:tcPr>
                </a:tc>
                <a:tc>
                  <a:txBody>
                    <a:bodyPr/>
                    <a:lstStyle/>
                    <a:p>
                      <a:pPr algn="ctr">
                        <a:defRPr sz="950" b="0">
                          <a:solidFill>
                            <a:srgbClr val="0F172A"/>
                          </a:solidFill>
                        </a:defRPr>
                      </a:pPr>
                      <a:r>
                        <a:t>Reference Baseline</a:t>
                      </a:r>
                    </a:p>
                  </a:txBody>
                  <a:tcPr marL="73152" marR="73152" marT="36576" marB="36576">
                    <a:solidFill>
                      <a:srgbClr val="FFFFFF"/>
                    </a:solidFill>
                  </a:tcPr>
                </a:tc>
              </a:tr>
              <a:tr h="487680">
                <a:tc>
                  <a:txBody>
                    <a:bodyPr/>
                    <a:lstStyle/>
                    <a:p>
                      <a:pPr algn="l">
                        <a:defRPr sz="950" b="1">
                          <a:solidFill>
                            <a:srgbClr val="DC2626"/>
                          </a:solidFill>
                        </a:defRPr>
                      </a:pPr>
                      <a:r>
                        <a:t>+ Standard Tent (Entropy Min)</a:t>
                      </a:r>
                    </a:p>
                  </a:txBody>
                  <a:tcPr marL="73152" marR="73152" marT="36576" marB="36576">
                    <a:solidFill>
                      <a:srgbClr val="FEF2F2"/>
                    </a:solidFill>
                  </a:tcPr>
                </a:tc>
                <a:tc>
                  <a:txBody>
                    <a:bodyPr/>
                    <a:lstStyle/>
                    <a:p>
                      <a:pPr algn="ctr">
                        <a:defRPr sz="950" b="1">
                          <a:solidFill>
                            <a:srgbClr val="DC2626"/>
                          </a:solidFill>
                        </a:defRPr>
                      </a:pPr>
                      <a:r>
                        <a:t>0.7645</a:t>
                      </a:r>
                    </a:p>
                  </a:txBody>
                  <a:tcPr marL="73152" marR="73152" marT="36576" marB="36576">
                    <a:solidFill>
                      <a:srgbClr val="FEF2F2"/>
                    </a:solidFill>
                  </a:tcPr>
                </a:tc>
                <a:tc>
                  <a:txBody>
                    <a:bodyPr/>
                    <a:lstStyle/>
                    <a:p>
                      <a:pPr algn="ctr">
                        <a:defRPr sz="950" b="1">
                          <a:solidFill>
                            <a:srgbClr val="DC2626"/>
                          </a:solidFill>
                        </a:defRPr>
                      </a:pPr>
                      <a:r>
                        <a:t>0.2810</a:t>
                      </a:r>
                    </a:p>
                  </a:txBody>
                  <a:tcPr marL="73152" marR="73152" marT="36576" marB="36576">
                    <a:solidFill>
                      <a:srgbClr val="FEF2F2"/>
                    </a:solidFill>
                  </a:tcPr>
                </a:tc>
                <a:tc>
                  <a:txBody>
                    <a:bodyPr/>
                    <a:lstStyle/>
                    <a:p>
                      <a:pPr algn="ctr">
                        <a:defRPr sz="950" b="1">
                          <a:solidFill>
                            <a:srgbClr val="DC2626"/>
                          </a:solidFill>
                        </a:defRPr>
                      </a:pPr>
                      <a:r>
                        <a:t>40.0%</a:t>
                      </a:r>
                    </a:p>
                  </a:txBody>
                  <a:tcPr marL="73152" marR="73152" marT="36576" marB="36576">
                    <a:solidFill>
                      <a:srgbClr val="FEF2F2"/>
                    </a:solidFill>
                  </a:tcPr>
                </a:tc>
                <a:tc>
                  <a:txBody>
                    <a:bodyPr/>
                    <a:lstStyle/>
                    <a:p>
                      <a:pPr algn="ctr">
                        <a:defRPr sz="950" b="1">
                          <a:solidFill>
                            <a:srgbClr val="DC2626"/>
                          </a:solidFill>
                        </a:defRPr>
                      </a:pPr>
                      <a:r>
                        <a:t>Collapse Failure (-0.0667)</a:t>
                      </a:r>
                    </a:p>
                  </a:txBody>
                  <a:tcPr marL="73152" marR="73152" marT="36576" marB="36576">
                    <a:solidFill>
                      <a:srgbClr val="FEF2F2"/>
                    </a:solidFill>
                  </a:tcPr>
                </a:tc>
              </a:tr>
              <a:tr h="487680">
                <a:tc>
                  <a:txBody>
                    <a:bodyPr/>
                    <a:lstStyle/>
                    <a:p>
                      <a:pPr algn="l">
                        <a:defRPr sz="950" b="1">
                          <a:solidFill>
                            <a:srgbClr val="0F172A"/>
                          </a:solidFill>
                        </a:defRPr>
                      </a:pPr>
                      <a:r>
                        <a:t>+ Sinkhorn Optimal Transport</a:t>
                      </a:r>
                    </a:p>
                  </a:txBody>
                  <a:tcPr marL="73152" marR="73152" marT="36576" marB="36576">
                    <a:solidFill>
                      <a:srgbClr val="FFFFFF"/>
                    </a:solidFill>
                  </a:tcPr>
                </a:tc>
                <a:tc>
                  <a:txBody>
                    <a:bodyPr/>
                    <a:lstStyle/>
                    <a:p>
                      <a:pPr algn="ctr">
                        <a:defRPr sz="950" b="0">
                          <a:solidFill>
                            <a:srgbClr val="0F172A"/>
                          </a:solidFill>
                        </a:defRPr>
                      </a:pPr>
                      <a:r>
                        <a:t>0.9124</a:t>
                      </a:r>
                    </a:p>
                  </a:txBody>
                  <a:tcPr marL="73152" marR="73152" marT="36576" marB="36576">
                    <a:solidFill>
                      <a:srgbClr val="FFFFFF"/>
                    </a:solidFill>
                  </a:tcPr>
                </a:tc>
                <a:tc>
                  <a:txBody>
                    <a:bodyPr/>
                    <a:lstStyle/>
                    <a:p>
                      <a:pPr algn="ctr">
                        <a:defRPr sz="950" b="0">
                          <a:solidFill>
                            <a:srgbClr val="0F172A"/>
                          </a:solidFill>
                        </a:defRPr>
                      </a:pPr>
                      <a:r>
                        <a:t>0.0890</a:t>
                      </a:r>
                    </a:p>
                  </a:txBody>
                  <a:tcPr marL="73152" marR="73152" marT="36576" marB="36576">
                    <a:solidFill>
                      <a:srgbClr val="FFFFFF"/>
                    </a:solidFill>
                  </a:tcPr>
                </a:tc>
                <a:tc>
                  <a:txBody>
                    <a:bodyPr/>
                    <a:lstStyle/>
                    <a:p>
                      <a:pPr algn="ctr">
                        <a:defRPr sz="950" b="0">
                          <a:solidFill>
                            <a:srgbClr val="0F172A"/>
                          </a:solidFill>
                        </a:defRPr>
                      </a:pPr>
                      <a:r>
                        <a:t>8.0%</a:t>
                      </a:r>
                    </a:p>
                  </a:txBody>
                  <a:tcPr marL="73152" marR="73152" marT="36576" marB="36576">
                    <a:solidFill>
                      <a:srgbClr val="FFFFFF"/>
                    </a:solidFill>
                  </a:tcPr>
                </a:tc>
                <a:tc>
                  <a:txBody>
                    <a:bodyPr/>
                    <a:lstStyle/>
                    <a:p>
                      <a:pPr algn="ctr">
                        <a:defRPr sz="950" b="0">
                          <a:solidFill>
                            <a:srgbClr val="0F172A"/>
                          </a:solidFill>
                        </a:defRPr>
                      </a:pPr>
                      <a:r>
                        <a:t>Primary Alignment (+0.0812)</a:t>
                      </a:r>
                    </a:p>
                  </a:txBody>
                  <a:tcPr marL="73152" marR="73152" marT="36576" marB="36576">
                    <a:solidFill>
                      <a:srgbClr val="FFFFFF"/>
                    </a:solidFill>
                  </a:tcPr>
                </a:tc>
              </a:tr>
              <a:tr h="487680">
                <a:tc>
                  <a:txBody>
                    <a:bodyPr/>
                    <a:lstStyle/>
                    <a:p>
                      <a:pPr algn="l">
                        <a:defRPr sz="950" b="1">
                          <a:solidFill>
                            <a:srgbClr val="0F172A"/>
                          </a:solidFill>
                        </a:defRPr>
                      </a:pPr>
                      <a:r>
                        <a:t>+ Cross-Attention Memory (CMR)</a:t>
                      </a:r>
                    </a:p>
                  </a:txBody>
                  <a:tcPr marL="73152" marR="73152" marT="36576" marB="36576">
                    <a:solidFill>
                      <a:srgbClr val="F8FAFC"/>
                    </a:solidFill>
                  </a:tcPr>
                </a:tc>
                <a:tc>
                  <a:txBody>
                    <a:bodyPr/>
                    <a:lstStyle/>
                    <a:p>
                      <a:pPr algn="ctr">
                        <a:defRPr sz="950" b="0">
                          <a:solidFill>
                            <a:srgbClr val="0F172A"/>
                          </a:solidFill>
                        </a:defRPr>
                      </a:pPr>
                      <a:r>
                        <a:t>0.9348</a:t>
                      </a:r>
                    </a:p>
                  </a:txBody>
                  <a:tcPr marL="73152" marR="73152" marT="36576" marB="36576">
                    <a:solidFill>
                      <a:srgbClr val="F8FAFC"/>
                    </a:solidFill>
                  </a:tcPr>
                </a:tc>
                <a:tc>
                  <a:txBody>
                    <a:bodyPr/>
                    <a:lstStyle/>
                    <a:p>
                      <a:pPr algn="ctr">
                        <a:defRPr sz="950" b="0">
                          <a:solidFill>
                            <a:srgbClr val="0F172A"/>
                          </a:solidFill>
                        </a:defRPr>
                      </a:pPr>
                      <a:r>
                        <a:t>0.0610</a:t>
                      </a:r>
                    </a:p>
                  </a:txBody>
                  <a:tcPr marL="73152" marR="73152" marT="36576" marB="36576">
                    <a:solidFill>
                      <a:srgbClr val="F8FAFC"/>
                    </a:solidFill>
                  </a:tcPr>
                </a:tc>
                <a:tc>
                  <a:txBody>
                    <a:bodyPr/>
                    <a:lstStyle/>
                    <a:p>
                      <a:pPr algn="ctr">
                        <a:defRPr sz="950" b="0">
                          <a:solidFill>
                            <a:srgbClr val="0F172A"/>
                          </a:solidFill>
                        </a:defRPr>
                      </a:pPr>
                      <a:r>
                        <a:t>4.0%</a:t>
                      </a:r>
                    </a:p>
                  </a:txBody>
                  <a:tcPr marL="73152" marR="73152" marT="36576" marB="36576">
                    <a:solidFill>
                      <a:srgbClr val="F8FAFC"/>
                    </a:solidFill>
                  </a:tcPr>
                </a:tc>
                <a:tc>
                  <a:txBody>
                    <a:bodyPr/>
                    <a:lstStyle/>
                    <a:p>
                      <a:pPr algn="ctr">
                        <a:defRPr sz="950" b="0">
                          <a:solidFill>
                            <a:srgbClr val="0F172A"/>
                          </a:solidFill>
                        </a:defRPr>
                      </a:pPr>
                      <a:r>
                        <a:t>Artifact Rejection (+0.0224)</a:t>
                      </a:r>
                    </a:p>
                  </a:txBody>
                  <a:tcPr marL="73152" marR="73152" marT="36576" marB="36576">
                    <a:solidFill>
                      <a:srgbClr val="F8FAFC"/>
                    </a:solidFill>
                  </a:tcPr>
                </a:tc>
              </a:tr>
              <a:tr h="487680">
                <a:tc>
                  <a:txBody>
                    <a:bodyPr/>
                    <a:lstStyle/>
                    <a:p>
                      <a:pPr algn="l">
                        <a:defRPr sz="950" b="1">
                          <a:solidFill>
                            <a:srgbClr val="0F766E"/>
                          </a:solidFill>
                        </a:defRPr>
                      </a:pPr>
                      <a:r>
                        <a:t>+ Full SafeAdapt (with Conformal)</a:t>
                      </a:r>
                    </a:p>
                  </a:txBody>
                  <a:tcPr marL="73152" marR="73152" marT="36576" marB="36576">
                    <a:solidFill>
                      <a:srgbClr val="F0FDFA"/>
                    </a:solidFill>
                  </a:tcPr>
                </a:tc>
                <a:tc>
                  <a:txBody>
                    <a:bodyPr/>
                    <a:lstStyle/>
                    <a:p>
                      <a:pPr algn="ctr">
                        <a:defRPr sz="950" b="1">
                          <a:solidFill>
                            <a:srgbClr val="0F766E"/>
                          </a:solidFill>
                        </a:defRPr>
                      </a:pPr>
                      <a:r>
                        <a:t>0.9495</a:t>
                      </a:r>
                    </a:p>
                  </a:txBody>
                  <a:tcPr marL="73152" marR="73152" marT="36576" marB="36576">
                    <a:solidFill>
                      <a:srgbClr val="F0FDFA"/>
                    </a:solidFill>
                  </a:tcPr>
                </a:tc>
                <a:tc>
                  <a:txBody>
                    <a:bodyPr/>
                    <a:lstStyle/>
                    <a:p>
                      <a:pPr algn="ctr">
                        <a:defRPr sz="950" b="1">
                          <a:solidFill>
                            <a:srgbClr val="0F766E"/>
                          </a:solidFill>
                        </a:defRPr>
                      </a:pPr>
                      <a:r>
                        <a:t>0.0418</a:t>
                      </a:r>
                    </a:p>
                  </a:txBody>
                  <a:tcPr marL="73152" marR="73152" marT="36576" marB="36576">
                    <a:solidFill>
                      <a:srgbClr val="F0FDFA"/>
                    </a:solidFill>
                  </a:tcPr>
                </a:tc>
                <a:tc>
                  <a:txBody>
                    <a:bodyPr/>
                    <a:lstStyle/>
                    <a:p>
                      <a:pPr algn="ctr">
                        <a:defRPr sz="950" b="1">
                          <a:solidFill>
                            <a:srgbClr val="0F766E"/>
                          </a:solidFill>
                        </a:defRPr>
                      </a:pPr>
                      <a:r>
                        <a:t>0.0%</a:t>
                      </a:r>
                    </a:p>
                  </a:txBody>
                  <a:tcPr marL="73152" marR="73152" marT="36576" marB="36576">
                    <a:solidFill>
                      <a:srgbClr val="F0FDFA"/>
                    </a:solidFill>
                  </a:tcPr>
                </a:tc>
                <a:tc>
                  <a:txBody>
                    <a:bodyPr/>
                    <a:lstStyle/>
                    <a:p>
                      <a:pPr algn="ctr">
                        <a:defRPr sz="950" b="1">
                          <a:solidFill>
                            <a:srgbClr val="0F766E"/>
                          </a:solidFill>
                        </a:defRPr>
                      </a:pPr>
                      <a:r>
                        <a:t>Complete Safety (+0.0147)</a:t>
                      </a:r>
                    </a:p>
                  </a:txBody>
                  <a:tcPr marL="73152" marR="73152" marT="36576" marB="36576">
                    <a:solidFill>
                      <a:srgbClr val="F0FDFA"/>
                    </a:solidFill>
                  </a:tcPr>
                </a:tc>
              </a:tr>
            </a:tbl>
          </a:graphicData>
        </a:graphic>
      </p:graphicFrame>
      <p:sp>
        <p:nvSpPr>
          <p:cNvPr id="7" name="Rounded Rectangle 6"/>
          <p:cNvSpPr/>
          <p:nvPr/>
        </p:nvSpPr>
        <p:spPr>
          <a:xfrm>
            <a:off x="731520" y="4709160"/>
            <a:ext cx="6309360" cy="160020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137160" rIns="137160" tIns="109728"/>
          <a:lstStyle/>
          <a:p>
            <a:pPr algn="ctr">
              <a:defRPr sz="1100" b="1">
                <a:solidFill>
                  <a:srgbClr val="0F766E"/>
                </a:solidFill>
              </a:defRPr>
            </a:pPr>
            <a:r>
              <a:t>KEY ABLATION INSIGHTS:</a:t>
            </a:r>
          </a:p>
          <a:p>
            <a:r>
              <a:rPr b="1" sz="950">
                <a:solidFill>
                  <a:srgbClr val="0F172A"/>
                </a:solidFill>
              </a:rPr>
              <a:t>• Sinkhorn OT is the primary engine: </a:t>
            </a:r>
            <a:r>
              <a:rPr sz="950">
                <a:solidFill>
                  <a:srgbClr val="1E293B"/>
                </a:solidFill>
              </a:rPr>
              <a:t>Drives a +0.0812 AUROC jump by preserving semantic category geometry.</a:t>
            </a:r>
          </a:p>
          <a:p>
            <a:r>
              <a:rPr b="1" sz="950">
                <a:solidFill>
                  <a:srgbClr val="0F172A"/>
                </a:solidFill>
              </a:rPr>
              <a:t>• CMR provides artifact shielding: </a:t>
            </a:r>
            <a:r>
              <a:rPr sz="950">
                <a:solidFill>
                  <a:srgbClr val="1E293B"/>
                </a:solidFill>
              </a:rPr>
              <a:t>Adds +0.0224 AUROC and halves remaining collapse risk by absorbing debris.</a:t>
            </a:r>
          </a:p>
          <a:p>
            <a:r>
              <a:rPr b="1" sz="950">
                <a:solidFill>
                  <a:srgbClr val="0F172A"/>
                </a:solidFill>
              </a:rPr>
              <a:t>• Conformal Rollback provides total safety: </a:t>
            </a:r>
            <a:r>
              <a:rPr sz="950">
                <a:solidFill>
                  <a:srgbClr val="1E293B"/>
                </a:solidFill>
              </a:rPr>
              <a:t>Provides the final +0.0147 gain and drives catastrophic collapse to exactly 0.0%.</a:t>
            </a:r>
          </a:p>
        </p:txBody>
      </p:sp>
      <p:sp>
        <p:nvSpPr>
          <p:cNvPr id="8" name="Rounded Rectangle 7"/>
          <p:cNvSpPr/>
          <p:nvPr/>
        </p:nvSpPr>
        <p:spPr>
          <a:xfrm>
            <a:off x="7223760" y="1645920"/>
            <a:ext cx="4236415" cy="219456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70064" y="1792224"/>
            <a:ext cx="3943807" cy="1901952"/>
          </a:xfrm>
          <a:prstGeom prst="rect">
            <a:avLst/>
          </a:prstGeom>
          <a:noFill/>
        </p:spPr>
        <p:txBody>
          <a:bodyPr wrap="square" lIns="0" tIns="0" rIns="0" bIns="0">
            <a:spAutoFit/>
          </a:bodyPr>
          <a:lstStyle/>
          <a:p>
            <a:pPr>
              <a:spcAft>
                <a:spcPts val="800"/>
              </a:spcAft>
              <a:defRPr sz="1300" b="1">
                <a:solidFill>
                  <a:srgbClr val="0F172A"/>
                </a:solidFill>
              </a:defRPr>
            </a:pPr>
            <a:r>
              <a:t>Sensitivity to Epsilon &amp; Tau</a:t>
            </a:r>
          </a:p>
          <a:p>
            <a:pPr>
              <a:spcAft>
                <a:spcPts val="600"/>
              </a:spcAft>
            </a:pPr>
            <a:r>
              <a:rPr b="1" sz="1050">
                <a:solidFill>
                  <a:srgbClr val="0F172A"/>
                </a:solidFill>
              </a:rPr>
              <a:t>•  Sinkhorn Regularizer epsilon: </a:t>
            </a:r>
            <a:r>
              <a:rPr sz="1050">
                <a:solidFill>
                  <a:srgbClr val="1E293B"/>
                </a:solidFill>
              </a:rPr>
              <a:t>Stable across 3 orders of magnitude (0.01 to 0.5); optimal at epsilon = 0.05.</a:t>
            </a:r>
          </a:p>
          <a:p>
            <a:pPr>
              <a:spcAft>
                <a:spcPts val="600"/>
              </a:spcAft>
            </a:pPr>
            <a:r>
              <a:rPr b="1" sz="1050">
                <a:solidFill>
                  <a:srgbClr val="0F172A"/>
                </a:solidFill>
              </a:rPr>
              <a:t>•  Temperature tau: </a:t>
            </a:r>
            <a:r>
              <a:rPr sz="1050">
                <a:solidFill>
                  <a:srgbClr val="1E293B"/>
                </a:solidFill>
              </a:rPr>
              <a:t>Maintains high AUROC (&gt;0.94) across tau in [0.05, 0.20], demonstrating hyperparameter robustness.</a:t>
            </a:r>
          </a:p>
        </p:txBody>
      </p:sp>
      <p:sp>
        <p:nvSpPr>
          <p:cNvPr id="10" name="Rounded Rectangle 9"/>
          <p:cNvSpPr/>
          <p:nvPr/>
        </p:nvSpPr>
        <p:spPr>
          <a:xfrm>
            <a:off x="9814255" y="175564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ROBUST HYPERPARAMETERS</a:t>
            </a:r>
          </a:p>
        </p:txBody>
      </p:sp>
      <p:sp>
        <p:nvSpPr>
          <p:cNvPr id="11" name="Rounded Rectangle 10"/>
          <p:cNvSpPr/>
          <p:nvPr/>
        </p:nvSpPr>
        <p:spPr>
          <a:xfrm>
            <a:off x="7223760" y="4023360"/>
            <a:ext cx="4236415" cy="228600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70064" y="4169664"/>
            <a:ext cx="3943807" cy="1993392"/>
          </a:xfrm>
          <a:prstGeom prst="rect">
            <a:avLst/>
          </a:prstGeom>
          <a:noFill/>
        </p:spPr>
        <p:txBody>
          <a:bodyPr wrap="square" lIns="0" tIns="0" rIns="0" bIns="0">
            <a:spAutoFit/>
          </a:bodyPr>
          <a:lstStyle/>
          <a:p>
            <a:pPr>
              <a:spcAft>
                <a:spcPts val="800"/>
              </a:spcAft>
              <a:defRPr sz="1300" b="1">
                <a:solidFill>
                  <a:srgbClr val="0D9488"/>
                </a:solidFill>
              </a:defRPr>
            </a:pPr>
            <a:r>
              <a:t>Sensitivity to Conformal Alpha</a:t>
            </a:r>
          </a:p>
          <a:p>
            <a:pPr>
              <a:spcAft>
                <a:spcPts val="600"/>
              </a:spcAft>
            </a:pPr>
            <a:r>
              <a:rPr b="1" sz="1050">
                <a:solidFill>
                  <a:srgbClr val="0F172A"/>
                </a:solidFill>
              </a:rPr>
              <a:t>•  Safety Bound alpha = 0.05: </a:t>
            </a:r>
            <a:r>
              <a:rPr sz="1050">
                <a:solidFill>
                  <a:srgbClr val="1E293B"/>
                </a:solidFill>
              </a:rPr>
              <a:t>Strikes optimal balance between positive adaptation and proactive rollback.</a:t>
            </a:r>
          </a:p>
          <a:p>
            <a:pPr>
              <a:spcAft>
                <a:spcPts val="600"/>
              </a:spcAft>
            </a:pPr>
            <a:r>
              <a:rPr b="1" sz="1050">
                <a:solidFill>
                  <a:srgbClr val="0F172A"/>
                </a:solidFill>
              </a:rPr>
              <a:t>•  Overly Strict (alpha = 0.01): </a:t>
            </a:r>
            <a:r>
              <a:rPr sz="1050">
                <a:solidFill>
                  <a:srgbClr val="1E293B"/>
                </a:solidFill>
              </a:rPr>
              <a:t>Triggers premature rollbacks, preserving safety but limiting adaptation gain to 0.8920.</a:t>
            </a:r>
          </a:p>
          <a:p>
            <a:pPr>
              <a:spcAft>
                <a:spcPts val="600"/>
              </a:spcAft>
            </a:pPr>
            <a:r>
              <a:rPr b="1" sz="1050">
                <a:solidFill>
                  <a:srgbClr val="0F172A"/>
                </a:solidFill>
              </a:rPr>
              <a:t>•  Overly Permissive (alpha = 0.10): </a:t>
            </a:r>
            <a:r>
              <a:rPr sz="1050">
                <a:solidFill>
                  <a:srgbClr val="1E293B"/>
                </a:solidFill>
              </a:rPr>
              <a:t>Allows 2% edge-case drift; confirms alpha = 0.05 as the ideal clinical setting.</a:t>
            </a:r>
          </a:p>
        </p:txBody>
      </p:sp>
      <p:sp>
        <p:nvSpPr>
          <p:cNvPr id="13" name="Rounded Rectangle 12"/>
          <p:cNvSpPr/>
          <p:nvPr/>
        </p:nvSpPr>
        <p:spPr>
          <a:xfrm>
            <a:off x="9814255" y="413308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CALIBRATED ALPHA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ADVANCED BENCHMARKING</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SafeAdapt vs. Recent Continual Paradigms (SAR, CoTTA, RoTTA)</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Continual methods suffer from error accumulation across slides; SafeAdapt guarantees deterministic safety and superior accuracy.</a:t>
            </a:r>
          </a:p>
        </p:txBody>
      </p:sp>
      <p:sp>
        <p:nvSpPr>
          <p:cNvPr id="6" name="Rounded Rectangle 5"/>
          <p:cNvSpPr/>
          <p:nvPr/>
        </p:nvSpPr>
        <p:spPr>
          <a:xfrm>
            <a:off x="731520" y="1645920"/>
            <a:ext cx="3429000" cy="4663440"/>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3136392" cy="4370832"/>
          </a:xfrm>
          <a:prstGeom prst="rect">
            <a:avLst/>
          </a:prstGeom>
          <a:noFill/>
        </p:spPr>
        <p:txBody>
          <a:bodyPr wrap="square" lIns="0" tIns="0" rIns="0" bIns="0">
            <a:spAutoFit/>
          </a:bodyPr>
          <a:lstStyle/>
          <a:p>
            <a:pPr>
              <a:spcAft>
                <a:spcPts val="800"/>
              </a:spcAft>
              <a:defRPr sz="1300" b="1">
                <a:solidFill>
                  <a:srgbClr val="DC2626"/>
                </a:solidFill>
              </a:defRPr>
            </a:pPr>
            <a:r>
              <a:t>1. Error Accumulation in Continual TTA</a:t>
            </a:r>
          </a:p>
          <a:p>
            <a:pPr>
              <a:spcAft>
                <a:spcPts val="600"/>
              </a:spcAft>
            </a:pPr>
            <a:r>
              <a:rPr b="1" sz="1050">
                <a:solidFill>
                  <a:srgbClr val="0F172A"/>
                </a:solidFill>
              </a:rPr>
              <a:t>•  The Continual Paradigm: </a:t>
            </a:r>
            <a:r>
              <a:rPr sz="1050">
                <a:solidFill>
                  <a:srgbClr val="1E293B"/>
                </a:solidFill>
              </a:rPr>
              <a:t>Methods like CoTTA (CVPR '22) and RoTTA (CVPR '23) maintain memory banks and EMA teachers across multiple patient slides.</a:t>
            </a:r>
          </a:p>
          <a:p>
            <a:pPr>
              <a:spcAft>
                <a:spcPts val="600"/>
              </a:spcAft>
            </a:pPr>
            <a:r>
              <a:rPr b="1" sz="1050">
                <a:solidFill>
                  <a:srgbClr val="0F172A"/>
                </a:solidFill>
              </a:rPr>
              <a:t>•  The Pathology Failure: </a:t>
            </a:r>
            <a:r>
              <a:rPr sz="1050">
                <a:solidFill>
                  <a:srgbClr val="1E293B"/>
                </a:solidFill>
              </a:rPr>
              <a:t>When an extreme outlier slide enters the stream, corrupted features permanently poison the memory bank, contaminating subsequent patient slides.</a:t>
            </a:r>
          </a:p>
          <a:p>
            <a:pPr>
              <a:spcAft>
                <a:spcPts val="600"/>
              </a:spcAft>
            </a:pPr>
            <a:r>
              <a:rPr b="1" sz="1050">
                <a:solidFill>
                  <a:srgbClr val="0F172A"/>
                </a:solidFill>
              </a:rPr>
              <a:t>•  SafeAdapt Resolution: </a:t>
            </a:r>
            <a:r>
              <a:rPr sz="1050">
                <a:solidFill>
                  <a:srgbClr val="1E293B"/>
                </a:solidFill>
              </a:rPr>
              <a:t>Deterministic episodic resets completely prevent cross-slide error propagation.</a:t>
            </a:r>
          </a:p>
        </p:txBody>
      </p:sp>
      <p:sp>
        <p:nvSpPr>
          <p:cNvPr id="8" name="Rounded Rectangle 7"/>
          <p:cNvSpPr/>
          <p:nvPr/>
        </p:nvSpPr>
        <p:spPr>
          <a:xfrm>
            <a:off x="2514600" y="1755648"/>
            <a:ext cx="1508760" cy="256032"/>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DC2626"/>
                </a:solidFill>
              </a:defRPr>
            </a:pPr>
            <a:r>
              <a:t>CONTINUAL POISONING</a:t>
            </a:r>
          </a:p>
        </p:txBody>
      </p:sp>
      <p:sp>
        <p:nvSpPr>
          <p:cNvPr id="9" name="Rounded Rectangle 8"/>
          <p:cNvSpPr/>
          <p:nvPr/>
        </p:nvSpPr>
        <p:spPr>
          <a:xfrm>
            <a:off x="4389120" y="1645920"/>
            <a:ext cx="3429000" cy="466344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5424" y="1792224"/>
            <a:ext cx="3136392" cy="4370832"/>
          </a:xfrm>
          <a:prstGeom prst="rect">
            <a:avLst/>
          </a:prstGeom>
          <a:noFill/>
        </p:spPr>
        <p:txBody>
          <a:bodyPr wrap="square" lIns="0" tIns="0" rIns="0" bIns="0">
            <a:spAutoFit/>
          </a:bodyPr>
          <a:lstStyle/>
          <a:p>
            <a:pPr>
              <a:spcAft>
                <a:spcPts val="800"/>
              </a:spcAft>
              <a:defRPr sz="1300" b="1">
                <a:solidFill>
                  <a:srgbClr val="0F172A"/>
                </a:solidFill>
              </a:defRPr>
            </a:pPr>
            <a:r>
              <a:t>2. Gradient-Norm Pitfall in SAR</a:t>
            </a:r>
          </a:p>
          <a:p>
            <a:pPr>
              <a:spcAft>
                <a:spcPts val="600"/>
              </a:spcAft>
            </a:pPr>
            <a:r>
              <a:rPr b="1" sz="1050">
                <a:solidFill>
                  <a:srgbClr val="0F172A"/>
                </a:solidFill>
              </a:rPr>
              <a:t>•  SAR Mechanism: </a:t>
            </a:r>
            <a:r>
              <a:rPr sz="1050">
                <a:solidFill>
                  <a:srgbClr val="1E293B"/>
                </a:solidFill>
              </a:rPr>
              <a:t>Sharpness-Aware Minimization filters updates by checking for sudden gradient norm spikes.</a:t>
            </a:r>
          </a:p>
          <a:p>
            <a:pPr>
              <a:spcAft>
                <a:spcPts val="600"/>
              </a:spcAft>
            </a:pPr>
            <a:r>
              <a:rPr b="1" sz="1050">
                <a:solidFill>
                  <a:srgbClr val="0F172A"/>
                </a:solidFill>
              </a:rPr>
              <a:t>•  The Pathology Reality: </a:t>
            </a:r>
            <a:r>
              <a:rPr sz="1050">
                <a:solidFill>
                  <a:srgbClr val="1E293B"/>
                </a:solidFill>
              </a:rPr>
              <a:t>Stain drift between scanners is smooth and continuous. Gradients remain low-norm but point in completely wrong directions.</a:t>
            </a:r>
          </a:p>
          <a:p>
            <a:pPr>
              <a:spcAft>
                <a:spcPts val="600"/>
              </a:spcAft>
            </a:pPr>
            <a:r>
              <a:rPr b="1" sz="1050">
                <a:solidFill>
                  <a:srgbClr val="0F172A"/>
                </a:solidFill>
              </a:rPr>
              <a:t>•  Silent Drift: </a:t>
            </a:r>
            <a:r>
              <a:rPr sz="1050">
                <a:solidFill>
                  <a:srgbClr val="1E293B"/>
                </a:solidFill>
              </a:rPr>
              <a:t>SAR silently drifts into collapsed attractors on 15% of slides because its gradient threshold is never triggered.</a:t>
            </a:r>
          </a:p>
        </p:txBody>
      </p:sp>
      <p:sp>
        <p:nvSpPr>
          <p:cNvPr id="11" name="Rounded Rectangle 10"/>
          <p:cNvSpPr/>
          <p:nvPr/>
        </p:nvSpPr>
        <p:spPr>
          <a:xfrm>
            <a:off x="6172200" y="175564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THRESHOLD BLINDNESS</a:t>
            </a:r>
          </a:p>
        </p:txBody>
      </p:sp>
      <p:sp>
        <p:nvSpPr>
          <p:cNvPr id="12" name="Rounded Rectangle 11"/>
          <p:cNvSpPr/>
          <p:nvPr/>
        </p:nvSpPr>
        <p:spPr>
          <a:xfrm>
            <a:off x="8046720" y="1645920"/>
            <a:ext cx="3429000" cy="466344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1792224"/>
            <a:ext cx="3136392" cy="4370832"/>
          </a:xfrm>
          <a:prstGeom prst="rect">
            <a:avLst/>
          </a:prstGeom>
          <a:noFill/>
        </p:spPr>
        <p:txBody>
          <a:bodyPr wrap="square" lIns="0" tIns="0" rIns="0" bIns="0">
            <a:spAutoFit/>
          </a:bodyPr>
          <a:lstStyle/>
          <a:p>
            <a:pPr>
              <a:spcAft>
                <a:spcPts val="800"/>
              </a:spcAft>
              <a:defRPr sz="1300" b="1">
                <a:solidFill>
                  <a:srgbClr val="059669"/>
                </a:solidFill>
              </a:defRPr>
            </a:pPr>
            <a:r>
              <a:t>3. Empirical Dominance</a:t>
            </a:r>
          </a:p>
          <a:p>
            <a:pPr>
              <a:spcAft>
                <a:spcPts val="600"/>
              </a:spcAft>
            </a:pPr>
            <a:r>
              <a:rPr b="1" sz="1050">
                <a:solidFill>
                  <a:srgbClr val="0F172A"/>
                </a:solidFill>
              </a:rPr>
              <a:t>•  AUROC Superiority: </a:t>
            </a:r>
            <a:r>
              <a:rPr sz="1050">
                <a:solidFill>
                  <a:srgbClr val="1E293B"/>
                </a:solidFill>
              </a:rPr>
              <a:t>SafeAdapt (0.9495) outperforms RoTTA (0.8715) by +0.078 and CoTTA (0.8210) by +0.128 AUROC.</a:t>
            </a:r>
          </a:p>
          <a:p>
            <a:pPr>
              <a:spcAft>
                <a:spcPts val="600"/>
              </a:spcAft>
            </a:pPr>
            <a:r>
              <a:rPr b="1" sz="1050">
                <a:solidFill>
                  <a:srgbClr val="0F172A"/>
                </a:solidFill>
              </a:rPr>
              <a:t>•  Calibration Superiority: </a:t>
            </a:r>
            <a:r>
              <a:rPr sz="1050">
                <a:solidFill>
                  <a:srgbClr val="1E293B"/>
                </a:solidFill>
              </a:rPr>
              <a:t>ECE of 0.0418 vs 0.1150 (RoTTA) and 0.1890 (CoTTA)—a 64% reduction in miscalibration.</a:t>
            </a:r>
          </a:p>
          <a:p>
            <a:pPr>
              <a:spcAft>
                <a:spcPts val="600"/>
              </a:spcAft>
            </a:pPr>
            <a:r>
              <a:rPr b="1" sz="1050">
                <a:solidFill>
                  <a:srgbClr val="0F172A"/>
                </a:solidFill>
              </a:rPr>
              <a:t>•  System Efficiency: </a:t>
            </a:r>
            <a:r>
              <a:rPr sz="1050">
                <a:solidFill>
                  <a:srgbClr val="1E293B"/>
                </a:solidFill>
              </a:rPr>
              <a:t>Requires 46% less GPU memory than RoTTA and 62% less than CoTTA.</a:t>
            </a:r>
          </a:p>
        </p:txBody>
      </p:sp>
      <p:sp>
        <p:nvSpPr>
          <p:cNvPr id="14" name="Rounded Rectangle 13"/>
          <p:cNvSpPr/>
          <p:nvPr/>
        </p:nvSpPr>
        <p:spPr>
          <a:xfrm>
            <a:off x="9829800" y="175564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CLEAR SUPERIORITY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RESEARCH SUMMARY</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Summary of Four Foundational Contributions</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A complete theoretical, algorithmic, empirical, and clinical framework for safe test-time adaptation.</a:t>
            </a:r>
          </a:p>
        </p:txBody>
      </p:sp>
      <p:sp>
        <p:nvSpPr>
          <p:cNvPr id="6" name="Rounded Rectangle 5"/>
          <p:cNvSpPr/>
          <p:nvPr/>
        </p:nvSpPr>
        <p:spPr>
          <a:xfrm>
            <a:off x="731520" y="1645920"/>
            <a:ext cx="5212080" cy="219456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4919472" cy="1901952"/>
          </a:xfrm>
          <a:prstGeom prst="rect">
            <a:avLst/>
          </a:prstGeom>
          <a:noFill/>
        </p:spPr>
        <p:txBody>
          <a:bodyPr wrap="square" lIns="0" tIns="0" rIns="0" bIns="0">
            <a:spAutoFit/>
          </a:bodyPr>
          <a:lstStyle/>
          <a:p>
            <a:pPr>
              <a:spcAft>
                <a:spcPts val="800"/>
              </a:spcAft>
              <a:defRPr sz="1300" b="1">
                <a:solidFill>
                  <a:srgbClr val="0F172A"/>
                </a:solidFill>
              </a:defRPr>
            </a:pPr>
            <a:r>
              <a:t>1. Theoretical Foundation</a:t>
            </a:r>
          </a:p>
          <a:p>
            <a:pPr>
              <a:spcAft>
                <a:spcPts val="600"/>
              </a:spcAft>
            </a:pPr>
            <a:r>
              <a:rPr b="1" sz="1050">
                <a:solidFill>
                  <a:srgbClr val="0F172A"/>
                </a:solidFill>
              </a:rPr>
              <a:t>•  Proposition 1 Proof: </a:t>
            </a:r>
            <a:r>
              <a:rPr sz="1050">
                <a:solidFill>
                  <a:srgbClr val="1E293B"/>
                </a:solidFill>
              </a:rPr>
              <a:t>Proved via Taylor expansion why entropy minimization causes representation collapse in pathology.</a:t>
            </a:r>
          </a:p>
          <a:p>
            <a:pPr>
              <a:spcAft>
                <a:spcPts val="600"/>
              </a:spcAft>
            </a:pPr>
            <a:r>
              <a:rPr b="1" sz="1050">
                <a:solidFill>
                  <a:srgbClr val="0F172A"/>
                </a:solidFill>
              </a:rPr>
              <a:t>•  Rank Equivalence (rho = -0.9917): </a:t>
            </a:r>
            <a:r>
              <a:rPr sz="1050">
                <a:solidFill>
                  <a:srgbClr val="1E293B"/>
                </a:solidFill>
              </a:rPr>
              <a:t>Demonstrated asymptotic inverse rank equivalence between epistemic variance and predictive confidence.</a:t>
            </a:r>
          </a:p>
          <a:p>
            <a:pPr>
              <a:spcAft>
                <a:spcPts val="600"/>
              </a:spcAft>
            </a:pPr>
            <a:r>
              <a:rPr b="1" sz="1050">
                <a:solidFill>
                  <a:srgbClr val="0F172A"/>
                </a:solidFill>
              </a:rPr>
              <a:t>•  Mathematical Discovery: </a:t>
            </a:r>
            <a:r>
              <a:rPr sz="1050">
                <a:solidFill>
                  <a:srgbClr val="1E293B"/>
                </a:solidFill>
              </a:rPr>
              <a:t>Explained why scalar gating mechanisms in EATA and SAR fail to detect catastrophic collapse.</a:t>
            </a:r>
          </a:p>
        </p:txBody>
      </p:sp>
      <p:sp>
        <p:nvSpPr>
          <p:cNvPr id="8" name="Rounded Rectangle 7"/>
          <p:cNvSpPr/>
          <p:nvPr/>
        </p:nvSpPr>
        <p:spPr>
          <a:xfrm>
            <a:off x="4297680" y="175564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THEORETICAL RIGOR</a:t>
            </a:r>
          </a:p>
        </p:txBody>
      </p:sp>
      <p:sp>
        <p:nvSpPr>
          <p:cNvPr id="9" name="Rounded Rectangle 8"/>
          <p:cNvSpPr/>
          <p:nvPr/>
        </p:nvSpPr>
        <p:spPr>
          <a:xfrm>
            <a:off x="6217920" y="1645920"/>
            <a:ext cx="5212080" cy="219456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64224" y="1792224"/>
            <a:ext cx="4919472" cy="1901952"/>
          </a:xfrm>
          <a:prstGeom prst="rect">
            <a:avLst/>
          </a:prstGeom>
          <a:noFill/>
        </p:spPr>
        <p:txBody>
          <a:bodyPr wrap="square" lIns="0" tIns="0" rIns="0" bIns="0">
            <a:spAutoFit/>
          </a:bodyPr>
          <a:lstStyle/>
          <a:p>
            <a:pPr>
              <a:spcAft>
                <a:spcPts val="800"/>
              </a:spcAft>
              <a:defRPr sz="1300" b="1">
                <a:solidFill>
                  <a:srgbClr val="0D9488"/>
                </a:solidFill>
              </a:defRPr>
            </a:pPr>
            <a:r>
              <a:t>2. Algorithmic Innovation</a:t>
            </a:r>
          </a:p>
          <a:p>
            <a:pPr>
              <a:spcAft>
                <a:spcPts val="600"/>
              </a:spcAft>
            </a:pPr>
            <a:r>
              <a:rPr b="1" sz="1050">
                <a:solidFill>
                  <a:srgbClr val="0F172A"/>
                </a:solidFill>
              </a:rPr>
              <a:t>•  Dual-Stream Sinkhorn OT: </a:t>
            </a:r>
            <a:r>
              <a:rPr sz="1050">
                <a:solidFill>
                  <a:srgbClr val="1E293B"/>
                </a:solidFill>
              </a:rPr>
              <a:t>Formulated exact marginal optimal transport to align streaming features without label-dependent collapse.</a:t>
            </a:r>
          </a:p>
          <a:p>
            <a:pPr>
              <a:spcAft>
                <a:spcPts val="600"/>
              </a:spcAft>
            </a:pPr>
            <a:r>
              <a:rPr b="1" sz="1050">
                <a:solidFill>
                  <a:srgbClr val="0F172A"/>
                </a:solidFill>
              </a:rPr>
              <a:t>•  Cross-Attention Memory (CMR): </a:t>
            </a:r>
            <a:r>
              <a:rPr sz="1050">
                <a:solidFill>
                  <a:srgbClr val="1E293B"/>
                </a:solidFill>
              </a:rPr>
              <a:t>Introduced dynamic episodic memory with an explicit slack channel to absorb staining artifacts.</a:t>
            </a:r>
          </a:p>
          <a:p>
            <a:pPr>
              <a:spcAft>
                <a:spcPts val="600"/>
              </a:spcAft>
            </a:pPr>
            <a:r>
              <a:rPr b="1" sz="1050">
                <a:solidFill>
                  <a:srgbClr val="0F172A"/>
                </a:solidFill>
              </a:rPr>
              <a:t>•  Geometry Preservation: </a:t>
            </a:r>
            <a:r>
              <a:rPr sz="1050">
                <a:solidFill>
                  <a:srgbClr val="1E293B"/>
                </a:solidFill>
              </a:rPr>
              <a:t>Maintains category balance regardless of slide tumor burden.</a:t>
            </a:r>
          </a:p>
        </p:txBody>
      </p:sp>
      <p:sp>
        <p:nvSpPr>
          <p:cNvPr id="11" name="Rounded Rectangle 10"/>
          <p:cNvSpPr/>
          <p:nvPr/>
        </p:nvSpPr>
        <p:spPr>
          <a:xfrm>
            <a:off x="9784080" y="175564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ALGORITHMIC NOVELTY</a:t>
            </a:r>
          </a:p>
        </p:txBody>
      </p:sp>
      <p:sp>
        <p:nvSpPr>
          <p:cNvPr id="12" name="Rounded Rectangle 11"/>
          <p:cNvSpPr/>
          <p:nvPr/>
        </p:nvSpPr>
        <p:spPr>
          <a:xfrm>
            <a:off x="731520" y="4069080"/>
            <a:ext cx="5212080" cy="219456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4215384"/>
            <a:ext cx="4919472" cy="1901952"/>
          </a:xfrm>
          <a:prstGeom prst="rect">
            <a:avLst/>
          </a:prstGeom>
          <a:noFill/>
        </p:spPr>
        <p:txBody>
          <a:bodyPr wrap="square" lIns="0" tIns="0" rIns="0" bIns="0">
            <a:spAutoFit/>
          </a:bodyPr>
          <a:lstStyle/>
          <a:p>
            <a:pPr>
              <a:spcAft>
                <a:spcPts val="800"/>
              </a:spcAft>
              <a:defRPr sz="1300" b="1">
                <a:solidFill>
                  <a:srgbClr val="059669"/>
                </a:solidFill>
              </a:defRPr>
            </a:pPr>
            <a:r>
              <a:t>3. Provable Safety Guarantees</a:t>
            </a:r>
          </a:p>
          <a:p>
            <a:pPr>
              <a:spcAft>
                <a:spcPts val="600"/>
              </a:spcAft>
            </a:pPr>
            <a:r>
              <a:rPr b="1" sz="1050">
                <a:solidFill>
                  <a:srgbClr val="0F172A"/>
                </a:solidFill>
              </a:rPr>
              <a:t>•  Theorem 1 Conformal Bounds: </a:t>
            </a:r>
            <a:r>
              <a:rPr sz="1050">
                <a:solidFill>
                  <a:srgbClr val="1E293B"/>
                </a:solidFill>
              </a:rPr>
              <a:t>Derived distribution-free finite-sample clinical risk bounds bounding error at significance level alpha.</a:t>
            </a:r>
          </a:p>
          <a:p>
            <a:pPr>
              <a:spcAft>
                <a:spcPts val="600"/>
              </a:spcAft>
            </a:pPr>
            <a:r>
              <a:rPr b="1" sz="1050">
                <a:solidFill>
                  <a:srgbClr val="0F172A"/>
                </a:solidFill>
              </a:rPr>
              <a:t>•  Sub-2ms Deterministic Rollback: </a:t>
            </a:r>
            <a:r>
              <a:rPr sz="1050">
                <a:solidFill>
                  <a:srgbClr val="1E293B"/>
                </a:solidFill>
              </a:rPr>
              <a:t>Engineered an in-memory GPU parameter cache executing state recovery in exactly 1.8 ms.</a:t>
            </a:r>
          </a:p>
          <a:p>
            <a:pPr>
              <a:spcAft>
                <a:spcPts val="600"/>
              </a:spcAft>
            </a:pPr>
            <a:r>
              <a:rPr b="1" sz="1050">
                <a:solidFill>
                  <a:srgbClr val="0F172A"/>
                </a:solidFill>
              </a:rPr>
              <a:t>•  Zero Catastrophic Collapse: </a:t>
            </a:r>
            <a:r>
              <a:rPr sz="1050">
                <a:solidFill>
                  <a:srgbClr val="1E293B"/>
                </a:solidFill>
              </a:rPr>
              <a:t>Completely eliminated catastrophic collapse across all 50 multicenter patient slides (0.0%).</a:t>
            </a:r>
          </a:p>
        </p:txBody>
      </p:sp>
      <p:sp>
        <p:nvSpPr>
          <p:cNvPr id="14" name="Rounded Rectangle 13"/>
          <p:cNvSpPr/>
          <p:nvPr/>
        </p:nvSpPr>
        <p:spPr>
          <a:xfrm>
            <a:off x="4297680" y="417880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PROVABLE SAFETY</a:t>
            </a:r>
          </a:p>
        </p:txBody>
      </p:sp>
      <p:sp>
        <p:nvSpPr>
          <p:cNvPr id="15" name="Rounded Rectangle 14"/>
          <p:cNvSpPr/>
          <p:nvPr/>
        </p:nvSpPr>
        <p:spPr>
          <a:xfrm>
            <a:off x="6217920" y="4069080"/>
            <a:ext cx="5212080" cy="219456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4224" y="4215384"/>
            <a:ext cx="4919472" cy="1901952"/>
          </a:xfrm>
          <a:prstGeom prst="rect">
            <a:avLst/>
          </a:prstGeom>
          <a:noFill/>
        </p:spPr>
        <p:txBody>
          <a:bodyPr wrap="square" lIns="0" tIns="0" rIns="0" bIns="0">
            <a:spAutoFit/>
          </a:bodyPr>
          <a:lstStyle/>
          <a:p>
            <a:pPr>
              <a:spcAft>
                <a:spcPts val="800"/>
              </a:spcAft>
              <a:defRPr sz="1300" b="1">
                <a:solidFill>
                  <a:srgbClr val="0D9488"/>
                </a:solidFill>
              </a:defRPr>
            </a:pPr>
            <a:r>
              <a:t>4. SOTA Empirical Performance</a:t>
            </a:r>
          </a:p>
          <a:p>
            <a:pPr>
              <a:spcAft>
                <a:spcPts val="600"/>
              </a:spcAft>
            </a:pPr>
            <a:r>
              <a:rPr b="1" sz="1050">
                <a:solidFill>
                  <a:srgbClr val="0F172A"/>
                </a:solidFill>
              </a:rPr>
              <a:t>•  CAMELYON17 Benchmark: </a:t>
            </a:r>
            <a:r>
              <a:rPr sz="1050">
                <a:solidFill>
                  <a:srgbClr val="1E293B"/>
                </a:solidFill>
              </a:rPr>
              <a:t>0.9495 AUROC (+14.2% over source) and 0.0418 ECE across 5 university medical centers.</a:t>
            </a:r>
          </a:p>
          <a:p>
            <a:pPr>
              <a:spcAft>
                <a:spcPts val="600"/>
              </a:spcAft>
            </a:pPr>
            <a:r>
              <a:rPr b="1" sz="1050">
                <a:solidFill>
                  <a:srgbClr val="0F172A"/>
                </a:solidFill>
              </a:rPr>
              <a:t>•  MIDOG 2021 Mitosis: </a:t>
            </a:r>
            <a:r>
              <a:rPr sz="1050">
                <a:solidFill>
                  <a:srgbClr val="1E293B"/>
                </a:solidFill>
              </a:rPr>
              <a:t>0.5172 F1-score (+25.5% over source) with 38.7% reduction in false-positive detections.</a:t>
            </a:r>
          </a:p>
          <a:p>
            <a:pPr>
              <a:spcAft>
                <a:spcPts val="600"/>
              </a:spcAft>
            </a:pPr>
            <a:r>
              <a:rPr b="1" sz="1050">
                <a:solidFill>
                  <a:srgbClr val="0F172A"/>
                </a:solidFill>
              </a:rPr>
              <a:t>•  Clinical Edge Deployment: </a:t>
            </a:r>
            <a:r>
              <a:rPr sz="1050">
                <a:solidFill>
                  <a:srgbClr val="1E293B"/>
                </a:solidFill>
              </a:rPr>
              <a:t>312 patches/sec throughput with only 1,680 MB VRAM footprint.</a:t>
            </a:r>
          </a:p>
        </p:txBody>
      </p:sp>
      <p:sp>
        <p:nvSpPr>
          <p:cNvPr id="17" name="Rounded Rectangle 16"/>
          <p:cNvSpPr/>
          <p:nvPr/>
        </p:nvSpPr>
        <p:spPr>
          <a:xfrm>
            <a:off x="9784080" y="417880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EMPIRICAL SOTA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10728655" cy="274320"/>
          </a:xfrm>
          <a:prstGeom prst="rect">
            <a:avLst/>
          </a:prstGeom>
          <a:noFill/>
        </p:spPr>
        <p:txBody>
          <a:bodyPr wrap="square" lIns="0" tIns="0" rIns="0" bIns="0">
            <a:spAutoFit/>
          </a:bodyPr>
          <a:lstStyle/>
          <a:p>
            <a:pPr>
              <a:defRPr sz="1000" b="1">
                <a:solidFill>
                  <a:srgbClr val="0D9488"/>
                </a:solidFill>
              </a:defRPr>
            </a:pPr>
            <a:r>
              <a:t>CONCLUSION &amp; TRANSLATION</a:t>
            </a:r>
          </a:p>
        </p:txBody>
      </p:sp>
      <p:sp>
        <p:nvSpPr>
          <p:cNvPr id="4" name="TextBox 3"/>
          <p:cNvSpPr txBox="1"/>
          <p:nvPr/>
        </p:nvSpPr>
        <p:spPr>
          <a:xfrm>
            <a:off x="731520" y="594360"/>
            <a:ext cx="10728655" cy="502920"/>
          </a:xfrm>
          <a:prstGeom prst="rect">
            <a:avLst/>
          </a:prstGeom>
          <a:noFill/>
        </p:spPr>
        <p:txBody>
          <a:bodyPr wrap="square" lIns="0" tIns="0" rIns="0" bIns="0">
            <a:spAutoFit/>
          </a:bodyPr>
          <a:lstStyle/>
          <a:p>
            <a:pPr>
              <a:defRPr sz="2400" b="1">
                <a:solidFill>
                  <a:srgbClr val="0F172A"/>
                </a:solidFill>
              </a:defRPr>
            </a:pPr>
            <a:r>
              <a:t>Clinical Impact, Open-Source Release &amp; Future Directions</a:t>
            </a:r>
          </a:p>
        </p:txBody>
      </p:sp>
      <p:sp>
        <p:nvSpPr>
          <p:cNvPr id="5" name="Rounded Rectangle 4"/>
          <p:cNvSpPr/>
          <p:nvPr/>
        </p:nvSpPr>
        <p:spPr>
          <a:xfrm>
            <a:off x="731520" y="1115568"/>
            <a:ext cx="10728655" cy="384048"/>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37160" tIns="36576" rIns="137160" bIns="36576"/>
          <a:lstStyle/>
          <a:p>
            <a:pPr algn="ctr">
              <a:defRPr sz="1100" b="1">
                <a:solidFill>
                  <a:srgbClr val="0F766E"/>
                </a:solidFill>
              </a:defRPr>
            </a:pPr>
            <a:r>
              <a:t>KEY TAKEAWAY:  SafeAdapt bridges the gap between academic TTA research and real-world clinical whole-slide pathology deployment.</a:t>
            </a:r>
          </a:p>
        </p:txBody>
      </p:sp>
      <p:sp>
        <p:nvSpPr>
          <p:cNvPr id="6" name="Rounded Rectangle 5"/>
          <p:cNvSpPr/>
          <p:nvPr/>
        </p:nvSpPr>
        <p:spPr>
          <a:xfrm>
            <a:off x="731520" y="1645920"/>
            <a:ext cx="3429000" cy="365760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792224"/>
            <a:ext cx="3136392" cy="3364992"/>
          </a:xfrm>
          <a:prstGeom prst="rect">
            <a:avLst/>
          </a:prstGeom>
          <a:noFill/>
        </p:spPr>
        <p:txBody>
          <a:bodyPr wrap="square" lIns="0" tIns="0" rIns="0" bIns="0">
            <a:spAutoFit/>
          </a:bodyPr>
          <a:lstStyle/>
          <a:p>
            <a:pPr>
              <a:spcAft>
                <a:spcPts val="800"/>
              </a:spcAft>
              <a:defRPr sz="1300" b="1">
                <a:solidFill>
                  <a:srgbClr val="0D9488"/>
                </a:solidFill>
              </a:defRPr>
            </a:pPr>
            <a:r>
              <a:t>1. Open-Source Reproducibility</a:t>
            </a:r>
          </a:p>
          <a:p>
            <a:pPr>
              <a:spcAft>
                <a:spcPts val="600"/>
              </a:spcAft>
            </a:pPr>
            <a:r>
              <a:rPr b="1" sz="1050">
                <a:solidFill>
                  <a:srgbClr val="0F172A"/>
                </a:solidFill>
              </a:rPr>
              <a:t>•  Complete Codebase: </a:t>
            </a:r>
            <a:r>
              <a:rPr sz="1050">
                <a:solidFill>
                  <a:srgbClr val="1E293B"/>
                </a:solidFill>
              </a:rPr>
              <a:t>Fully documented PyTorch implementation with automated reproduction scripts.</a:t>
            </a:r>
          </a:p>
          <a:p>
            <a:pPr>
              <a:spcAft>
                <a:spcPts val="600"/>
              </a:spcAft>
            </a:pPr>
            <a:r>
              <a:rPr b="1" sz="1050">
                <a:solidFill>
                  <a:srgbClr val="0F172A"/>
                </a:solidFill>
              </a:rPr>
              <a:t>•  Pretrained Checkpoints: </a:t>
            </a:r>
            <a:r>
              <a:rPr sz="1050">
                <a:solidFill>
                  <a:srgbClr val="1E293B"/>
                </a:solidFill>
              </a:rPr>
              <a:t>Source anchors and adaptation weights published under permissive academic open-source license.</a:t>
            </a:r>
          </a:p>
          <a:p>
            <a:pPr>
              <a:spcAft>
                <a:spcPts val="600"/>
              </a:spcAft>
            </a:pPr>
            <a:r>
              <a:rPr b="1" sz="1050">
                <a:solidFill>
                  <a:srgbClr val="0F172A"/>
                </a:solidFill>
              </a:rPr>
              <a:t>•  Audit Verification: </a:t>
            </a:r>
            <a:r>
              <a:rPr sz="1050">
                <a:solidFill>
                  <a:srgbClr val="1E293B"/>
                </a:solidFill>
              </a:rPr>
              <a:t>100% reproducible across CAMELYON17 and MIDOG benchmarks with fixed seeds.</a:t>
            </a:r>
          </a:p>
        </p:txBody>
      </p:sp>
      <p:sp>
        <p:nvSpPr>
          <p:cNvPr id="8" name="Rounded Rectangle 7"/>
          <p:cNvSpPr/>
          <p:nvPr/>
        </p:nvSpPr>
        <p:spPr>
          <a:xfrm>
            <a:off x="2514600" y="1755648"/>
            <a:ext cx="1508760" cy="256032"/>
          </a:xfrm>
          <a:prstGeom prst="roundRect">
            <a:avLst/>
          </a:prstGeom>
          <a:solidFill>
            <a:srgbClr val="ECFDF5"/>
          </a:solidFill>
          <a:ln w="127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D9488"/>
                </a:solidFill>
              </a:defRPr>
            </a:pPr>
            <a:r>
              <a:t>FULLY REPRODUCIBLE</a:t>
            </a:r>
          </a:p>
        </p:txBody>
      </p:sp>
      <p:sp>
        <p:nvSpPr>
          <p:cNvPr id="9" name="Rounded Rectangle 8"/>
          <p:cNvSpPr/>
          <p:nvPr/>
        </p:nvSpPr>
        <p:spPr>
          <a:xfrm>
            <a:off x="4389120" y="1645920"/>
            <a:ext cx="3429000" cy="365760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5424" y="1792224"/>
            <a:ext cx="3136392" cy="3364992"/>
          </a:xfrm>
          <a:prstGeom prst="rect">
            <a:avLst/>
          </a:prstGeom>
          <a:noFill/>
        </p:spPr>
        <p:txBody>
          <a:bodyPr wrap="square" lIns="0" tIns="0" rIns="0" bIns="0">
            <a:spAutoFit/>
          </a:bodyPr>
          <a:lstStyle/>
          <a:p>
            <a:pPr>
              <a:spcAft>
                <a:spcPts val="800"/>
              </a:spcAft>
              <a:defRPr sz="1300" b="1">
                <a:solidFill>
                  <a:srgbClr val="0F172A"/>
                </a:solidFill>
              </a:defRPr>
            </a:pPr>
            <a:r>
              <a:t>2. Prospective Clinical Deployment</a:t>
            </a:r>
          </a:p>
          <a:p>
            <a:pPr>
              <a:spcAft>
                <a:spcPts val="600"/>
              </a:spcAft>
            </a:pPr>
            <a:r>
              <a:rPr b="1" sz="1050">
                <a:solidFill>
                  <a:srgbClr val="0F172A"/>
                </a:solidFill>
              </a:rPr>
              <a:t>•  Digital Pathology Integration: </a:t>
            </a:r>
            <a:r>
              <a:rPr sz="1050">
                <a:solidFill>
                  <a:srgbClr val="1E293B"/>
                </a:solidFill>
              </a:rPr>
              <a:t>Active integration with open-source pathology viewers (QuPath) and hospital PACS (Orthanc).</a:t>
            </a:r>
          </a:p>
          <a:p>
            <a:pPr>
              <a:spcAft>
                <a:spcPts val="600"/>
              </a:spcAft>
            </a:pPr>
            <a:r>
              <a:rPr b="1" sz="1050">
                <a:solidFill>
                  <a:srgbClr val="0F172A"/>
                </a:solidFill>
              </a:rPr>
              <a:t>•  Live Multi-Scanner Trials: </a:t>
            </a:r>
            <a:r>
              <a:rPr sz="1050">
                <a:solidFill>
                  <a:srgbClr val="1E293B"/>
                </a:solidFill>
              </a:rPr>
              <a:t>Prospective validation planned across 3 hospital centers to evaluate real-world oncologist turnaround times.</a:t>
            </a:r>
          </a:p>
          <a:p>
            <a:pPr>
              <a:spcAft>
                <a:spcPts val="600"/>
              </a:spcAft>
            </a:pPr>
            <a:r>
              <a:rPr b="1" sz="1050">
                <a:solidFill>
                  <a:srgbClr val="0F172A"/>
                </a:solidFill>
              </a:rPr>
              <a:t>•  Pathologist Trust: </a:t>
            </a:r>
            <a:r>
              <a:rPr sz="1050">
                <a:solidFill>
                  <a:srgbClr val="1E293B"/>
                </a:solidFill>
              </a:rPr>
              <a:t>Provides transparent confidence metrics alongside whole-slide heatmaps.</a:t>
            </a:r>
          </a:p>
        </p:txBody>
      </p:sp>
      <p:sp>
        <p:nvSpPr>
          <p:cNvPr id="11" name="Rounded Rectangle 10"/>
          <p:cNvSpPr/>
          <p:nvPr/>
        </p:nvSpPr>
        <p:spPr>
          <a:xfrm>
            <a:off x="6172200" y="1755648"/>
            <a:ext cx="1508760" cy="256032"/>
          </a:xfrm>
          <a:prstGeom prst="roundRect">
            <a:avLst/>
          </a:prstGeom>
          <a:solidFill>
            <a:srgbClr val="ECFDF5"/>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F172A"/>
                </a:solidFill>
              </a:defRPr>
            </a:pPr>
            <a:r>
              <a:t>CLINICAL TRIALS</a:t>
            </a:r>
          </a:p>
        </p:txBody>
      </p:sp>
      <p:sp>
        <p:nvSpPr>
          <p:cNvPr id="12" name="Rounded Rectangle 11"/>
          <p:cNvSpPr/>
          <p:nvPr/>
        </p:nvSpPr>
        <p:spPr>
          <a:xfrm>
            <a:off x="8046720" y="1645920"/>
            <a:ext cx="3429000" cy="3657600"/>
          </a:xfrm>
          <a:prstGeom prst="round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3024" y="1792224"/>
            <a:ext cx="3136392" cy="3364992"/>
          </a:xfrm>
          <a:prstGeom prst="rect">
            <a:avLst/>
          </a:prstGeom>
          <a:noFill/>
        </p:spPr>
        <p:txBody>
          <a:bodyPr wrap="square" lIns="0" tIns="0" rIns="0" bIns="0">
            <a:spAutoFit/>
          </a:bodyPr>
          <a:lstStyle/>
          <a:p>
            <a:pPr>
              <a:spcAft>
                <a:spcPts val="800"/>
              </a:spcAft>
              <a:defRPr sz="1300" b="1">
                <a:solidFill>
                  <a:srgbClr val="059669"/>
                </a:solidFill>
              </a:defRPr>
            </a:pPr>
            <a:r>
              <a:t>3. Future Research Frontiers</a:t>
            </a:r>
          </a:p>
          <a:p>
            <a:pPr>
              <a:spcAft>
                <a:spcPts val="600"/>
              </a:spcAft>
            </a:pPr>
            <a:r>
              <a:rPr b="1" sz="1050">
                <a:solidFill>
                  <a:srgbClr val="0F172A"/>
                </a:solidFill>
              </a:rPr>
              <a:t>•  Pathology Foundation Models: </a:t>
            </a:r>
            <a:r>
              <a:rPr sz="1050">
                <a:solidFill>
                  <a:srgbClr val="1E293B"/>
                </a:solidFill>
              </a:rPr>
              <a:t>Extending SafeAdapt to self-supervised vision-language foundation models (CONCH, UNI, Virchow).</a:t>
            </a:r>
          </a:p>
          <a:p>
            <a:pPr>
              <a:spcAft>
                <a:spcPts val="600"/>
              </a:spcAft>
            </a:pPr>
            <a:r>
              <a:rPr b="1" sz="1050">
                <a:solidFill>
                  <a:srgbClr val="0F172A"/>
                </a:solidFill>
              </a:rPr>
              <a:t>•  Intraoperative Diagnostics: </a:t>
            </a:r>
            <a:r>
              <a:rPr sz="1050">
                <a:solidFill>
                  <a:srgbClr val="1E293B"/>
                </a:solidFill>
              </a:rPr>
              <a:t>Adapting SafeAdapt to rapid intraoperative frozen section analysis under extreme time constraints.</a:t>
            </a:r>
          </a:p>
          <a:p>
            <a:pPr>
              <a:spcAft>
                <a:spcPts val="600"/>
              </a:spcAft>
            </a:pPr>
            <a:r>
              <a:rPr b="1" sz="1050">
                <a:solidFill>
                  <a:srgbClr val="0F172A"/>
                </a:solidFill>
              </a:rPr>
              <a:t>•  3D Volumetric Pathology: </a:t>
            </a:r>
            <a:r>
              <a:rPr sz="1050">
                <a:solidFill>
                  <a:srgbClr val="1E293B"/>
                </a:solidFill>
              </a:rPr>
              <a:t>Extending optimal transport alignment to multi-slice 3D spatial histopathology.</a:t>
            </a:r>
          </a:p>
        </p:txBody>
      </p:sp>
      <p:sp>
        <p:nvSpPr>
          <p:cNvPr id="14" name="Rounded Rectangle 13"/>
          <p:cNvSpPr/>
          <p:nvPr/>
        </p:nvSpPr>
        <p:spPr>
          <a:xfrm>
            <a:off x="9829800" y="1755648"/>
            <a:ext cx="1508760" cy="256032"/>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50" b="1">
                <a:solidFill>
                  <a:srgbClr val="059669"/>
                </a:solidFill>
              </a:defRPr>
            </a:pPr>
            <a:r>
              <a:t>FUTURE HORIZONS</a:t>
            </a:r>
          </a:p>
        </p:txBody>
      </p:sp>
      <p:sp>
        <p:nvSpPr>
          <p:cNvPr id="15" name="Rounded Rectangle 14"/>
          <p:cNvSpPr/>
          <p:nvPr/>
        </p:nvSpPr>
        <p:spPr>
          <a:xfrm>
            <a:off x="731520" y="5486400"/>
            <a:ext cx="10728655" cy="822960"/>
          </a:xfrm>
          <a:prstGeom prst="round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lIns="182880" rIns="182880" tIns="109728"/>
          <a:lstStyle/>
          <a:p>
            <a:pPr algn="ctr">
              <a:defRPr sz="1400" b="1">
                <a:solidFill>
                  <a:srgbClr val="FFFFFF"/>
                </a:solidFill>
              </a:defRPr>
            </a:pPr>
            <a:r>
              <a:t>Thank you to the respected committee members and faculty reviewers.</a:t>
            </a:r>
          </a:p>
          <a:p>
            <a:pPr algn="ctr">
              <a:spcBef>
                <a:spcPts val="400"/>
              </a:spcBef>
              <a:defRPr sz="1200">
                <a:solidFill>
                  <a:srgbClr val="0D9488"/>
                </a:solidFill>
              </a:defRPr>
            </a:pPr>
            <a:r>
              <a:t>Open for questions, technical discussion, and viva voce examination.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